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15"/>
    <p:sldId id="269" r:id="rId16"/>
    <p:sldId id="270" r:id="rId17"/>
    <p:sldId id="273" r:id="rId18"/>
    <p:sldId id="274" r:id="rId19"/>
    <p:sldId id="275" r:id="rId20"/>
    <p:sldId id="278" r:id="rId21"/>
    <p:sldId id="276" r:id="rId22"/>
    <p:sldId id="277" r:id="rId23"/>
    <p:sldId id="279" r:id="rId24"/>
    <p:sldId id="280" r:id="rId25"/>
    <p:sldId id="281" r:id="rId26"/>
    <p:sldId id="282" r:id="rId27"/>
    <p:sldId id="283" r:id="rId28"/>
  </p:sldIdLst>
  <p:sldSz cx="9144000" cy="6858000" type="screen4x3"/>
  <p:notesSz cx="6858000" cy="9144000"/>
  <p:embeddedFontLst>
    <p:embeddedFont>
      <p:font typeface="가을체" panose="02030600000101010101" pitchFamily="18" charset="-127"/>
      <p:regular r:id="rId29"/>
    </p:embeddedFont>
    <p:embeddedFont>
      <p:font typeface="Wingdings 3" panose="05040102010807070707" pitchFamily="18" charset="2"/>
      <p:regular r:id="rId30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663">
          <p15:clr>
            <a:srgbClr val="A4A3A4"/>
          </p15:clr>
        </p15:guide>
        <p15:guide id="3" orient="horz" pos="890">
          <p15:clr>
            <a:srgbClr val="A4A3A4"/>
          </p15:clr>
        </p15:guide>
        <p15:guide id="4" orient="horz" pos="2659">
          <p15:clr>
            <a:srgbClr val="A4A3A4"/>
          </p15:clr>
        </p15:guide>
        <p15:guide id="5" pos="2880">
          <p15:clr>
            <a:srgbClr val="A4A3A4"/>
          </p15:clr>
        </p15:guide>
        <p15:guide id="6" pos="476">
          <p15:clr>
            <a:srgbClr val="A4A3A4"/>
          </p15:clr>
        </p15:guide>
        <p15:guide id="7" pos="521">
          <p15:clr>
            <a:srgbClr val="A4A3A4"/>
          </p15:clr>
        </p15:guide>
        <p15:guide id="8" pos="748">
          <p15:clr>
            <a:srgbClr val="A4A3A4"/>
          </p15:clr>
        </p15:guide>
        <p15:guide id="9" pos="489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317" autoAdjust="0"/>
    <p:restoredTop sz="94650" autoAdjust="0"/>
  </p:normalViewPr>
  <p:slideViewPr>
    <p:cSldViewPr>
      <p:cViewPr varScale="1">
        <p:scale>
          <a:sx n="120" d="100"/>
          <a:sy n="120" d="100"/>
        </p:scale>
        <p:origin x="1992" y="96"/>
      </p:cViewPr>
      <p:guideLst>
        <p:guide orient="horz" pos="2160"/>
        <p:guide orient="horz" pos="663"/>
        <p:guide orient="horz" pos="890"/>
        <p:guide orient="horz" pos="2659"/>
        <p:guide pos="2880"/>
        <p:guide pos="476"/>
        <p:guide pos="521"/>
        <p:guide pos="748"/>
        <p:guide pos="489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1BEED3-638F-4445-A5FF-94DA9B2799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A5EF719-3149-FFBA-BEB4-95957781CF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C993D5-8DBF-22DD-92E0-A27F10097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98CDE2-2FE6-D765-D232-F0FBF7091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BA62CA-59BC-6B0E-B471-43BB7BF78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695832-1848-472C-8782-F56D1747669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91615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C9C56-3578-548E-C6D4-37040E859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86180B-7E2A-CF33-8B6B-EF177EA8C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AAB9A5-4ABB-C6D7-BAD4-CEB9A2559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41F33A-BA5B-1E68-B4DF-4D1C9737F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95F363-C894-06EA-91A7-9A2306D50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6E2355-7FE6-4BE2-BEC4-8175883D3F5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53246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A6E9B0-25DE-32BA-DDD2-D69548735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4605B9-6D96-7AD6-692B-9A2CAC77D5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62D109-43CC-A2F5-7B62-7A68A2489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11FE1D-E5AD-7348-8FB8-8A49C2202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552B07-CC6A-FCBB-155F-79E94067D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7A126C-899C-4567-97FB-4A9EE0B3C7C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95576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1EA604-A9AA-B1EC-A2A2-0E673684A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4558BE-6EA7-B670-2A84-EE697557A2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55679F2-FC78-071E-B062-0FE509391A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161C30-FB72-3E8F-8F75-55C580001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A8475D3-6ACE-D0F5-0CA9-9C9B64356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F7BFBAC-4CF4-8607-D503-97C7DD4DE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7083F6-5DB3-4AF3-8210-68F5D9374A0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96713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BAAB3C-2088-EB0C-EBD8-3A8783AA3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57F45E-0833-453B-F417-7C557D8F5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2BE7F37-79E0-E582-6AB9-7F5E0657D3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9842B4C-DE50-0EA4-4223-2342C3AB23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6F11DF9-FD8D-08D4-F41C-F06AD57264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5E577F9-DE64-4F70-6241-6BAA597D7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51405F7-F66B-09A6-1D42-06EA23EE5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7032451-C5D7-4585-BB42-E852F7D1F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40CEE8-2807-4335-A955-C440453EF98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37425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05E004-2FD7-3EA4-5147-7AD7E0CBD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CAED5E0-DAE0-301F-A010-D70008CBF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BC2F90-5755-74E6-2143-A713A175E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AFB626F-82DE-B947-2B76-9E96F0FD7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70E5BC-427F-47AD-AEB2-2B34AAB7D28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63942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8B4AC07-4589-D986-B49D-193DCA96E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826D801-0261-5951-A62B-00534F332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46E56A-AEA2-9F8D-D965-A2161D380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B1EEB5-C378-4037-ABD6-0736D913A8B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50352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4653E5-D6C2-7466-887C-4BCF7EC1B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C47CD0-DC85-14CE-9DE9-8229FD08E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3525A26-6F5B-88B9-0380-77B51E941C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4C84420-5AB6-CC8D-0CCF-BDA0F5C6B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44D76DD-A028-97E1-2401-90B3A9C65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7185877-B950-F8D1-1401-FE499B660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90AB55-08C7-448E-86C2-B9A68A4C014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91356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C6D7BB-F532-C289-C0F2-9F3B44BE0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37B664E-3656-489C-16CD-61A50403ED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B570FD-8CE0-CAEE-2D69-7B8085C3B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D084D2-4A3B-6BBB-2F95-DE73BF9EC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9A9C61-1C45-B04A-F643-6DDDB7ED5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5AFC1E-CDAF-BB74-1003-CE3AA493B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635AA7-6ADE-44D9-9E96-7D0212B67954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23174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C36418-7055-4C74-EB12-ED4E72983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8413658-7C78-B389-1C1E-5D536AD65D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00BEA8-E287-DB33-B664-809B26D77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82D4EC-C9E2-781C-50B9-8A710911A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05AD01-3245-B711-A85A-2C6DD1278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A1DE7F-E074-4527-ADB4-6BBFE2733A8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44385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DEDC2F0-B046-53F4-C309-67F4D2D62F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FC8A00A-F2F5-FB96-27D9-35DD06D556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177088-320A-55D1-4905-A2EE82010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6FF557-2704-D23D-C6AC-F4FAE93B0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158A7E-0FBA-262B-9021-B11C7F3F9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8CEC07-E434-4F35-B443-CA241312B3A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62433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017412D-272F-9A99-42CC-C322D460E2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E43430B-6542-B160-98D4-18EB90CBF7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3603A0C-DAC0-7744-33C2-CBEF4FDF77C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  <a:ea typeface="+mn-ea"/>
              </a:defRPr>
            </a:lvl1pPr>
          </a:lstStyle>
          <a:p>
            <a:endParaRPr lang="en-US" altLang="ko-K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3DABFAD-1A14-9757-B308-4B6C0B5DC76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  <a:ea typeface="+mn-ea"/>
              </a:defRPr>
            </a:lvl1pPr>
          </a:lstStyle>
          <a:p>
            <a:endParaRPr lang="en-US" altLang="ko-K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9DD1DFF-C46A-19A7-5FA4-11C87A30D91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  <a:ea typeface="+mn-ea"/>
              </a:defRPr>
            </a:lvl1pPr>
          </a:lstStyle>
          <a:p>
            <a:fld id="{F8127837-82E7-48D3-A31C-E639D30182B6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가을체" panose="02030600000101010101" pitchFamily="18" charset="-127"/>
          <a:ea typeface="가을체" panose="02030600000101010101" pitchFamily="18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가을체" panose="02030600000101010101" pitchFamily="18" charset="-127"/>
          <a:ea typeface="가을체" panose="02030600000101010101" pitchFamily="18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가을체" panose="02030600000101010101" pitchFamily="18" charset="-127"/>
          <a:ea typeface="가을체" panose="02030600000101010101" pitchFamily="18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가을체" panose="02030600000101010101" pitchFamily="18" charset="-127"/>
          <a:ea typeface="가을체" panose="02030600000101010101" pitchFamily="18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CEC5D01-73D0-CFA6-89AA-7058C72EC1B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857500"/>
            <a:ext cx="7772400" cy="1143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altLang="ko-KR" sz="4800" b="1">
                <a:solidFill>
                  <a:schemeClr val="tx1"/>
                </a:solidFill>
              </a:rPr>
              <a:t>4</a:t>
            </a:r>
            <a:r>
              <a:rPr lang="ko-KR" altLang="en-US" sz="4800" b="1">
                <a:solidFill>
                  <a:schemeClr val="tx1"/>
                </a:solidFill>
              </a:rPr>
              <a:t>장</a:t>
            </a:r>
            <a:r>
              <a:rPr lang="en-US" altLang="ko-KR" sz="4800" b="1">
                <a:solidFill>
                  <a:schemeClr val="tx1"/>
                </a:solidFill>
              </a:rPr>
              <a:t>. </a:t>
            </a:r>
            <a:r>
              <a:rPr lang="ko-KR" altLang="en-US" sz="4800" b="1">
                <a:solidFill>
                  <a:schemeClr val="tx1"/>
                </a:solidFill>
              </a:rPr>
              <a:t>클래스의 완성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59FDE72-2E66-FCE4-B461-9F3CF0E757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11413" y="225425"/>
            <a:ext cx="2878137" cy="519113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2800" b="1"/>
              <a:t>3</a:t>
            </a:r>
            <a:r>
              <a:rPr lang="ko-KR" altLang="en-US" sz="2800" b="1"/>
              <a:t>장의 내용 정리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CB2287B5-44CD-3E1C-2C4A-99388FD3F3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96975"/>
            <a:ext cx="7772400" cy="4956175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800" b="1"/>
              <a:t>클래스에 대한 기본</a:t>
            </a:r>
            <a:r>
              <a:rPr lang="en-US" altLang="ko-KR" sz="2800" b="1"/>
              <a:t>(7</a:t>
            </a:r>
            <a:r>
              <a:rPr lang="ko-KR" altLang="en-US" sz="2800" b="1"/>
              <a:t>장까지 이어진다</a:t>
            </a:r>
            <a:r>
              <a:rPr lang="en-US" altLang="ko-KR" sz="2800" b="1"/>
              <a:t>)</a:t>
            </a:r>
          </a:p>
          <a:p>
            <a:pPr lvl="1">
              <a:lnSpc>
                <a:spcPct val="120000"/>
              </a:lnSpc>
            </a:pPr>
            <a:r>
              <a:rPr lang="ko-KR" altLang="en-US" sz="2400" b="1"/>
              <a:t>무엇인가를 구현하기에는 아직도 무리</a:t>
            </a:r>
            <a:r>
              <a:rPr lang="en-US" altLang="ko-KR" sz="2400" b="1"/>
              <a:t>!</a:t>
            </a:r>
          </a:p>
          <a:p>
            <a:pPr>
              <a:lnSpc>
                <a:spcPct val="120000"/>
              </a:lnSpc>
            </a:pPr>
            <a:endParaRPr lang="en-US" altLang="ko-KR" sz="2400" b="1"/>
          </a:p>
          <a:p>
            <a:pPr>
              <a:lnSpc>
                <a:spcPct val="120000"/>
              </a:lnSpc>
            </a:pPr>
            <a:r>
              <a:rPr lang="ko-KR" altLang="en-US" sz="2800" b="1"/>
              <a:t>클래스의 등장 배경</a:t>
            </a:r>
          </a:p>
          <a:p>
            <a:pPr lvl="1">
              <a:lnSpc>
                <a:spcPct val="120000"/>
              </a:lnSpc>
            </a:pPr>
            <a:r>
              <a:rPr lang="ko-KR" altLang="en-US" sz="2400" b="1"/>
              <a:t>현실 세계를 모델링</a:t>
            </a:r>
          </a:p>
          <a:p>
            <a:pPr lvl="1">
              <a:lnSpc>
                <a:spcPct val="120000"/>
              </a:lnSpc>
            </a:pPr>
            <a:endParaRPr lang="ko-KR" altLang="en-US" sz="2400" b="1"/>
          </a:p>
          <a:p>
            <a:pPr>
              <a:lnSpc>
                <a:spcPct val="120000"/>
              </a:lnSpc>
            </a:pPr>
            <a:r>
              <a:rPr lang="ko-KR" altLang="en-US" sz="2800" b="1"/>
              <a:t>데이터 추상화 </a:t>
            </a:r>
            <a:r>
              <a:rPr lang="ko-KR" altLang="en-US" sz="2800" b="1">
                <a:sym typeface="Wingdings 3" panose="05040102010807070707" pitchFamily="18" charset="2"/>
              </a:rPr>
              <a:t></a:t>
            </a:r>
            <a:r>
              <a:rPr lang="ko-KR" altLang="en-US" sz="2800" b="1"/>
              <a:t> 클래스화 </a:t>
            </a:r>
            <a:r>
              <a:rPr lang="ko-KR" altLang="en-US" sz="2800" b="1">
                <a:sym typeface="Wingdings 3" panose="05040102010807070707" pitchFamily="18" charset="2"/>
              </a:rPr>
              <a:t></a:t>
            </a:r>
            <a:r>
              <a:rPr lang="ko-KR" altLang="en-US" sz="2800" b="1"/>
              <a:t> 객체화 </a:t>
            </a:r>
          </a:p>
          <a:p>
            <a:pPr>
              <a:lnSpc>
                <a:spcPct val="120000"/>
              </a:lnSpc>
            </a:pPr>
            <a:endParaRPr lang="ko-KR" altLang="en-US" sz="2400" b="1"/>
          </a:p>
          <a:p>
            <a:pPr>
              <a:lnSpc>
                <a:spcPct val="120000"/>
              </a:lnSpc>
            </a:pPr>
            <a:r>
              <a:rPr lang="ko-KR" altLang="en-US" sz="2800" b="1"/>
              <a:t>접근 제어 </a:t>
            </a:r>
            <a:r>
              <a:rPr lang="en-US" altLang="ko-KR" sz="2800" b="1"/>
              <a:t>: public , private, protected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75106FB6-EFAF-DDE0-0B93-76293500BA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76488" y="188913"/>
            <a:ext cx="2878137" cy="519112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2800" b="1"/>
              <a:t>4</a:t>
            </a:r>
            <a:r>
              <a:rPr lang="ko-KR" altLang="en-US" sz="2800" b="1"/>
              <a:t>장의 핵심 내용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36B3B972-C563-26BE-7C8C-2B79386FA9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96975"/>
            <a:ext cx="7772400" cy="37592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800" b="1"/>
              <a:t>클래스 디자인 기본 원칙</a:t>
            </a:r>
          </a:p>
          <a:p>
            <a:pPr lvl="1">
              <a:lnSpc>
                <a:spcPct val="120000"/>
              </a:lnSpc>
            </a:pPr>
            <a:r>
              <a:rPr lang="ko-KR" altLang="en-US" sz="2400" b="1"/>
              <a:t>캡슐화</a:t>
            </a:r>
            <a:r>
              <a:rPr lang="en-US" altLang="ko-KR" sz="2400" b="1"/>
              <a:t>, </a:t>
            </a:r>
            <a:r>
              <a:rPr lang="ko-KR" altLang="en-US" sz="2400" b="1"/>
              <a:t>정보 은닉</a:t>
            </a:r>
          </a:p>
          <a:p>
            <a:pPr lvl="1">
              <a:lnSpc>
                <a:spcPct val="120000"/>
              </a:lnSpc>
            </a:pPr>
            <a:r>
              <a:rPr lang="ko-KR" altLang="en-US" sz="2400" b="1"/>
              <a:t>캡슐화와 정보 은닉의 유용성</a:t>
            </a:r>
          </a:p>
          <a:p>
            <a:pPr lvl="1">
              <a:lnSpc>
                <a:spcPct val="120000"/>
              </a:lnSpc>
            </a:pPr>
            <a:endParaRPr lang="ko-KR" altLang="en-US" sz="2400" b="1"/>
          </a:p>
          <a:p>
            <a:pPr>
              <a:lnSpc>
                <a:spcPct val="120000"/>
              </a:lnSpc>
            </a:pPr>
            <a:r>
              <a:rPr lang="ko-KR" altLang="en-US" sz="2800" b="1"/>
              <a:t>클래스 객체의 생성과 소멸</a:t>
            </a:r>
          </a:p>
          <a:p>
            <a:pPr lvl="1">
              <a:lnSpc>
                <a:spcPct val="120000"/>
              </a:lnSpc>
            </a:pPr>
            <a:r>
              <a:rPr lang="ko-KR" altLang="en-US" sz="2400" b="1"/>
              <a:t>생성자</a:t>
            </a:r>
            <a:r>
              <a:rPr lang="en-US" altLang="ko-KR" sz="2400" b="1"/>
              <a:t>, </a:t>
            </a:r>
            <a:r>
              <a:rPr lang="ko-KR" altLang="en-US" sz="2400" b="1"/>
              <a:t>소멸자</a:t>
            </a:r>
          </a:p>
          <a:p>
            <a:pPr lvl="1">
              <a:lnSpc>
                <a:spcPct val="120000"/>
              </a:lnSpc>
            </a:pPr>
            <a:r>
              <a:rPr lang="ko-KR" altLang="en-US" sz="2400" b="1"/>
              <a:t>생성자</a:t>
            </a:r>
            <a:r>
              <a:rPr lang="en-US" altLang="ko-KR" sz="2400" b="1"/>
              <a:t>, </a:t>
            </a:r>
            <a:r>
              <a:rPr lang="ko-KR" altLang="en-US" sz="2400" b="1"/>
              <a:t>소멸자의 유용성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8" name="Picture 8">
            <a:extLst>
              <a:ext uri="{FF2B5EF4-FFF2-40B4-BE49-F238E27FC236}">
                <a16:creationId xmlns:a16="http://schemas.microsoft.com/office/drawing/2014/main" id="{04BC2B5E-7AE4-0E4C-4CCA-667132B242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3429000"/>
            <a:ext cx="3492500" cy="299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2" name="Rectangle 2">
            <a:extLst>
              <a:ext uri="{FF2B5EF4-FFF2-40B4-BE49-F238E27FC236}">
                <a16:creationId xmlns:a16="http://schemas.microsoft.com/office/drawing/2014/main" id="{8DD11ECB-5275-4F3A-B81A-438F3772DD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76488" y="225425"/>
            <a:ext cx="2733675" cy="519113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2800" b="1"/>
              <a:t>4-1  </a:t>
            </a:r>
            <a:r>
              <a:rPr lang="ko-KR" altLang="en-US" sz="2800" b="1"/>
              <a:t>정보 은닉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A50973A9-E1E4-7204-144A-18FEAAF8FB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203325"/>
            <a:ext cx="6084888" cy="187325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2800" b="1"/>
              <a:t>정보 은닉의 필요성</a:t>
            </a:r>
          </a:p>
          <a:p>
            <a:pPr lvl="1">
              <a:lnSpc>
                <a:spcPct val="115000"/>
              </a:lnSpc>
            </a:pPr>
            <a:r>
              <a:rPr lang="ko-KR" altLang="en-US" sz="2200" b="1"/>
              <a:t>프로그램의 안정적 구현과 관련</a:t>
            </a:r>
          </a:p>
          <a:p>
            <a:pPr lvl="1">
              <a:lnSpc>
                <a:spcPct val="115000"/>
              </a:lnSpc>
            </a:pPr>
            <a:r>
              <a:rPr lang="en-US" altLang="ko-KR" sz="2200" b="1"/>
              <a:t>InfoHiding1.cpp, InfoHiding2.cpp, InfoHiding3.cpp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B20E0FB2-0AC1-C0C7-52AA-BD940D2863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2475" y="3878263"/>
            <a:ext cx="2125663" cy="2125662"/>
          </a:xfrm>
          <a:prstGeom prst="rect">
            <a:avLst/>
          </a:prstGeom>
          <a:solidFill>
            <a:srgbClr val="EDF7E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06000" tIns="118800" bIns="190800" anchor="ctr"/>
          <a:lstStyle>
            <a:lvl1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600" b="1">
                <a:cs typeface="Times New Roman" panose="02020603050405020304" pitchFamily="18" charset="0"/>
              </a:rPr>
              <a:t>class Point</a:t>
            </a:r>
          </a:p>
          <a:p>
            <a:pPr>
              <a:lnSpc>
                <a:spcPct val="120000"/>
              </a:lnSpc>
            </a:pPr>
            <a:r>
              <a:rPr lang="en-US" altLang="ko-KR" sz="1600" b="1"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20000"/>
              </a:lnSpc>
            </a:pPr>
            <a:r>
              <a:rPr lang="en-US" altLang="ko-KR" sz="1600" b="1">
                <a:cs typeface="Times New Roman" panose="02020603050405020304" pitchFamily="18" charset="0"/>
              </a:rPr>
              <a:t>public:</a:t>
            </a:r>
          </a:p>
          <a:p>
            <a:pPr>
              <a:lnSpc>
                <a:spcPct val="120000"/>
              </a:lnSpc>
            </a:pPr>
            <a:r>
              <a:rPr lang="en-US" altLang="ko-KR" sz="1600" b="1">
                <a:cs typeface="Times New Roman" panose="02020603050405020304" pitchFamily="18" charset="0"/>
              </a:rPr>
              <a:t>      int x;</a:t>
            </a:r>
          </a:p>
          <a:p>
            <a:pPr>
              <a:lnSpc>
                <a:spcPct val="120000"/>
              </a:lnSpc>
            </a:pPr>
            <a:r>
              <a:rPr lang="en-US" altLang="ko-KR" sz="1600" b="1">
                <a:cs typeface="Times New Roman" panose="02020603050405020304" pitchFamily="18" charset="0"/>
              </a:rPr>
              <a:t>      int y;</a:t>
            </a:r>
          </a:p>
          <a:p>
            <a:pPr>
              <a:lnSpc>
                <a:spcPct val="120000"/>
              </a:lnSpc>
            </a:pPr>
            <a:r>
              <a:rPr lang="en-US" altLang="ko-KR" sz="1600" b="1">
                <a:cs typeface="Times New Roman" panose="02020603050405020304" pitchFamily="18" charset="0"/>
              </a:rPr>
              <a:t>};</a:t>
            </a:r>
          </a:p>
        </p:txBody>
      </p:sp>
      <p:sp>
        <p:nvSpPr>
          <p:cNvPr id="5129" name="AutoShape 9">
            <a:extLst>
              <a:ext uri="{FF2B5EF4-FFF2-40B4-BE49-F238E27FC236}">
                <a16:creationId xmlns:a16="http://schemas.microsoft.com/office/drawing/2014/main" id="{61918A2F-05C5-3F22-E14A-D6056DD89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7288" y="4689475"/>
            <a:ext cx="576262" cy="504825"/>
          </a:xfrm>
          <a:prstGeom prst="rightArrow">
            <a:avLst>
              <a:gd name="adj1" fmla="val 49056"/>
              <a:gd name="adj2" fmla="val 42949"/>
            </a:avLst>
          </a:prstGeom>
          <a:solidFill>
            <a:srgbClr val="8080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3FF9094-FE0F-45DA-98F5-155E788217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76488" y="225425"/>
            <a:ext cx="4786312" cy="519113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2800" b="1"/>
              <a:t>4-2  </a:t>
            </a:r>
            <a:r>
              <a:rPr lang="ko-KR" altLang="en-US" sz="2800" b="1"/>
              <a:t>캡슐화</a:t>
            </a:r>
            <a:r>
              <a:rPr lang="en-US" altLang="ko-KR" sz="2800" b="1"/>
              <a:t>(Encapsulation)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AFFF2BCD-A8D9-DC6C-D516-76D8BEAEEC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96975"/>
            <a:ext cx="7772400" cy="1627188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800" b="1"/>
              <a:t>캡슐화</a:t>
            </a:r>
            <a:r>
              <a:rPr lang="en-US" altLang="ko-KR" sz="2800" b="1"/>
              <a:t>(Encapsulation)</a:t>
            </a:r>
            <a:r>
              <a:rPr lang="ko-KR" altLang="en-US" sz="2800" b="1"/>
              <a:t>의 기본 개념</a:t>
            </a:r>
          </a:p>
          <a:p>
            <a:pPr lvl="1">
              <a:lnSpc>
                <a:spcPct val="120000"/>
              </a:lnSpc>
            </a:pPr>
            <a:r>
              <a:rPr lang="ko-KR" altLang="en-US" sz="2400" b="1"/>
              <a:t>관련 있는 데이터와 함수를 하나로 묶는 것</a:t>
            </a:r>
          </a:p>
          <a:p>
            <a:pPr lvl="1">
              <a:lnSpc>
                <a:spcPct val="120000"/>
              </a:lnSpc>
            </a:pPr>
            <a:r>
              <a:rPr lang="en-US" altLang="ko-KR" sz="2400" b="1"/>
              <a:t>Encapsulation1.cpp, Encapsulation2.cpp</a:t>
            </a:r>
          </a:p>
        </p:txBody>
      </p:sp>
      <p:pic>
        <p:nvPicPr>
          <p:cNvPr id="6150" name="Picture 6">
            <a:extLst>
              <a:ext uri="{FF2B5EF4-FFF2-40B4-BE49-F238E27FC236}">
                <a16:creationId xmlns:a16="http://schemas.microsoft.com/office/drawing/2014/main" id="{6E11CF00-6EE5-A216-61F4-D8E886B61F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1213" y="3573463"/>
            <a:ext cx="4981575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25AF8B7A-39E7-A578-7868-E5F47BED32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76488" y="188913"/>
            <a:ext cx="3706812" cy="519112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2800" b="1"/>
              <a:t>4-3  </a:t>
            </a:r>
            <a:r>
              <a:rPr lang="ko-KR" altLang="en-US" sz="2800" b="1"/>
              <a:t>생성자와 소멸자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1999BBB6-B465-85E6-2C4C-8D8862F871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87450"/>
            <a:ext cx="8170863" cy="4270375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800" b="1"/>
              <a:t>생성자의 필요성</a:t>
            </a:r>
          </a:p>
          <a:p>
            <a:pPr lvl="1">
              <a:lnSpc>
                <a:spcPct val="120000"/>
              </a:lnSpc>
            </a:pPr>
            <a:r>
              <a:rPr lang="ko-KR" altLang="en-US" sz="2400" b="1"/>
              <a:t>객체를 생성과 동시에 초기화 하기 위해서</a:t>
            </a:r>
          </a:p>
          <a:p>
            <a:pPr lvl="1">
              <a:lnSpc>
                <a:spcPct val="120000"/>
              </a:lnSpc>
            </a:pPr>
            <a:r>
              <a:rPr lang="ko-KR" altLang="en-US" sz="2400" b="1"/>
              <a:t>객체는 생성과 동시에 초기화되는 것이 좋은 구조</a:t>
            </a:r>
            <a:r>
              <a:rPr lang="en-US" altLang="ko-KR" sz="2400" b="1"/>
              <a:t>! </a:t>
            </a:r>
          </a:p>
          <a:p>
            <a:pPr lvl="1">
              <a:lnSpc>
                <a:spcPct val="120000"/>
              </a:lnSpc>
            </a:pPr>
            <a:endParaRPr lang="en-US" altLang="ko-KR" sz="2400" b="1"/>
          </a:p>
          <a:p>
            <a:pPr>
              <a:lnSpc>
                <a:spcPct val="120000"/>
              </a:lnSpc>
            </a:pPr>
            <a:r>
              <a:rPr lang="ko-KR" altLang="en-US" sz="2800" b="1"/>
              <a:t>생성자란</a:t>
            </a:r>
            <a:r>
              <a:rPr lang="en-US" altLang="ko-KR" sz="2800" b="1"/>
              <a:t>?</a:t>
            </a:r>
          </a:p>
          <a:p>
            <a:pPr lvl="1">
              <a:lnSpc>
                <a:spcPct val="120000"/>
              </a:lnSpc>
            </a:pPr>
            <a:r>
              <a:rPr lang="ko-KR" altLang="en-US" sz="2400" b="1"/>
              <a:t>객체 생성 시 반드시 한번 호출되는 함수</a:t>
            </a:r>
          </a:p>
          <a:p>
            <a:pPr lvl="1">
              <a:lnSpc>
                <a:spcPct val="120000"/>
              </a:lnSpc>
            </a:pPr>
            <a:r>
              <a:rPr lang="ko-KR" altLang="en-US" sz="2400" b="1"/>
              <a:t>클래스와 같은 이름의 함수다</a:t>
            </a:r>
            <a:r>
              <a:rPr lang="en-US" altLang="ko-KR" sz="2400" b="1"/>
              <a:t>.</a:t>
            </a:r>
          </a:p>
          <a:p>
            <a:pPr lvl="1">
              <a:lnSpc>
                <a:spcPct val="120000"/>
              </a:lnSpc>
            </a:pPr>
            <a:r>
              <a:rPr lang="ko-KR" altLang="en-US" sz="2400" b="1"/>
              <a:t>리턴형이 없으며 리턴 하지도 않는다</a:t>
            </a:r>
            <a:r>
              <a:rPr lang="en-US" altLang="ko-KR" sz="2400" b="1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0FFE40D4-78B7-53A1-E3F5-1EE856B25A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1412875"/>
            <a:ext cx="4103688" cy="5076825"/>
          </a:xfrm>
          <a:prstGeom prst="rect">
            <a:avLst/>
          </a:prstGeom>
          <a:solidFill>
            <a:srgbClr val="EDF7E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06000" tIns="118800" bIns="190800" anchor="ctr"/>
          <a:lstStyle>
            <a:lvl1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/*  Person1.cpp */</a:t>
            </a:r>
          </a:p>
          <a:p>
            <a:pPr>
              <a:lnSpc>
                <a:spcPct val="110000"/>
              </a:lnSpc>
            </a:pPr>
            <a:endParaRPr lang="en-US" altLang="ko-KR" sz="1200" b="1"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class Person</a:t>
            </a:r>
          </a:p>
          <a:p>
            <a:pPr>
              <a:lnSpc>
                <a:spcPct val="11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1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 char name[SIZE];</a:t>
            </a:r>
          </a:p>
          <a:p>
            <a:pPr>
              <a:lnSpc>
                <a:spcPct val="11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 char phone[SIZE];</a:t>
            </a:r>
          </a:p>
          <a:p>
            <a:pPr>
              <a:lnSpc>
                <a:spcPct val="11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 int age;</a:t>
            </a:r>
          </a:p>
          <a:p>
            <a:pPr>
              <a:lnSpc>
                <a:spcPct val="11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public:</a:t>
            </a:r>
          </a:p>
          <a:p>
            <a:pPr>
              <a:lnSpc>
                <a:spcPct val="11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 void ShowData();</a:t>
            </a:r>
          </a:p>
          <a:p>
            <a:pPr>
              <a:lnSpc>
                <a:spcPct val="11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};</a:t>
            </a:r>
          </a:p>
          <a:p>
            <a:pPr>
              <a:lnSpc>
                <a:spcPct val="110000"/>
              </a:lnSpc>
            </a:pPr>
            <a:endParaRPr lang="en-US" altLang="ko-KR" sz="1200" b="1"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void Person::ShowData()</a:t>
            </a:r>
          </a:p>
          <a:p>
            <a:pPr>
              <a:lnSpc>
                <a:spcPct val="11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1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 cout&lt;&lt;"name: "&lt;&lt;name&lt;&lt;endl;</a:t>
            </a:r>
          </a:p>
          <a:p>
            <a:pPr>
              <a:lnSpc>
                <a:spcPct val="11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 cout&lt;&lt;"phone: "&lt;&lt;phone&lt;&lt;endl;</a:t>
            </a:r>
          </a:p>
          <a:p>
            <a:pPr>
              <a:lnSpc>
                <a:spcPct val="11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 cout&lt;&lt;"age: "&lt;&lt;age&lt;&lt;endl;</a:t>
            </a:r>
          </a:p>
          <a:p>
            <a:pPr>
              <a:lnSpc>
                <a:spcPct val="11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10000"/>
              </a:lnSpc>
            </a:pPr>
            <a:endParaRPr lang="en-US" altLang="ko-KR" sz="1200" b="1"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int main()</a:t>
            </a:r>
          </a:p>
          <a:p>
            <a:pPr>
              <a:lnSpc>
                <a:spcPct val="11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1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 Person p={"KIM", "013-113-1113", 22};</a:t>
            </a:r>
          </a:p>
          <a:p>
            <a:pPr>
              <a:lnSpc>
                <a:spcPct val="11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 p.ShowData();</a:t>
            </a:r>
          </a:p>
          <a:p>
            <a:pPr>
              <a:lnSpc>
                <a:spcPct val="11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 return 0;</a:t>
            </a:r>
          </a:p>
          <a:p>
            <a:pPr>
              <a:lnSpc>
                <a:spcPct val="11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8195" name="AutoShape 3">
            <a:extLst>
              <a:ext uri="{FF2B5EF4-FFF2-40B4-BE49-F238E27FC236}">
                <a16:creationId xmlns:a16="http://schemas.microsoft.com/office/drawing/2014/main" id="{2677F58A-B106-2CD1-B83E-99921BF0FE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3213100"/>
            <a:ext cx="1447800" cy="914400"/>
          </a:xfrm>
          <a:prstGeom prst="wedgeEllipseCallout">
            <a:avLst>
              <a:gd name="adj1" fmla="val -104056"/>
              <a:gd name="adj2" fmla="val 62500"/>
            </a:avLst>
          </a:prstGeom>
          <a:solidFill>
            <a:srgbClr val="427D2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/>
          <a:p>
            <a:pPr algn="ctr">
              <a:lnSpc>
                <a:spcPct val="120000"/>
              </a:lnSpc>
            </a:pPr>
            <a:r>
              <a:rPr lang="ko-KR" altLang="en-US" sz="1400" b="1">
                <a:solidFill>
                  <a:schemeClr val="bg1"/>
                </a:solidFill>
              </a:rPr>
              <a:t>오류의 </a:t>
            </a:r>
            <a:br>
              <a:rPr lang="ko-KR" altLang="en-US" sz="1400" b="1">
                <a:solidFill>
                  <a:schemeClr val="bg1"/>
                </a:solidFill>
              </a:rPr>
            </a:br>
            <a:r>
              <a:rPr lang="ko-KR" altLang="en-US" sz="1400" b="1">
                <a:solidFill>
                  <a:schemeClr val="bg1"/>
                </a:solidFill>
              </a:rPr>
              <a:t>원인은</a:t>
            </a:r>
            <a:r>
              <a:rPr lang="en-US" altLang="ko-KR" sz="1400" b="1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29A403F5-1838-BFA3-7997-ABFFAFB26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188913"/>
            <a:ext cx="37068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l"/>
            <a:r>
              <a:rPr lang="en-US" altLang="ko-KR" sz="2800" b="1"/>
              <a:t>4-3  </a:t>
            </a:r>
            <a:r>
              <a:rPr lang="ko-KR" altLang="en-US" sz="2800" b="1"/>
              <a:t>생성자와 소멸자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08969EFC-2F85-3C7D-AAD4-33A5F713CA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1412875"/>
            <a:ext cx="4897438" cy="5111750"/>
          </a:xfrm>
          <a:prstGeom prst="rect">
            <a:avLst/>
          </a:prstGeom>
          <a:solidFill>
            <a:srgbClr val="EDF7E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06000" tIns="118800" bIns="190800" anchor="ctr"/>
          <a:lstStyle>
            <a:lvl1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/*</a:t>
            </a:r>
          </a:p>
          <a:p>
            <a:pPr>
              <a:lnSpc>
                <a:spcPct val="11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Person2.cpp</a:t>
            </a:r>
          </a:p>
          <a:p>
            <a:pPr>
              <a:lnSpc>
                <a:spcPct val="11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*/</a:t>
            </a:r>
          </a:p>
          <a:p>
            <a:pPr>
              <a:lnSpc>
                <a:spcPct val="11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class Person</a:t>
            </a:r>
          </a:p>
          <a:p>
            <a:pPr>
              <a:lnSpc>
                <a:spcPct val="11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1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 char name[SIZE];</a:t>
            </a:r>
          </a:p>
          <a:p>
            <a:pPr>
              <a:lnSpc>
                <a:spcPct val="11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 char phone[SIZE];</a:t>
            </a:r>
          </a:p>
          <a:p>
            <a:pPr>
              <a:lnSpc>
                <a:spcPct val="11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 int age;</a:t>
            </a:r>
          </a:p>
          <a:p>
            <a:pPr>
              <a:lnSpc>
                <a:spcPct val="11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public:</a:t>
            </a:r>
          </a:p>
          <a:p>
            <a:pPr>
              <a:lnSpc>
                <a:spcPct val="11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 void ShowData(){ … </a:t>
            </a:r>
            <a:r>
              <a:rPr lang="ko-KR" altLang="en-US" sz="1200" b="1">
                <a:cs typeface="Times New Roman" panose="02020603050405020304" pitchFamily="18" charset="0"/>
              </a:rPr>
              <a:t>생략 </a:t>
            </a:r>
            <a:r>
              <a:rPr lang="en-US" altLang="ko-KR" sz="1200" b="1">
                <a:cs typeface="Times New Roman" panose="02020603050405020304" pitchFamily="18" charset="0"/>
              </a:rPr>
              <a:t>… }</a:t>
            </a:r>
          </a:p>
          <a:p>
            <a:pPr>
              <a:lnSpc>
                <a:spcPct val="11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 void SetData(char* _name, char* _phone, int _age);</a:t>
            </a:r>
          </a:p>
          <a:p>
            <a:pPr>
              <a:lnSpc>
                <a:spcPct val="11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};</a:t>
            </a:r>
          </a:p>
          <a:p>
            <a:pPr>
              <a:lnSpc>
                <a:spcPct val="11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void Person::SetData(char* _name, char* _phone, int _age)</a:t>
            </a:r>
          </a:p>
          <a:p>
            <a:pPr>
              <a:lnSpc>
                <a:spcPct val="11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1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 strcpy(name, _name);</a:t>
            </a:r>
          </a:p>
          <a:p>
            <a:pPr>
              <a:lnSpc>
                <a:spcPct val="11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 strcpy(phone, _phone);</a:t>
            </a:r>
          </a:p>
          <a:p>
            <a:pPr>
              <a:lnSpc>
                <a:spcPct val="11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 age=_age;</a:t>
            </a:r>
          </a:p>
          <a:p>
            <a:pPr>
              <a:lnSpc>
                <a:spcPct val="11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1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int main()</a:t>
            </a:r>
          </a:p>
          <a:p>
            <a:pPr>
              <a:lnSpc>
                <a:spcPct val="11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1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 Person p;</a:t>
            </a:r>
          </a:p>
          <a:p>
            <a:pPr>
              <a:lnSpc>
                <a:spcPct val="11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 p.SetData("KIM", "013-333-5555", 22);</a:t>
            </a:r>
          </a:p>
          <a:p>
            <a:pPr>
              <a:lnSpc>
                <a:spcPct val="11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 return 0;</a:t>
            </a:r>
          </a:p>
          <a:p>
            <a:pPr>
              <a:lnSpc>
                <a:spcPct val="11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9219" name="AutoShape 3">
            <a:extLst>
              <a:ext uri="{FF2B5EF4-FFF2-40B4-BE49-F238E27FC236}">
                <a16:creationId xmlns:a16="http://schemas.microsoft.com/office/drawing/2014/main" id="{6A0A8496-6FDE-FCE5-64B5-F6BD04D790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025" y="3213100"/>
            <a:ext cx="1901825" cy="1066800"/>
          </a:xfrm>
          <a:prstGeom prst="wedgeEllipseCallout">
            <a:avLst>
              <a:gd name="adj1" fmla="val -105593"/>
              <a:gd name="adj2" fmla="val 52380"/>
            </a:avLst>
          </a:prstGeom>
          <a:solidFill>
            <a:srgbClr val="427D2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/>
          <a:p>
            <a:pPr algn="ctr">
              <a:lnSpc>
                <a:spcPct val="120000"/>
              </a:lnSpc>
            </a:pPr>
            <a:r>
              <a:rPr lang="ko-KR" altLang="en-US" sz="1400" b="1">
                <a:solidFill>
                  <a:schemeClr val="bg1"/>
                </a:solidFill>
              </a:rPr>
              <a:t>생성과 동시에 초기화</a:t>
            </a:r>
            <a:r>
              <a:rPr lang="en-US" altLang="ko-KR" sz="1400" b="1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F76CE910-9461-B60A-5F2F-2DB2EAE00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188913"/>
            <a:ext cx="37068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l"/>
            <a:r>
              <a:rPr lang="en-US" altLang="ko-KR" sz="2800" b="1"/>
              <a:t>4-3  </a:t>
            </a:r>
            <a:r>
              <a:rPr lang="ko-KR" altLang="en-US" sz="2800" b="1"/>
              <a:t>생성자와 소멸자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>
            <a:extLst>
              <a:ext uri="{FF2B5EF4-FFF2-40B4-BE49-F238E27FC236}">
                <a16:creationId xmlns:a16="http://schemas.microsoft.com/office/drawing/2014/main" id="{CC8A8C1E-D027-E2A2-BEBD-469B7590BF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87450"/>
            <a:ext cx="6765925" cy="1627188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800" b="1"/>
              <a:t>객체의 생성 과정</a:t>
            </a:r>
            <a:r>
              <a:rPr lang="en-US" altLang="ko-KR" sz="2800" b="1"/>
              <a:t>(Constructor1.cpp)</a:t>
            </a:r>
          </a:p>
          <a:p>
            <a:pPr lvl="1">
              <a:lnSpc>
                <a:spcPct val="120000"/>
              </a:lnSpc>
            </a:pPr>
            <a:r>
              <a:rPr lang="ko-KR" altLang="en-US" sz="2400" b="1"/>
              <a:t>첫째</a:t>
            </a:r>
            <a:r>
              <a:rPr lang="en-US" altLang="ko-KR" sz="2400" b="1"/>
              <a:t>. </a:t>
            </a:r>
            <a:r>
              <a:rPr lang="ko-KR" altLang="en-US" sz="2400" b="1"/>
              <a:t>메모리 할당</a:t>
            </a:r>
          </a:p>
          <a:p>
            <a:pPr lvl="1">
              <a:lnSpc>
                <a:spcPct val="120000"/>
              </a:lnSpc>
            </a:pPr>
            <a:r>
              <a:rPr lang="ko-KR" altLang="en-US" sz="2400" b="1"/>
              <a:t>둘째</a:t>
            </a:r>
            <a:r>
              <a:rPr lang="en-US" altLang="ko-KR" sz="2400" b="1"/>
              <a:t>. </a:t>
            </a:r>
            <a:r>
              <a:rPr lang="ko-KR" altLang="en-US" sz="2400" b="1"/>
              <a:t>생성자의 호출</a:t>
            </a:r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DFDD27B3-DBCB-3385-CDEB-D3661F2A5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325" y="2997200"/>
            <a:ext cx="3657600" cy="3455988"/>
          </a:xfrm>
          <a:prstGeom prst="rect">
            <a:avLst/>
          </a:prstGeom>
          <a:solidFill>
            <a:srgbClr val="EDF7E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06000" tIns="118800" bIns="190800" anchor="ctr"/>
          <a:lstStyle>
            <a:lvl1pPr defTabSz="360363"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class AAA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int i, j;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public: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</a:t>
            </a:r>
            <a:r>
              <a:rPr lang="en-US" altLang="ko-KR" sz="1400" b="1">
                <a:cs typeface="Times New Roman" panose="02020603050405020304" pitchFamily="18" charset="0"/>
              </a:rPr>
              <a:t>AAA()</a:t>
            </a:r>
            <a:r>
              <a:rPr lang="en-US" altLang="ko-KR" sz="1200" b="1">
                <a:cs typeface="Times New Roman" panose="02020603050405020304" pitchFamily="18" charset="0"/>
              </a:rPr>
              <a:t> 	 //</a:t>
            </a:r>
            <a:r>
              <a:rPr lang="ko-KR" altLang="en-US" sz="1200" b="1">
                <a:cs typeface="Times New Roman" panose="02020603050405020304" pitchFamily="18" charset="0"/>
              </a:rPr>
              <a:t>생성자</a:t>
            </a:r>
          </a:p>
          <a:p>
            <a:pPr>
              <a:lnSpc>
                <a:spcPct val="120000"/>
              </a:lnSpc>
            </a:pPr>
            <a:r>
              <a:rPr lang="ko-KR" altLang="en-US" sz="1200" b="1">
                <a:cs typeface="Times New Roman" panose="02020603050405020304" pitchFamily="18" charset="0"/>
              </a:rPr>
              <a:t>    </a:t>
            </a:r>
            <a:r>
              <a:rPr lang="en-US" altLang="ko-KR" sz="1200" b="1">
                <a:cs typeface="Times New Roman" panose="02020603050405020304" pitchFamily="18" charset="0"/>
              </a:rPr>
              <a:t>{ 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   cout&lt;&lt;"</a:t>
            </a:r>
            <a:r>
              <a:rPr lang="ko-KR" altLang="en-US" sz="1200" b="1">
                <a:cs typeface="Times New Roman" panose="02020603050405020304" pitchFamily="18" charset="0"/>
              </a:rPr>
              <a:t>생성자 호출</a:t>
            </a:r>
            <a:r>
              <a:rPr lang="en-US" altLang="ko-KR" sz="1200" b="1">
                <a:cs typeface="Times New Roman" panose="02020603050405020304" pitchFamily="18" charset="0"/>
              </a:rPr>
              <a:t>"&lt;&lt;endl;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   i=10, j=20;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}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void ShowData()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{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   cout&lt;&lt;i&lt;&lt;' '&lt;&lt;j&lt;&lt;endl;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}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};</a:t>
            </a:r>
          </a:p>
        </p:txBody>
      </p:sp>
      <p:sp>
        <p:nvSpPr>
          <p:cNvPr id="10245" name="AutoShape 5">
            <a:extLst>
              <a:ext uri="{FF2B5EF4-FFF2-40B4-BE49-F238E27FC236}">
                <a16:creationId xmlns:a16="http://schemas.microsoft.com/office/drawing/2014/main" id="{2B6CC489-7CC1-C2D5-D1FA-AAC29E729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2933700"/>
            <a:ext cx="2819400" cy="990600"/>
          </a:xfrm>
          <a:prstGeom prst="wedgeEllipseCallout">
            <a:avLst>
              <a:gd name="adj1" fmla="val -76241"/>
              <a:gd name="adj2" fmla="val 85255"/>
            </a:avLst>
          </a:prstGeom>
          <a:solidFill>
            <a:srgbClr val="427D2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/>
          <a:p>
            <a:pPr algn="ctr">
              <a:lnSpc>
                <a:spcPct val="120000"/>
              </a:lnSpc>
            </a:pPr>
            <a:r>
              <a:rPr lang="ko-KR" altLang="en-US" sz="1400" b="1">
                <a:solidFill>
                  <a:schemeClr val="bg1"/>
                </a:solidFill>
              </a:rPr>
              <a:t>원하는 값으로 </a:t>
            </a:r>
          </a:p>
          <a:p>
            <a:pPr algn="ctr">
              <a:lnSpc>
                <a:spcPct val="120000"/>
              </a:lnSpc>
            </a:pPr>
            <a:r>
              <a:rPr lang="ko-KR" altLang="en-US" sz="1400" b="1">
                <a:solidFill>
                  <a:schemeClr val="bg1"/>
                </a:solidFill>
              </a:rPr>
              <a:t>초기화할 수 있는가</a:t>
            </a:r>
            <a:r>
              <a:rPr lang="en-US" altLang="ko-KR" sz="1400" b="1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10246" name="Rectangle 6">
            <a:extLst>
              <a:ext uri="{FF2B5EF4-FFF2-40B4-BE49-F238E27FC236}">
                <a16:creationId xmlns:a16="http://schemas.microsoft.com/office/drawing/2014/main" id="{50ABBB39-D0B6-AFD3-FCCA-9FEA754106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188913"/>
            <a:ext cx="37068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l"/>
            <a:r>
              <a:rPr lang="en-US" altLang="ko-KR" sz="2800" b="1"/>
              <a:t>4-3  </a:t>
            </a:r>
            <a:r>
              <a:rPr lang="ko-KR" altLang="en-US" sz="2800" b="1"/>
              <a:t>생성자와 소멸자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>
            <a:extLst>
              <a:ext uri="{FF2B5EF4-FFF2-40B4-BE49-F238E27FC236}">
                <a16:creationId xmlns:a16="http://schemas.microsoft.com/office/drawing/2014/main" id="{8A4FB867-3AD2-600A-192D-7D0E016A47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87450"/>
            <a:ext cx="7772400" cy="2065338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800" b="1"/>
              <a:t>생성자를 통한 인자의 전달</a:t>
            </a:r>
          </a:p>
          <a:p>
            <a:pPr lvl="1">
              <a:lnSpc>
                <a:spcPct val="120000"/>
              </a:lnSpc>
            </a:pPr>
            <a:r>
              <a:rPr lang="ko-KR" altLang="en-US" sz="2400" b="1"/>
              <a:t>이전의 객체 생성 방법은 구조체 변수의 선언과 </a:t>
            </a:r>
            <a:br>
              <a:rPr lang="ko-KR" altLang="en-US" sz="2400" b="1"/>
            </a:br>
            <a:r>
              <a:rPr lang="ko-KR" altLang="en-US" sz="2400" b="1"/>
              <a:t>동일한 방법</a:t>
            </a:r>
            <a:r>
              <a:rPr lang="en-US" altLang="ko-KR" sz="2400" b="1"/>
              <a:t>!</a:t>
            </a:r>
          </a:p>
          <a:p>
            <a:pPr lvl="1">
              <a:lnSpc>
                <a:spcPct val="120000"/>
              </a:lnSpc>
            </a:pPr>
            <a:r>
              <a:rPr lang="en-US" altLang="ko-KR" sz="2400" b="1"/>
              <a:t>Constructor2.cpp, Person3.cpp</a:t>
            </a:r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CE4C553A-5645-AECF-1F56-A452C52E3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3429000"/>
            <a:ext cx="2952750" cy="3176588"/>
          </a:xfrm>
          <a:prstGeom prst="rect">
            <a:avLst/>
          </a:prstGeom>
          <a:solidFill>
            <a:srgbClr val="EDF7E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06000" tIns="118800" bIns="190800" anchor="ctr"/>
          <a:lstStyle>
            <a:lvl1pPr defTabSz="360363"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class AAA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int i, j;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public: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</a:t>
            </a:r>
            <a:r>
              <a:rPr lang="en-US" altLang="ko-KR" sz="1400" b="1">
                <a:cs typeface="Times New Roman" panose="02020603050405020304" pitchFamily="18" charset="0"/>
              </a:rPr>
              <a:t>AAA(int _i, int _j)</a:t>
            </a:r>
            <a:r>
              <a:rPr lang="en-US" altLang="ko-KR" sz="1200" b="1">
                <a:cs typeface="Times New Roman" panose="02020603050405020304" pitchFamily="18" charset="0"/>
              </a:rPr>
              <a:t>   	//</a:t>
            </a:r>
            <a:r>
              <a:rPr lang="ko-KR" altLang="en-US" sz="1200" b="1">
                <a:cs typeface="Times New Roman" panose="02020603050405020304" pitchFamily="18" charset="0"/>
              </a:rPr>
              <a:t>생성자</a:t>
            </a:r>
          </a:p>
          <a:p>
            <a:pPr>
              <a:lnSpc>
                <a:spcPct val="120000"/>
              </a:lnSpc>
            </a:pPr>
            <a:r>
              <a:rPr lang="ko-KR" altLang="en-US" sz="1200" b="1">
                <a:cs typeface="Times New Roman" panose="02020603050405020304" pitchFamily="18" charset="0"/>
              </a:rPr>
              <a:t>    </a:t>
            </a:r>
            <a:r>
              <a:rPr lang="en-US" altLang="ko-KR" sz="1200" b="1">
                <a:cs typeface="Times New Roman" panose="02020603050405020304" pitchFamily="18" charset="0"/>
              </a:rPr>
              <a:t>{ 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   i=_i, j=_j;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}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void ShowData()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{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   cout&lt;&lt;i&lt;&lt;' '&lt;&lt;j&lt;&lt;endl;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}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};</a:t>
            </a:r>
          </a:p>
        </p:txBody>
      </p:sp>
      <p:sp>
        <p:nvSpPr>
          <p:cNvPr id="11270" name="Rectangle 6">
            <a:extLst>
              <a:ext uri="{FF2B5EF4-FFF2-40B4-BE49-F238E27FC236}">
                <a16:creationId xmlns:a16="http://schemas.microsoft.com/office/drawing/2014/main" id="{C139EEB5-5A8E-E455-10CA-C98CE189D8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188913"/>
            <a:ext cx="37068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l"/>
            <a:r>
              <a:rPr lang="en-US" altLang="ko-KR" sz="2800" b="1"/>
              <a:t>4-3  </a:t>
            </a:r>
            <a:r>
              <a:rPr lang="ko-KR" altLang="en-US" sz="2800" b="1"/>
              <a:t>생성자와 소멸자</a:t>
            </a:r>
          </a:p>
        </p:txBody>
      </p:sp>
      <p:pic>
        <p:nvPicPr>
          <p:cNvPr id="11272" name="Picture 8">
            <a:extLst>
              <a:ext uri="{FF2B5EF4-FFF2-40B4-BE49-F238E27FC236}">
                <a16:creationId xmlns:a16="http://schemas.microsoft.com/office/drawing/2014/main" id="{447AF561-F579-AE75-2101-8569B5C0C4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0363" y="3681413"/>
            <a:ext cx="4772025" cy="250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>
            <a:extLst>
              <a:ext uri="{FF2B5EF4-FFF2-40B4-BE49-F238E27FC236}">
                <a16:creationId xmlns:a16="http://schemas.microsoft.com/office/drawing/2014/main" id="{802B298B-2018-19DC-28EF-A69D7E3B2D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233488"/>
            <a:ext cx="7772400" cy="4168775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2800" b="1"/>
              <a:t>public </a:t>
            </a:r>
            <a:r>
              <a:rPr lang="ko-KR" altLang="en-US" sz="2800" b="1"/>
              <a:t>생성자</a:t>
            </a:r>
            <a:r>
              <a:rPr lang="en-US" altLang="ko-KR" sz="2800" b="1"/>
              <a:t>, private </a:t>
            </a:r>
            <a:r>
              <a:rPr lang="ko-KR" altLang="en-US" sz="2800" b="1"/>
              <a:t>생성자</a:t>
            </a:r>
          </a:p>
          <a:p>
            <a:pPr lvl="1">
              <a:lnSpc>
                <a:spcPct val="110000"/>
              </a:lnSpc>
            </a:pPr>
            <a:r>
              <a:rPr lang="en-US" altLang="ko-KR" sz="2200" b="1"/>
              <a:t>public </a:t>
            </a:r>
            <a:r>
              <a:rPr lang="ko-KR" altLang="en-US" sz="2200" b="1"/>
              <a:t>생성자 </a:t>
            </a:r>
            <a:r>
              <a:rPr lang="en-US" altLang="ko-KR" sz="2200" b="1"/>
              <a:t>: </a:t>
            </a:r>
            <a:r>
              <a:rPr lang="ko-KR" altLang="en-US" sz="2200" b="1"/>
              <a:t>어디서든 객체 생성 가능</a:t>
            </a:r>
          </a:p>
          <a:p>
            <a:pPr lvl="1">
              <a:lnSpc>
                <a:spcPct val="110000"/>
              </a:lnSpc>
            </a:pPr>
            <a:r>
              <a:rPr lang="en-US" altLang="ko-KR" sz="2200" b="1"/>
              <a:t>private </a:t>
            </a:r>
            <a:r>
              <a:rPr lang="ko-KR" altLang="en-US" sz="2200" b="1"/>
              <a:t>생성자 </a:t>
            </a:r>
            <a:r>
              <a:rPr lang="en-US" altLang="ko-KR" sz="2200" b="1"/>
              <a:t>: </a:t>
            </a:r>
            <a:r>
              <a:rPr lang="ko-KR" altLang="en-US" sz="2200" b="1"/>
              <a:t>클래스 내부에서만 가능</a:t>
            </a:r>
            <a:br>
              <a:rPr lang="ko-KR" altLang="en-US" sz="2200" b="1"/>
            </a:br>
            <a:endParaRPr lang="ko-KR" altLang="en-US" sz="1200" b="1"/>
          </a:p>
          <a:p>
            <a:pPr>
              <a:lnSpc>
                <a:spcPct val="110000"/>
              </a:lnSpc>
            </a:pPr>
            <a:r>
              <a:rPr lang="ko-KR" altLang="en-US" sz="2800" b="1"/>
              <a:t>객체 생성의 두 가지 형태</a:t>
            </a:r>
          </a:p>
          <a:p>
            <a:pPr lvl="1">
              <a:lnSpc>
                <a:spcPct val="110000"/>
              </a:lnSpc>
            </a:pPr>
            <a:endParaRPr lang="ko-KR" altLang="en-US" sz="2400" b="1"/>
          </a:p>
          <a:p>
            <a:pPr lvl="1">
              <a:lnSpc>
                <a:spcPct val="110000"/>
              </a:lnSpc>
            </a:pPr>
            <a:endParaRPr lang="ko-KR" altLang="en-US" sz="2400" b="1"/>
          </a:p>
          <a:p>
            <a:pPr lvl="1">
              <a:lnSpc>
                <a:spcPct val="110000"/>
              </a:lnSpc>
            </a:pPr>
            <a:endParaRPr lang="ko-KR" altLang="en-US" sz="2400" b="1"/>
          </a:p>
          <a:p>
            <a:pPr>
              <a:lnSpc>
                <a:spcPct val="110000"/>
              </a:lnSpc>
            </a:pPr>
            <a:r>
              <a:rPr lang="ko-KR" altLang="en-US" sz="2800" b="1"/>
              <a:t> 오해하기 쉬운 객체 생성</a:t>
            </a:r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13259957-B228-592F-B5A1-49833C0DA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3502025"/>
            <a:ext cx="6588125" cy="971550"/>
          </a:xfrm>
          <a:prstGeom prst="rect">
            <a:avLst/>
          </a:prstGeom>
          <a:solidFill>
            <a:srgbClr val="EDF7E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6000" tIns="118800" bIns="190800" anchor="ctr"/>
          <a:lstStyle>
            <a:lvl1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1">
              <a:lnSpc>
                <a:spcPct val="130000"/>
              </a:lnSpc>
            </a:pPr>
            <a:r>
              <a:rPr lang="en-US" altLang="ko-KR" sz="1600" b="1">
                <a:cs typeface="Times New Roman" panose="02020603050405020304" pitchFamily="18" charset="0"/>
              </a:rPr>
              <a:t>Person p = Person("KIM", "013-333-5555", 22);</a:t>
            </a:r>
          </a:p>
          <a:p>
            <a:pPr lvl="1">
              <a:lnSpc>
                <a:spcPct val="130000"/>
              </a:lnSpc>
            </a:pPr>
            <a:r>
              <a:rPr lang="en-US" altLang="ko-KR" sz="1600" b="1">
                <a:cs typeface="Times New Roman" panose="02020603050405020304" pitchFamily="18" charset="0"/>
              </a:rPr>
              <a:t>Person p("KIM", "013-333-5555", 22);</a:t>
            </a:r>
          </a:p>
        </p:txBody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8A70DE6E-97FB-C369-C2AE-5F06B6ABD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5464175"/>
            <a:ext cx="6661150" cy="989013"/>
          </a:xfrm>
          <a:prstGeom prst="rect">
            <a:avLst/>
          </a:prstGeom>
          <a:solidFill>
            <a:srgbClr val="EDF7E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6000" tIns="118800" bIns="190800" anchor="ctr"/>
          <a:lstStyle>
            <a:lvl1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1">
              <a:lnSpc>
                <a:spcPct val="130000"/>
              </a:lnSpc>
            </a:pPr>
            <a:r>
              <a:rPr lang="en-US" altLang="ko-KR" sz="1600" b="1">
                <a:cs typeface="Times New Roman" panose="02020603050405020304" pitchFamily="18" charset="0"/>
              </a:rPr>
              <a:t>Person p("KIM", "013-333-5555", 22); 		// </a:t>
            </a:r>
            <a:r>
              <a:rPr lang="ko-KR" altLang="en-US" sz="1600" b="1">
                <a:cs typeface="Times New Roman" panose="02020603050405020304" pitchFamily="18" charset="0"/>
              </a:rPr>
              <a:t>객체 생성</a:t>
            </a:r>
          </a:p>
          <a:p>
            <a:pPr lvl="1">
              <a:lnSpc>
                <a:spcPct val="130000"/>
              </a:lnSpc>
            </a:pPr>
            <a:r>
              <a:rPr lang="en-US" altLang="ko-KR" sz="1600" b="1">
                <a:cs typeface="Times New Roman" panose="02020603050405020304" pitchFamily="18" charset="0"/>
              </a:rPr>
              <a:t>Person p( ); 						// </a:t>
            </a:r>
            <a:r>
              <a:rPr lang="ko-KR" altLang="en-US" sz="1600" b="1">
                <a:cs typeface="Times New Roman" panose="02020603050405020304" pitchFamily="18" charset="0"/>
                <a:sym typeface="Wingdings" panose="05000000000000000000" pitchFamily="2" charset="2"/>
              </a:rPr>
              <a:t>함수를 선언</a:t>
            </a:r>
            <a:endParaRPr lang="ko-KR" altLang="en-US" sz="1600" b="1">
              <a:cs typeface="Times New Roman" panose="02020603050405020304" pitchFamily="18" charset="0"/>
            </a:endParaRPr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799F340F-00A0-DD98-032A-7AA3FECDBD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188913"/>
            <a:ext cx="37068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l"/>
            <a:r>
              <a:rPr lang="en-US" altLang="ko-KR" sz="2800" b="1"/>
              <a:t>4-3  </a:t>
            </a:r>
            <a:r>
              <a:rPr lang="ko-KR" altLang="en-US" sz="2800" b="1"/>
              <a:t>생성자와 소멸자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>
            <a:extLst>
              <a:ext uri="{FF2B5EF4-FFF2-40B4-BE49-F238E27FC236}">
                <a16:creationId xmlns:a16="http://schemas.microsoft.com/office/drawing/2014/main" id="{EDE6AE8F-0419-8A95-D060-E7A2D4B750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252538"/>
            <a:ext cx="7772400" cy="2301875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2800" b="1">
                <a:solidFill>
                  <a:srgbClr val="FF0000"/>
                </a:solidFill>
              </a:rPr>
              <a:t>디폴트</a:t>
            </a:r>
            <a:r>
              <a:rPr lang="en-US" altLang="ko-KR" sz="2800" b="1">
                <a:solidFill>
                  <a:srgbClr val="FF0000"/>
                </a:solidFill>
              </a:rPr>
              <a:t>(default) </a:t>
            </a:r>
            <a:r>
              <a:rPr lang="ko-KR" altLang="en-US" sz="2800" b="1">
                <a:solidFill>
                  <a:srgbClr val="FF0000"/>
                </a:solidFill>
              </a:rPr>
              <a:t>생성자</a:t>
            </a:r>
          </a:p>
          <a:p>
            <a:pPr lvl="1">
              <a:lnSpc>
                <a:spcPct val="110000"/>
              </a:lnSpc>
            </a:pPr>
            <a:r>
              <a:rPr lang="ko-KR" altLang="en-US" sz="2200" b="1"/>
              <a:t>생성자가 하나도 정의되어 있지 않은 경우</a:t>
            </a:r>
          </a:p>
          <a:p>
            <a:pPr lvl="1">
              <a:lnSpc>
                <a:spcPct val="110000"/>
              </a:lnSpc>
            </a:pPr>
            <a:r>
              <a:rPr lang="ko-KR" altLang="en-US" sz="2200" b="1">
                <a:solidFill>
                  <a:srgbClr val="FF0000"/>
                </a:solidFill>
              </a:rPr>
              <a:t>자동으로 컴파일러가 만드는 생성자</a:t>
            </a:r>
          </a:p>
          <a:p>
            <a:pPr lvl="1">
              <a:lnSpc>
                <a:spcPct val="110000"/>
              </a:lnSpc>
            </a:pPr>
            <a:r>
              <a:rPr lang="ko-KR" altLang="en-US" sz="2200" b="1"/>
              <a:t>디폴트 생성자가 하는 일</a:t>
            </a:r>
            <a:r>
              <a:rPr lang="en-US" altLang="ko-KR" sz="2200" b="1"/>
              <a:t>? </a:t>
            </a:r>
            <a:r>
              <a:rPr lang="ko-KR" altLang="en-US" sz="2200" b="1"/>
              <a:t>아무것도 없다</a:t>
            </a:r>
            <a:r>
              <a:rPr lang="en-US" altLang="ko-KR" sz="2200" b="1"/>
              <a:t>. </a:t>
            </a:r>
          </a:p>
          <a:p>
            <a:pPr lvl="1">
              <a:lnSpc>
                <a:spcPct val="110000"/>
              </a:lnSpc>
            </a:pPr>
            <a:r>
              <a:rPr lang="en-US" altLang="ko-KR" sz="2200" b="1"/>
              <a:t>Default1.cpp</a:t>
            </a:r>
          </a:p>
        </p:txBody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BE5DB3DF-4C4F-4811-C42B-6D2AE23BB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188913"/>
            <a:ext cx="37068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l"/>
            <a:r>
              <a:rPr lang="en-US" altLang="ko-KR" sz="2800" b="1"/>
              <a:t>4-3  </a:t>
            </a:r>
            <a:r>
              <a:rPr lang="ko-KR" altLang="en-US" sz="2800" b="1"/>
              <a:t>생성자와 소멸자</a:t>
            </a:r>
          </a:p>
        </p:txBody>
      </p:sp>
      <p:pic>
        <p:nvPicPr>
          <p:cNvPr id="13319" name="Picture 7">
            <a:extLst>
              <a:ext uri="{FF2B5EF4-FFF2-40B4-BE49-F238E27FC236}">
                <a16:creationId xmlns:a16="http://schemas.microsoft.com/office/drawing/2014/main" id="{1428FEAF-490C-E913-8B0C-B0A789260B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9425" y="3867150"/>
            <a:ext cx="5645150" cy="2441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>
            <a:extLst>
              <a:ext uri="{FF2B5EF4-FFF2-40B4-BE49-F238E27FC236}">
                <a16:creationId xmlns:a16="http://schemas.microsoft.com/office/drawing/2014/main" id="{FDBCD260-ACAD-780D-050A-468539FE5A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233488"/>
            <a:ext cx="7019925" cy="2301875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2800" b="1"/>
              <a:t>생성자의 특징</a:t>
            </a:r>
          </a:p>
          <a:p>
            <a:pPr lvl="1">
              <a:lnSpc>
                <a:spcPct val="110000"/>
              </a:lnSpc>
            </a:pPr>
            <a:r>
              <a:rPr lang="ko-KR" altLang="en-US" sz="2200" b="1"/>
              <a:t>생성자도 함수다</a:t>
            </a:r>
            <a:r>
              <a:rPr lang="en-US" altLang="ko-KR" sz="2200" b="1"/>
              <a:t>!</a:t>
            </a:r>
          </a:p>
          <a:p>
            <a:pPr lvl="1">
              <a:lnSpc>
                <a:spcPct val="110000"/>
              </a:lnSpc>
            </a:pPr>
            <a:r>
              <a:rPr lang="ko-KR" altLang="en-US" sz="2200" b="1"/>
              <a:t>따라서 함수 오버로딩이 가능하다</a:t>
            </a:r>
          </a:p>
          <a:p>
            <a:pPr lvl="1">
              <a:lnSpc>
                <a:spcPct val="110000"/>
              </a:lnSpc>
            </a:pPr>
            <a:r>
              <a:rPr lang="ko-KR" altLang="en-US" sz="2200" b="1"/>
              <a:t>디폴트 매개 변수의 설정도 가능하다</a:t>
            </a:r>
            <a:r>
              <a:rPr lang="en-US" altLang="ko-KR" sz="2200" b="1"/>
              <a:t>.</a:t>
            </a:r>
          </a:p>
          <a:p>
            <a:pPr lvl="1">
              <a:lnSpc>
                <a:spcPct val="110000"/>
              </a:lnSpc>
            </a:pPr>
            <a:r>
              <a:rPr lang="en-US" altLang="ko-KR" sz="2200" b="1"/>
              <a:t>Default2.cpp, Default3.cpp</a:t>
            </a:r>
            <a:endParaRPr lang="en-US" altLang="ko-KR" sz="2400" b="1"/>
          </a:p>
        </p:txBody>
      </p:sp>
      <p:sp>
        <p:nvSpPr>
          <p:cNvPr id="14341" name="Rectangle 5">
            <a:extLst>
              <a:ext uri="{FF2B5EF4-FFF2-40B4-BE49-F238E27FC236}">
                <a16:creationId xmlns:a16="http://schemas.microsoft.com/office/drawing/2014/main" id="{DBFC009B-9BAF-A744-302E-4550294A7B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188913"/>
            <a:ext cx="37068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l"/>
            <a:r>
              <a:rPr lang="en-US" altLang="ko-KR" sz="2800" b="1"/>
              <a:t>4-3  </a:t>
            </a:r>
            <a:r>
              <a:rPr lang="ko-KR" altLang="en-US" sz="2800" b="1"/>
              <a:t>생성자와 소멸자</a:t>
            </a:r>
          </a:p>
        </p:txBody>
      </p:sp>
      <p:pic>
        <p:nvPicPr>
          <p:cNvPr id="14343" name="Picture 7">
            <a:extLst>
              <a:ext uri="{FF2B5EF4-FFF2-40B4-BE49-F238E27FC236}">
                <a16:creationId xmlns:a16="http://schemas.microsoft.com/office/drawing/2014/main" id="{6EAE3480-B559-624A-47D1-D04DB4FB98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4572000"/>
            <a:ext cx="5302250" cy="124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344" name="AutoShape 8">
            <a:extLst>
              <a:ext uri="{FF2B5EF4-FFF2-40B4-BE49-F238E27FC236}">
                <a16:creationId xmlns:a16="http://schemas.microsoft.com/office/drawing/2014/main" id="{5272C8C3-1315-472A-79ED-22CBB446AB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3505200"/>
            <a:ext cx="2286000" cy="762000"/>
          </a:xfrm>
          <a:prstGeom prst="wedgeEllipseCallout">
            <a:avLst>
              <a:gd name="adj1" fmla="val -72361"/>
              <a:gd name="adj2" fmla="val 90833"/>
            </a:avLst>
          </a:prstGeom>
          <a:solidFill>
            <a:srgbClr val="427D2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/>
          <a:p>
            <a:pPr algn="ctr">
              <a:lnSpc>
                <a:spcPct val="120000"/>
              </a:lnSpc>
            </a:pPr>
            <a:r>
              <a:rPr lang="ko-KR" altLang="en-US" sz="1400" b="1">
                <a:solidFill>
                  <a:schemeClr val="bg1"/>
                </a:solidFill>
              </a:rPr>
              <a:t>디폴트 </a:t>
            </a:r>
          </a:p>
          <a:p>
            <a:pPr algn="ctr">
              <a:lnSpc>
                <a:spcPct val="120000"/>
              </a:lnSpc>
            </a:pPr>
            <a:r>
              <a:rPr lang="ko-KR" altLang="en-US" sz="1400" b="1">
                <a:solidFill>
                  <a:schemeClr val="bg1"/>
                </a:solidFill>
              </a:rPr>
              <a:t>매개변수에 의해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>
            <a:extLst>
              <a:ext uri="{FF2B5EF4-FFF2-40B4-BE49-F238E27FC236}">
                <a16:creationId xmlns:a16="http://schemas.microsoft.com/office/drawing/2014/main" id="{4BD56367-CEBA-A37D-B4CB-1848264D21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233488"/>
            <a:ext cx="7772400" cy="4651375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2800" b="1"/>
              <a:t>객체가 소멸되는 시점은</a:t>
            </a:r>
            <a:r>
              <a:rPr lang="en-US" altLang="ko-KR" sz="2800" b="1"/>
              <a:t>?</a:t>
            </a:r>
          </a:p>
          <a:p>
            <a:pPr lvl="1">
              <a:lnSpc>
                <a:spcPct val="110000"/>
              </a:lnSpc>
            </a:pPr>
            <a:r>
              <a:rPr lang="ko-KR" altLang="en-US" sz="2200" b="1"/>
              <a:t>기본 자료형 변수</a:t>
            </a:r>
            <a:r>
              <a:rPr lang="en-US" altLang="ko-KR" sz="2200" b="1"/>
              <a:t>, </a:t>
            </a:r>
            <a:r>
              <a:rPr lang="ko-KR" altLang="en-US" sz="2200" b="1"/>
              <a:t>구조체 변수가 소멸되는 시점과 </a:t>
            </a:r>
            <a:br>
              <a:rPr lang="ko-KR" altLang="ja-JP" sz="2200" b="1"/>
            </a:br>
            <a:r>
              <a:rPr lang="ko-KR" altLang="en-US" sz="2200" b="1"/>
              <a:t>동일하다</a:t>
            </a:r>
            <a:r>
              <a:rPr lang="en-US" altLang="ko-KR" sz="2200" b="1"/>
              <a:t>.</a:t>
            </a:r>
          </a:p>
          <a:p>
            <a:pPr lvl="1">
              <a:lnSpc>
                <a:spcPct val="110000"/>
              </a:lnSpc>
            </a:pPr>
            <a:endParaRPr lang="en-US" altLang="ko-KR" sz="2200" b="1"/>
          </a:p>
          <a:p>
            <a:pPr>
              <a:lnSpc>
                <a:spcPct val="110000"/>
              </a:lnSpc>
            </a:pPr>
            <a:r>
              <a:rPr lang="ko-KR" altLang="en-US" sz="2800" b="1"/>
              <a:t>함수 내에 선언된 객체</a:t>
            </a:r>
          </a:p>
          <a:p>
            <a:pPr lvl="1">
              <a:lnSpc>
                <a:spcPct val="110000"/>
              </a:lnSpc>
            </a:pPr>
            <a:r>
              <a:rPr lang="ko-KR" altLang="en-US" sz="2200" b="1"/>
              <a:t>함수 호출이 끝나면 소멸된다</a:t>
            </a:r>
            <a:r>
              <a:rPr lang="en-US" altLang="ko-KR" sz="2200" b="1"/>
              <a:t>.</a:t>
            </a:r>
          </a:p>
          <a:p>
            <a:pPr lvl="1">
              <a:lnSpc>
                <a:spcPct val="110000"/>
              </a:lnSpc>
            </a:pPr>
            <a:endParaRPr lang="en-US" altLang="ko-KR" sz="2200" b="1"/>
          </a:p>
          <a:p>
            <a:pPr>
              <a:lnSpc>
                <a:spcPct val="110000"/>
              </a:lnSpc>
            </a:pPr>
            <a:r>
              <a:rPr lang="ko-KR" altLang="en-US" sz="2800" b="1"/>
              <a:t>전역적으로 선언된 객체</a:t>
            </a:r>
          </a:p>
          <a:p>
            <a:pPr lvl="1">
              <a:lnSpc>
                <a:spcPct val="110000"/>
              </a:lnSpc>
            </a:pPr>
            <a:r>
              <a:rPr lang="ko-KR" altLang="en-US" sz="2200" b="1"/>
              <a:t>프로그램이 종료될 때 소멸된다</a:t>
            </a:r>
            <a:r>
              <a:rPr lang="en-US" altLang="ko-KR" sz="2200" b="1"/>
              <a:t>.</a:t>
            </a:r>
          </a:p>
          <a:p>
            <a:pPr lvl="1">
              <a:lnSpc>
                <a:spcPct val="110000"/>
              </a:lnSpc>
            </a:pPr>
            <a:r>
              <a:rPr lang="ko-KR" altLang="en-US" sz="2200" b="1"/>
              <a:t>이렇게 객체 생성할 일 </a:t>
            </a:r>
            <a:r>
              <a:rPr lang="en-US" altLang="ko-KR" sz="2200" b="1"/>
              <a:t>(</a:t>
            </a:r>
            <a:r>
              <a:rPr lang="ko-KR" altLang="en-US" sz="2200" b="1"/>
              <a:t>거의</a:t>
            </a:r>
            <a:r>
              <a:rPr lang="en-US" altLang="ko-KR" sz="2200" b="1"/>
              <a:t>) </a:t>
            </a:r>
            <a:r>
              <a:rPr lang="ko-KR" altLang="en-US" sz="2200" b="1"/>
              <a:t>없다</a:t>
            </a:r>
            <a:r>
              <a:rPr lang="en-US" altLang="ko-KR" sz="2200" b="1"/>
              <a:t>! </a:t>
            </a:r>
            <a:endParaRPr lang="en-US" altLang="ko-KR" sz="2400" b="1"/>
          </a:p>
        </p:txBody>
      </p:sp>
      <p:sp>
        <p:nvSpPr>
          <p:cNvPr id="18436" name="Rectangle 4">
            <a:extLst>
              <a:ext uri="{FF2B5EF4-FFF2-40B4-BE49-F238E27FC236}">
                <a16:creationId xmlns:a16="http://schemas.microsoft.com/office/drawing/2014/main" id="{9D610699-69CB-317D-A951-9E7B28587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188913"/>
            <a:ext cx="37068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l"/>
            <a:r>
              <a:rPr lang="en-US" altLang="ko-KR" sz="2800" b="1"/>
              <a:t>4-3  </a:t>
            </a:r>
            <a:r>
              <a:rPr lang="ko-KR" altLang="en-US" sz="2800" b="1"/>
              <a:t>생성자와 소멸자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>
            <a:extLst>
              <a:ext uri="{FF2B5EF4-FFF2-40B4-BE49-F238E27FC236}">
                <a16:creationId xmlns:a16="http://schemas.microsoft.com/office/drawing/2014/main" id="{92E13EE4-390D-BD6B-6B78-5F3B5CD242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223963"/>
            <a:ext cx="6262688" cy="561975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2800" b="1"/>
              <a:t>생성자와 동적 할당</a:t>
            </a:r>
            <a:r>
              <a:rPr lang="en-US" altLang="ko-KR" sz="2800" b="1"/>
              <a:t>(Person4.cpp)</a:t>
            </a:r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431E64A2-052E-2E04-3149-4C1F9EA9CF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1952625"/>
            <a:ext cx="4876800" cy="4575175"/>
          </a:xfrm>
          <a:prstGeom prst="rect">
            <a:avLst/>
          </a:prstGeom>
          <a:solidFill>
            <a:srgbClr val="EDF7E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06000" tIns="118800" bIns="190800" anchor="ctr"/>
          <a:lstStyle>
            <a:lvl1pPr defTabSz="360363"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class Person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char *name;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char *phone;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int age;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public: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Person(char* _name, char* _phone, int _age);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void ShowData(){ … </a:t>
            </a:r>
            <a:r>
              <a:rPr lang="ko-KR" altLang="en-US" sz="1200" b="1">
                <a:cs typeface="Times New Roman" panose="02020603050405020304" pitchFamily="18" charset="0"/>
              </a:rPr>
              <a:t>생략 </a:t>
            </a:r>
            <a:r>
              <a:rPr lang="en-US" altLang="ko-KR" sz="1200" b="1">
                <a:cs typeface="Times New Roman" panose="02020603050405020304" pitchFamily="18" charset="0"/>
              </a:rPr>
              <a:t>… }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};</a:t>
            </a:r>
          </a:p>
          <a:p>
            <a:pPr>
              <a:lnSpc>
                <a:spcPct val="120000"/>
              </a:lnSpc>
            </a:pPr>
            <a:endParaRPr lang="en-US" altLang="ko-KR" sz="1200" b="1"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Person::Person(char* _name, char* _phone, int _age)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name=new char[strlen(_name)+1];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strcpy(name, _name);</a:t>
            </a:r>
          </a:p>
          <a:p>
            <a:pPr>
              <a:lnSpc>
                <a:spcPct val="120000"/>
              </a:lnSpc>
            </a:pPr>
            <a:endParaRPr lang="en-US" altLang="ko-KR" sz="1200" b="1"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phone=new char[strlen(_phone)+1];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strcpy(phone, _phone);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age=_age;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5365" name="AutoShape 5">
            <a:extLst>
              <a:ext uri="{FF2B5EF4-FFF2-40B4-BE49-F238E27FC236}">
                <a16:creationId xmlns:a16="http://schemas.microsoft.com/office/drawing/2014/main" id="{53331B26-0559-69FC-9982-8AFB50ECAE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2438400"/>
            <a:ext cx="2819400" cy="990600"/>
          </a:xfrm>
          <a:prstGeom prst="wedgeEllipseCallout">
            <a:avLst>
              <a:gd name="adj1" fmla="val -59120"/>
              <a:gd name="adj2" fmla="val 75319"/>
            </a:avLst>
          </a:prstGeom>
          <a:solidFill>
            <a:srgbClr val="427D2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/>
          <a:p>
            <a:pPr algn="ctr">
              <a:lnSpc>
                <a:spcPct val="120000"/>
              </a:lnSpc>
            </a:pPr>
            <a:r>
              <a:rPr lang="ko-KR" altLang="en-US" sz="1400" b="1">
                <a:solidFill>
                  <a:schemeClr val="bg1"/>
                </a:solidFill>
              </a:rPr>
              <a:t>동적 할당에 따른 </a:t>
            </a:r>
            <a:br>
              <a:rPr lang="ko-KR" altLang="ja-JP" sz="1400" b="1">
                <a:solidFill>
                  <a:schemeClr val="bg1"/>
                </a:solidFill>
              </a:rPr>
            </a:br>
            <a:r>
              <a:rPr lang="ko-KR" altLang="en-US" sz="1400" b="1">
                <a:solidFill>
                  <a:schemeClr val="bg1"/>
                </a:solidFill>
              </a:rPr>
              <a:t>메모리의 해제는</a:t>
            </a:r>
            <a:r>
              <a:rPr lang="en-US" altLang="ko-KR" sz="1400" b="1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277C1EDE-CE97-224C-711C-262926286C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188913"/>
            <a:ext cx="37068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l"/>
            <a:r>
              <a:rPr lang="en-US" altLang="ko-KR" sz="2800" b="1"/>
              <a:t>4-3  </a:t>
            </a:r>
            <a:r>
              <a:rPr lang="ko-KR" altLang="en-US" sz="2800" b="1"/>
              <a:t>생성자와 소멸자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>
            <a:extLst>
              <a:ext uri="{FF2B5EF4-FFF2-40B4-BE49-F238E27FC236}">
                <a16:creationId xmlns:a16="http://schemas.microsoft.com/office/drawing/2014/main" id="{DA04DDCF-F2EF-0D89-85F0-D2411DFF51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233488"/>
            <a:ext cx="6586538" cy="99695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2800" b="1"/>
              <a:t>메모리를 해제하는 멤버 함수의 제공</a:t>
            </a:r>
          </a:p>
          <a:p>
            <a:pPr lvl="1">
              <a:lnSpc>
                <a:spcPct val="110000"/>
              </a:lnSpc>
            </a:pPr>
            <a:r>
              <a:rPr lang="en-US" altLang="ko-KR" sz="2200" b="1"/>
              <a:t>Person5.cpp</a:t>
            </a:r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85C53950-12D2-A955-C3C3-CAD118888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325" y="2295525"/>
            <a:ext cx="4876800" cy="4392613"/>
          </a:xfrm>
          <a:prstGeom prst="rect">
            <a:avLst/>
          </a:prstGeom>
          <a:solidFill>
            <a:srgbClr val="EDF7E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06000" tIns="118800" bIns="190800" anchor="ctr"/>
          <a:lstStyle>
            <a:lvl1pPr defTabSz="360363"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1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class Person</a:t>
            </a:r>
          </a:p>
          <a:p>
            <a:pPr>
              <a:lnSpc>
                <a:spcPct val="11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1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char *name;</a:t>
            </a:r>
          </a:p>
          <a:p>
            <a:pPr>
              <a:lnSpc>
                <a:spcPct val="11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char *phone;</a:t>
            </a:r>
          </a:p>
          <a:p>
            <a:pPr>
              <a:lnSpc>
                <a:spcPct val="11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int age;</a:t>
            </a:r>
          </a:p>
          <a:p>
            <a:pPr>
              <a:lnSpc>
                <a:spcPct val="11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public:</a:t>
            </a:r>
          </a:p>
          <a:p>
            <a:pPr>
              <a:lnSpc>
                <a:spcPct val="11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Person(char* _name, char* _phone, int _age);</a:t>
            </a:r>
          </a:p>
          <a:p>
            <a:pPr>
              <a:lnSpc>
                <a:spcPct val="11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void DelMemory();</a:t>
            </a:r>
          </a:p>
          <a:p>
            <a:pPr>
              <a:lnSpc>
                <a:spcPct val="11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};</a:t>
            </a:r>
          </a:p>
          <a:p>
            <a:pPr>
              <a:lnSpc>
                <a:spcPct val="115000"/>
              </a:lnSpc>
            </a:pPr>
            <a:endParaRPr lang="en-US" altLang="ko-KR" sz="1200" b="1"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Person::Person(char* _name, char* _phone, int _age)</a:t>
            </a:r>
          </a:p>
          <a:p>
            <a:pPr>
              <a:lnSpc>
                <a:spcPct val="11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1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… </a:t>
            </a:r>
            <a:r>
              <a:rPr lang="ko-KR" altLang="en-US" sz="1200" b="1">
                <a:cs typeface="Times New Roman" panose="02020603050405020304" pitchFamily="18" charset="0"/>
              </a:rPr>
              <a:t>생  략 </a:t>
            </a:r>
            <a:r>
              <a:rPr lang="en-US" altLang="ko-KR" sz="1200" b="1">
                <a:cs typeface="Times New Roman" panose="02020603050405020304" pitchFamily="18" charset="0"/>
              </a:rPr>
              <a:t>…</a:t>
            </a:r>
          </a:p>
          <a:p>
            <a:pPr>
              <a:lnSpc>
                <a:spcPct val="11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15000"/>
              </a:lnSpc>
            </a:pPr>
            <a:endParaRPr lang="en-US" altLang="ko-KR" sz="1200" b="1"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void Person::DelMemory()</a:t>
            </a:r>
          </a:p>
          <a:p>
            <a:pPr>
              <a:lnSpc>
                <a:spcPct val="11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1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delete []name;</a:t>
            </a:r>
          </a:p>
          <a:p>
            <a:pPr>
              <a:lnSpc>
                <a:spcPct val="11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delete []phone;</a:t>
            </a:r>
          </a:p>
          <a:p>
            <a:pPr>
              <a:lnSpc>
                <a:spcPct val="11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}	</a:t>
            </a:r>
          </a:p>
        </p:txBody>
      </p:sp>
      <p:sp>
        <p:nvSpPr>
          <p:cNvPr id="16389" name="AutoShape 5">
            <a:extLst>
              <a:ext uri="{FF2B5EF4-FFF2-40B4-BE49-F238E27FC236}">
                <a16:creationId xmlns:a16="http://schemas.microsoft.com/office/drawing/2014/main" id="{14E78499-7994-A075-61A8-042D2DED8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838" y="2667000"/>
            <a:ext cx="1755775" cy="762000"/>
          </a:xfrm>
          <a:prstGeom prst="wedgeEllipseCallout">
            <a:avLst>
              <a:gd name="adj1" fmla="val -64648"/>
              <a:gd name="adj2" fmla="val 82917"/>
            </a:avLst>
          </a:prstGeom>
          <a:solidFill>
            <a:srgbClr val="427D2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/>
          <a:p>
            <a:pPr algn="ctr">
              <a:lnSpc>
                <a:spcPct val="120000"/>
              </a:lnSpc>
            </a:pPr>
            <a:r>
              <a:rPr lang="ko-KR" altLang="en-US" sz="1400" b="1">
                <a:solidFill>
                  <a:schemeClr val="bg1"/>
                </a:solidFill>
              </a:rPr>
              <a:t>만족하는가</a:t>
            </a:r>
            <a:r>
              <a:rPr lang="en-US" altLang="ko-KR" sz="1400" b="1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16390" name="Rectangle 6">
            <a:extLst>
              <a:ext uri="{FF2B5EF4-FFF2-40B4-BE49-F238E27FC236}">
                <a16:creationId xmlns:a16="http://schemas.microsoft.com/office/drawing/2014/main" id="{196ED103-35B1-62F8-CA9E-D2DBCFB64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188913"/>
            <a:ext cx="37068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l"/>
            <a:r>
              <a:rPr lang="en-US" altLang="ko-KR" sz="2800" b="1"/>
              <a:t>4-3  </a:t>
            </a:r>
            <a:r>
              <a:rPr lang="ko-KR" altLang="en-US" sz="2800" b="1"/>
              <a:t>생성자와 소멸자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>
            <a:extLst>
              <a:ext uri="{FF2B5EF4-FFF2-40B4-BE49-F238E27FC236}">
                <a16:creationId xmlns:a16="http://schemas.microsoft.com/office/drawing/2014/main" id="{5D643B7E-A857-9128-AE23-C144A46B7C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239838"/>
            <a:ext cx="8242300" cy="5334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2800" b="1"/>
              <a:t>생성자</a:t>
            </a:r>
          </a:p>
          <a:p>
            <a:pPr lvl="1">
              <a:lnSpc>
                <a:spcPct val="110000"/>
              </a:lnSpc>
            </a:pPr>
            <a:r>
              <a:rPr lang="ko-KR" altLang="en-US" sz="2200" b="1"/>
              <a:t>객체의 멤버 변수 초기화를 위해 객체 생성 시 </a:t>
            </a:r>
            <a:r>
              <a:rPr lang="ko-KR" altLang="en-US" sz="2200" b="1">
                <a:solidFill>
                  <a:srgbClr val="FF0000"/>
                </a:solidFill>
              </a:rPr>
              <a:t>자동 호출</a:t>
            </a:r>
            <a:br>
              <a:rPr lang="ko-KR" altLang="ja-JP" sz="2200" b="1"/>
            </a:br>
            <a:r>
              <a:rPr lang="ko-KR" altLang="en-US" sz="2200" b="1"/>
              <a:t>되는 함수</a:t>
            </a:r>
          </a:p>
          <a:p>
            <a:pPr lvl="1">
              <a:lnSpc>
                <a:spcPct val="110000"/>
              </a:lnSpc>
            </a:pPr>
            <a:endParaRPr lang="ko-KR" altLang="en-US" sz="2200" b="1"/>
          </a:p>
          <a:p>
            <a:pPr>
              <a:lnSpc>
                <a:spcPct val="110000"/>
              </a:lnSpc>
            </a:pPr>
            <a:r>
              <a:rPr lang="ko-KR" altLang="en-US" sz="2800" b="1"/>
              <a:t>소멸자</a:t>
            </a:r>
          </a:p>
          <a:p>
            <a:pPr lvl="1">
              <a:lnSpc>
                <a:spcPct val="110000"/>
              </a:lnSpc>
            </a:pPr>
            <a:r>
              <a:rPr lang="ko-KR" altLang="en-US" sz="2200" b="1"/>
              <a:t>객체의 메모리 반환을 위해서 객체 소멸 시 </a:t>
            </a:r>
            <a:r>
              <a:rPr lang="ko-KR" altLang="en-US" sz="2200" b="1">
                <a:solidFill>
                  <a:srgbClr val="FF0000"/>
                </a:solidFill>
              </a:rPr>
              <a:t>자동 호출</a:t>
            </a:r>
            <a:r>
              <a:rPr lang="ko-KR" altLang="en-US" sz="2200" b="1"/>
              <a:t>되는</a:t>
            </a:r>
            <a:br>
              <a:rPr lang="ko-KR" altLang="ja-JP" sz="2200" b="1"/>
            </a:br>
            <a:r>
              <a:rPr lang="ko-KR" altLang="en-US" sz="2200" b="1"/>
              <a:t>함수</a:t>
            </a:r>
          </a:p>
          <a:p>
            <a:pPr lvl="1">
              <a:lnSpc>
                <a:spcPct val="110000"/>
              </a:lnSpc>
            </a:pPr>
            <a:r>
              <a:rPr lang="ko-KR" altLang="en-US" sz="2200" b="1"/>
              <a:t>클래스의 이름 앞에 </a:t>
            </a:r>
            <a:r>
              <a:rPr lang="en-US" altLang="ko-KR" sz="2200" b="1"/>
              <a:t>~</a:t>
            </a:r>
            <a:r>
              <a:rPr lang="ko-KR" altLang="en-US" sz="2200" b="1"/>
              <a:t>가 붙은 형태</a:t>
            </a:r>
          </a:p>
          <a:p>
            <a:pPr lvl="1">
              <a:lnSpc>
                <a:spcPct val="110000"/>
              </a:lnSpc>
            </a:pPr>
            <a:r>
              <a:rPr lang="ko-KR" altLang="en-US" sz="2200" b="1"/>
              <a:t>리턴하지 않으며</a:t>
            </a:r>
            <a:r>
              <a:rPr lang="en-US" altLang="ko-KR" sz="2200" b="1"/>
              <a:t>, </a:t>
            </a:r>
            <a:r>
              <a:rPr lang="ko-KR" altLang="en-US" sz="2200" b="1"/>
              <a:t>리턴 타입도 없다</a:t>
            </a:r>
            <a:r>
              <a:rPr lang="en-US" altLang="ko-KR" sz="2200" b="1"/>
              <a:t>.</a:t>
            </a:r>
          </a:p>
          <a:p>
            <a:pPr lvl="1">
              <a:lnSpc>
                <a:spcPct val="110000"/>
              </a:lnSpc>
            </a:pPr>
            <a:r>
              <a:rPr lang="ko-KR" altLang="en-US" sz="2200" b="1"/>
              <a:t>전달인자 항상 </a:t>
            </a:r>
            <a:r>
              <a:rPr lang="en-US" altLang="ko-KR" sz="2200" b="1"/>
              <a:t>void! </a:t>
            </a:r>
          </a:p>
          <a:p>
            <a:pPr lvl="1">
              <a:lnSpc>
                <a:spcPct val="110000"/>
              </a:lnSpc>
            </a:pPr>
            <a:r>
              <a:rPr lang="ko-KR" altLang="en-US" sz="2200" b="1"/>
              <a:t>따라서 오버로딩</a:t>
            </a:r>
            <a:r>
              <a:rPr lang="en-US" altLang="ko-KR" sz="2200" b="1"/>
              <a:t>, </a:t>
            </a:r>
            <a:r>
              <a:rPr lang="ko-KR" altLang="en-US" sz="2200" b="1"/>
              <a:t>디폴트 매개 변수의 선언 불가능</a:t>
            </a:r>
            <a:r>
              <a:rPr lang="en-US" altLang="ko-KR" sz="2200" b="1"/>
              <a:t>!</a:t>
            </a:r>
          </a:p>
          <a:p>
            <a:pPr lvl="1">
              <a:lnSpc>
                <a:spcPct val="110000"/>
              </a:lnSpc>
            </a:pPr>
            <a:endParaRPr lang="en-US" altLang="ko-KR" sz="2200" b="1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8AB18C81-56C8-3C51-00D4-9D8E3432E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188913"/>
            <a:ext cx="37068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l"/>
            <a:r>
              <a:rPr lang="en-US" altLang="ko-KR" sz="2800" b="1"/>
              <a:t>4-3  </a:t>
            </a:r>
            <a:r>
              <a:rPr lang="ko-KR" altLang="en-US" sz="2800" b="1"/>
              <a:t>생성자와 소멸자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>
            <a:extLst>
              <a:ext uri="{FF2B5EF4-FFF2-40B4-BE49-F238E27FC236}">
                <a16:creationId xmlns:a16="http://schemas.microsoft.com/office/drawing/2014/main" id="{ECF598BE-D8FC-DC89-EF52-6826AADA06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233488"/>
            <a:ext cx="5794375" cy="1431925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2800" b="1"/>
              <a:t>객체의 소멸 순서</a:t>
            </a:r>
            <a:r>
              <a:rPr lang="en-US" altLang="ko-KR" sz="2800" b="1"/>
              <a:t>(Person6.cpp)</a:t>
            </a:r>
          </a:p>
          <a:p>
            <a:pPr lvl="1">
              <a:lnSpc>
                <a:spcPct val="110000"/>
              </a:lnSpc>
            </a:pPr>
            <a:r>
              <a:rPr lang="ko-KR" altLang="en-US" sz="2200" b="1"/>
              <a:t>첫째</a:t>
            </a:r>
            <a:r>
              <a:rPr lang="en-US" altLang="ko-KR" sz="2200" b="1"/>
              <a:t>: </a:t>
            </a:r>
            <a:r>
              <a:rPr lang="ko-KR" altLang="en-US" sz="2200" b="1"/>
              <a:t>소멸자 호출</a:t>
            </a:r>
          </a:p>
          <a:p>
            <a:pPr lvl="1">
              <a:lnSpc>
                <a:spcPct val="110000"/>
              </a:lnSpc>
            </a:pPr>
            <a:r>
              <a:rPr lang="ko-KR" altLang="en-US" sz="2200" b="1"/>
              <a:t>둘째</a:t>
            </a:r>
            <a:r>
              <a:rPr lang="en-US" altLang="ko-KR" sz="2200" b="1"/>
              <a:t>: </a:t>
            </a:r>
            <a:r>
              <a:rPr lang="ko-KR" altLang="en-US" sz="2200" b="1"/>
              <a:t>메모리 반환</a:t>
            </a:r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799E928E-76B5-DD13-27BE-150552D07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325" y="2744788"/>
            <a:ext cx="5019675" cy="3852862"/>
          </a:xfrm>
          <a:prstGeom prst="rect">
            <a:avLst/>
          </a:prstGeom>
          <a:solidFill>
            <a:srgbClr val="EDF7E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06000" tIns="118800" bIns="190800" anchor="ctr"/>
          <a:lstStyle>
            <a:lvl1pPr defTabSz="360363"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2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class AAA</a:t>
            </a:r>
          </a:p>
          <a:p>
            <a:pPr>
              <a:lnSpc>
                <a:spcPct val="12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2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public:</a:t>
            </a:r>
          </a:p>
          <a:p>
            <a:pPr>
              <a:lnSpc>
                <a:spcPct val="12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AAA() { </a:t>
            </a:r>
          </a:p>
          <a:p>
            <a:pPr>
              <a:lnSpc>
                <a:spcPct val="12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   cout&lt;&lt;"</a:t>
            </a:r>
            <a:r>
              <a:rPr lang="ko-KR" altLang="en-US" sz="1200" b="1">
                <a:cs typeface="Times New Roman" panose="02020603050405020304" pitchFamily="18" charset="0"/>
              </a:rPr>
              <a:t>생성자 호출</a:t>
            </a:r>
            <a:r>
              <a:rPr lang="en-US" altLang="ko-KR" sz="1200" b="1">
                <a:cs typeface="Times New Roman" panose="02020603050405020304" pitchFamily="18" charset="0"/>
              </a:rPr>
              <a:t>"&lt;&lt;endl;</a:t>
            </a:r>
          </a:p>
          <a:p>
            <a:pPr>
              <a:lnSpc>
                <a:spcPct val="12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}</a:t>
            </a:r>
          </a:p>
          <a:p>
            <a:pPr>
              <a:lnSpc>
                <a:spcPct val="12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</a:t>
            </a:r>
            <a:r>
              <a:rPr lang="en-US" altLang="ko-KR" sz="1400" b="1">
                <a:cs typeface="Times New Roman" panose="02020603050405020304" pitchFamily="18" charset="0"/>
              </a:rPr>
              <a:t>~AAA()</a:t>
            </a:r>
            <a:r>
              <a:rPr lang="en-US" altLang="ko-KR" sz="1200" b="1">
                <a:cs typeface="Times New Roman" panose="02020603050405020304" pitchFamily="18" charset="0"/>
              </a:rPr>
              <a:t> {</a:t>
            </a:r>
          </a:p>
          <a:p>
            <a:pPr>
              <a:lnSpc>
                <a:spcPct val="12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   cout&lt;&lt;"</a:t>
            </a:r>
            <a:r>
              <a:rPr lang="ko-KR" altLang="en-US" sz="1200" b="1">
                <a:cs typeface="Times New Roman" panose="02020603050405020304" pitchFamily="18" charset="0"/>
              </a:rPr>
              <a:t>소멸자 호출</a:t>
            </a:r>
            <a:r>
              <a:rPr lang="en-US" altLang="ko-KR" sz="1200" b="1">
                <a:cs typeface="Times New Roman" panose="02020603050405020304" pitchFamily="18" charset="0"/>
              </a:rPr>
              <a:t>"&lt;&lt;endl;</a:t>
            </a:r>
          </a:p>
          <a:p>
            <a:pPr>
              <a:lnSpc>
                <a:spcPct val="12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}</a:t>
            </a:r>
          </a:p>
          <a:p>
            <a:pPr>
              <a:lnSpc>
                <a:spcPct val="12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}; </a:t>
            </a:r>
          </a:p>
          <a:p>
            <a:pPr>
              <a:lnSpc>
                <a:spcPct val="12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int main()</a:t>
            </a:r>
          </a:p>
          <a:p>
            <a:pPr>
              <a:lnSpc>
                <a:spcPct val="12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2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AAA aaa1;   </a:t>
            </a:r>
            <a:r>
              <a:rPr lang="en-US" altLang="ja-JP" sz="1200" b="1">
                <a:cs typeface="Times New Roman" panose="02020603050405020304" pitchFamily="18" charset="0"/>
              </a:rPr>
              <a:t>		</a:t>
            </a:r>
            <a:r>
              <a:rPr lang="en-US" altLang="ko-KR" sz="1200" b="1">
                <a:cs typeface="Times New Roman" panose="02020603050405020304" pitchFamily="18" charset="0"/>
              </a:rPr>
              <a:t>// “</a:t>
            </a:r>
            <a:r>
              <a:rPr lang="ko-KR" altLang="en-US" sz="1200" b="1">
                <a:cs typeface="Times New Roman" panose="02020603050405020304" pitchFamily="18" charset="0"/>
              </a:rPr>
              <a:t>생성자 호출” 메시지 출력</a:t>
            </a:r>
          </a:p>
          <a:p>
            <a:pPr>
              <a:lnSpc>
                <a:spcPct val="125000"/>
              </a:lnSpc>
            </a:pPr>
            <a:r>
              <a:rPr lang="ko-KR" altLang="en-US" sz="1200" b="1">
                <a:cs typeface="Times New Roman" panose="02020603050405020304" pitchFamily="18" charset="0"/>
              </a:rPr>
              <a:t>    </a:t>
            </a:r>
            <a:r>
              <a:rPr lang="en-US" altLang="ko-KR" sz="1200" b="1">
                <a:cs typeface="Times New Roman" panose="02020603050405020304" pitchFamily="18" charset="0"/>
              </a:rPr>
              <a:t>AAA aaa2;   </a:t>
            </a:r>
            <a:r>
              <a:rPr lang="en-US" altLang="ja-JP" sz="1200" b="1">
                <a:cs typeface="Times New Roman" panose="02020603050405020304" pitchFamily="18" charset="0"/>
              </a:rPr>
              <a:t>		</a:t>
            </a:r>
            <a:r>
              <a:rPr lang="en-US" altLang="ko-KR" sz="1200" b="1">
                <a:cs typeface="Times New Roman" panose="02020603050405020304" pitchFamily="18" charset="0"/>
              </a:rPr>
              <a:t>// ”</a:t>
            </a:r>
            <a:r>
              <a:rPr lang="ko-KR" altLang="en-US" sz="1200" b="1">
                <a:cs typeface="Times New Roman" panose="02020603050405020304" pitchFamily="18" charset="0"/>
              </a:rPr>
              <a:t>생성자 호출” 메시지 출력 </a:t>
            </a:r>
          </a:p>
          <a:p>
            <a:pPr>
              <a:lnSpc>
                <a:spcPct val="125000"/>
              </a:lnSpc>
            </a:pPr>
            <a:r>
              <a:rPr lang="ko-KR" altLang="en-US" sz="1200" b="1">
                <a:cs typeface="Times New Roman" panose="02020603050405020304" pitchFamily="18" charset="0"/>
              </a:rPr>
              <a:t>    </a:t>
            </a:r>
            <a:r>
              <a:rPr lang="en-US" altLang="ko-KR" sz="1200" b="1">
                <a:cs typeface="Times New Roman" panose="02020603050405020304" pitchFamily="18" charset="0"/>
              </a:rPr>
              <a:t>return 0;     </a:t>
            </a:r>
            <a:r>
              <a:rPr lang="en-US" altLang="ja-JP" sz="1200" b="1">
                <a:cs typeface="Times New Roman" panose="02020603050405020304" pitchFamily="18" charset="0"/>
              </a:rPr>
              <a:t>		</a:t>
            </a:r>
            <a:r>
              <a:rPr lang="en-US" altLang="ko-KR" sz="1200" b="1">
                <a:cs typeface="Times New Roman" panose="02020603050405020304" pitchFamily="18" charset="0"/>
              </a:rPr>
              <a:t>// </a:t>
            </a:r>
            <a:r>
              <a:rPr lang="ko-KR" altLang="en-US" sz="1200" b="1">
                <a:cs typeface="Times New Roman" panose="02020603050405020304" pitchFamily="18" charset="0"/>
              </a:rPr>
              <a:t>리턴과 동시에 </a:t>
            </a:r>
            <a:r>
              <a:rPr lang="en-US" altLang="ko-KR" sz="1200" b="1">
                <a:cs typeface="Times New Roman" panose="02020603050405020304" pitchFamily="18" charset="0"/>
              </a:rPr>
              <a:t>aaa1, aaa2 </a:t>
            </a:r>
            <a:r>
              <a:rPr lang="ko-KR" altLang="en-US" sz="1200" b="1">
                <a:cs typeface="Times New Roman" panose="02020603050405020304" pitchFamily="18" charset="0"/>
              </a:rPr>
              <a:t>객체 소멸</a:t>
            </a:r>
          </a:p>
          <a:p>
            <a:pPr>
              <a:lnSpc>
                <a:spcPct val="12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20485" name="Rectangle 5">
            <a:extLst>
              <a:ext uri="{FF2B5EF4-FFF2-40B4-BE49-F238E27FC236}">
                <a16:creationId xmlns:a16="http://schemas.microsoft.com/office/drawing/2014/main" id="{DD503A9E-D701-801C-9C3E-C5980D2BE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188913"/>
            <a:ext cx="37068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l"/>
            <a:r>
              <a:rPr lang="en-US" altLang="ko-KR" sz="2800" b="1"/>
              <a:t>4-3  </a:t>
            </a:r>
            <a:r>
              <a:rPr lang="ko-KR" altLang="en-US" sz="2800" b="1"/>
              <a:t>생성자와 소멸자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>
            <a:extLst>
              <a:ext uri="{FF2B5EF4-FFF2-40B4-BE49-F238E27FC236}">
                <a16:creationId xmlns:a16="http://schemas.microsoft.com/office/drawing/2014/main" id="{1EEACCF1-83B8-25D0-884D-AA9A8C0ACD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233488"/>
            <a:ext cx="7270750" cy="18669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2800" b="1">
                <a:solidFill>
                  <a:srgbClr val="FF0000"/>
                </a:solidFill>
              </a:rPr>
              <a:t>디폴트</a:t>
            </a:r>
            <a:r>
              <a:rPr lang="en-US" altLang="ko-KR" sz="2800" b="1">
                <a:solidFill>
                  <a:srgbClr val="FF0000"/>
                </a:solidFill>
              </a:rPr>
              <a:t>(Default) </a:t>
            </a:r>
            <a:r>
              <a:rPr lang="ko-KR" altLang="en-US" sz="2800" b="1">
                <a:solidFill>
                  <a:srgbClr val="FF0000"/>
                </a:solidFill>
              </a:rPr>
              <a:t>소멸자</a:t>
            </a:r>
          </a:p>
          <a:p>
            <a:pPr lvl="1">
              <a:lnSpc>
                <a:spcPct val="110000"/>
              </a:lnSpc>
            </a:pPr>
            <a:r>
              <a:rPr lang="ko-KR" altLang="en-US" sz="2200" b="1"/>
              <a:t>객체의 소멸 순서를 만족시키기 위한 소멸자</a:t>
            </a:r>
          </a:p>
          <a:p>
            <a:pPr lvl="1">
              <a:lnSpc>
                <a:spcPct val="110000"/>
              </a:lnSpc>
            </a:pPr>
            <a:r>
              <a:rPr lang="ko-KR" altLang="en-US" sz="2200" b="1"/>
              <a:t>명시적으로 소멸자 제공되지 않을 경우 자동 삽입</a:t>
            </a:r>
          </a:p>
          <a:p>
            <a:pPr lvl="1">
              <a:lnSpc>
                <a:spcPct val="110000"/>
              </a:lnSpc>
            </a:pPr>
            <a:r>
              <a:rPr lang="ko-KR" altLang="en-US" sz="2200" b="1"/>
              <a:t>디폴트 생성자와 마찬가지로 하는 일 없다</a:t>
            </a:r>
            <a:r>
              <a:rPr lang="en-US" altLang="ko-KR" sz="2200" b="1"/>
              <a:t>!</a:t>
            </a:r>
          </a:p>
        </p:txBody>
      </p:sp>
      <p:sp>
        <p:nvSpPr>
          <p:cNvPr id="21509" name="Rectangle 5">
            <a:extLst>
              <a:ext uri="{FF2B5EF4-FFF2-40B4-BE49-F238E27FC236}">
                <a16:creationId xmlns:a16="http://schemas.microsoft.com/office/drawing/2014/main" id="{4C09DCDD-3571-8A93-E7C9-073B161AC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188913"/>
            <a:ext cx="37068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l"/>
            <a:r>
              <a:rPr lang="en-US" altLang="ko-KR" sz="2800" b="1"/>
              <a:t>4-3  </a:t>
            </a:r>
            <a:r>
              <a:rPr lang="ko-KR" altLang="en-US" sz="2800" b="1"/>
              <a:t>생성자와 소멸자</a:t>
            </a:r>
          </a:p>
        </p:txBody>
      </p:sp>
      <p:pic>
        <p:nvPicPr>
          <p:cNvPr id="21511" name="Picture 7">
            <a:extLst>
              <a:ext uri="{FF2B5EF4-FFF2-40B4-BE49-F238E27FC236}">
                <a16:creationId xmlns:a16="http://schemas.microsoft.com/office/drawing/2014/main" id="{71163990-A4DB-1751-403F-9A5B77A8EB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5925" y="3429000"/>
            <a:ext cx="5772150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>
            <a:extLst>
              <a:ext uri="{FF2B5EF4-FFF2-40B4-BE49-F238E27FC236}">
                <a16:creationId xmlns:a16="http://schemas.microsoft.com/office/drawing/2014/main" id="{FEB9D6AE-61A0-E008-CF3A-CE3775868A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96975"/>
            <a:ext cx="7772400" cy="3544888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800" b="1"/>
              <a:t>소멸자의 명시적 제공</a:t>
            </a:r>
          </a:p>
          <a:p>
            <a:pPr lvl="1">
              <a:lnSpc>
                <a:spcPct val="120000"/>
              </a:lnSpc>
            </a:pPr>
            <a:r>
              <a:rPr lang="ko-KR" altLang="en-US" sz="2200" b="1"/>
              <a:t>생성자에서 메모리 동적 할당을 하는 경우</a:t>
            </a:r>
          </a:p>
          <a:p>
            <a:pPr lvl="1">
              <a:lnSpc>
                <a:spcPct val="120000"/>
              </a:lnSpc>
            </a:pPr>
            <a:r>
              <a:rPr lang="en-US" altLang="ko-KR" sz="2200" b="1"/>
              <a:t>Debugging </a:t>
            </a:r>
            <a:r>
              <a:rPr lang="ko-KR" altLang="en-US" sz="2200" b="1"/>
              <a:t>코드의 작성</a:t>
            </a:r>
          </a:p>
          <a:p>
            <a:pPr lvl="1">
              <a:lnSpc>
                <a:spcPct val="120000"/>
              </a:lnSpc>
            </a:pPr>
            <a:endParaRPr lang="ko-KR" altLang="en-US" sz="2200" b="1"/>
          </a:p>
          <a:p>
            <a:pPr>
              <a:lnSpc>
                <a:spcPct val="120000"/>
              </a:lnSpc>
            </a:pPr>
            <a:r>
              <a:rPr lang="ko-KR" altLang="en-US" sz="2800" b="1"/>
              <a:t>열혈강의 </a:t>
            </a:r>
            <a:r>
              <a:rPr lang="en-US" altLang="ko-KR" sz="2800" b="1"/>
              <a:t>C++ </a:t>
            </a:r>
            <a:r>
              <a:rPr lang="ko-KR" altLang="en-US" sz="2800" b="1"/>
              <a:t>프로그래밍 연습문제</a:t>
            </a:r>
          </a:p>
          <a:p>
            <a:pPr lvl="1">
              <a:lnSpc>
                <a:spcPct val="120000"/>
              </a:lnSpc>
            </a:pPr>
            <a:r>
              <a:rPr lang="ko-KR" altLang="en-US" sz="2200" b="1"/>
              <a:t>왜</a:t>
            </a:r>
            <a:r>
              <a:rPr lang="en-US" altLang="ko-KR" sz="2200" b="1"/>
              <a:t>? </a:t>
            </a:r>
            <a:r>
              <a:rPr lang="ko-KR" altLang="en-US" sz="2200" b="1"/>
              <a:t>중요한가</a:t>
            </a:r>
            <a:r>
              <a:rPr lang="en-US" altLang="ko-KR" sz="2200" b="1"/>
              <a:t>!</a:t>
            </a:r>
          </a:p>
          <a:p>
            <a:pPr lvl="1">
              <a:lnSpc>
                <a:spcPct val="120000"/>
              </a:lnSpc>
            </a:pPr>
            <a:r>
              <a:rPr lang="ko-KR" altLang="en-US" sz="2200" b="1"/>
              <a:t>연습문제의 보완 </a:t>
            </a:r>
            <a:r>
              <a:rPr lang="en-US" altLang="ko-KR" sz="2200" b="1"/>
              <a:t>"OOP </a:t>
            </a:r>
            <a:r>
              <a:rPr lang="ko-KR" altLang="en-US" sz="2200" b="1"/>
              <a:t>프로젝트</a:t>
            </a:r>
            <a:r>
              <a:rPr lang="en-US" altLang="ko-KR" sz="2200" b="1"/>
              <a:t>"</a:t>
            </a:r>
          </a:p>
        </p:txBody>
      </p:sp>
      <p:sp>
        <p:nvSpPr>
          <p:cNvPr id="24580" name="Rectangle 4">
            <a:extLst>
              <a:ext uri="{FF2B5EF4-FFF2-40B4-BE49-F238E27FC236}">
                <a16:creationId xmlns:a16="http://schemas.microsoft.com/office/drawing/2014/main" id="{9F0B1DF8-F209-D8E6-246B-FDABD7BAC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188913"/>
            <a:ext cx="37068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l"/>
            <a:r>
              <a:rPr lang="en-US" altLang="ko-KR" sz="2800" b="1"/>
              <a:t>4-3  </a:t>
            </a:r>
            <a:r>
              <a:rPr lang="ko-KR" altLang="en-US" sz="2800" b="1"/>
              <a:t>생성자와 소멸자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AC1A4535-540C-A56E-9A33-50F3643A2D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76488" y="215900"/>
            <a:ext cx="3386137" cy="519113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2800" b="1"/>
              <a:t>4-4  </a:t>
            </a:r>
            <a:r>
              <a:rPr lang="ko-KR" altLang="en-US" sz="2800" b="1"/>
              <a:t>클래스와 배열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0064093A-0632-E450-F9F6-9EFC235E56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203325"/>
            <a:ext cx="8139113" cy="2009775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800" b="1"/>
              <a:t>객체 배열과 생성자</a:t>
            </a:r>
          </a:p>
          <a:p>
            <a:pPr lvl="1">
              <a:lnSpc>
                <a:spcPct val="120000"/>
              </a:lnSpc>
            </a:pPr>
            <a:r>
              <a:rPr lang="ko-KR" altLang="en-US" sz="2200" b="1"/>
              <a:t>객체 배열은 객체를 멤버로 지니는 배열이다</a:t>
            </a:r>
            <a:r>
              <a:rPr lang="en-US" altLang="ko-KR" sz="2200" b="1"/>
              <a:t>.</a:t>
            </a:r>
          </a:p>
          <a:p>
            <a:pPr lvl="1">
              <a:lnSpc>
                <a:spcPct val="120000"/>
              </a:lnSpc>
            </a:pPr>
            <a:r>
              <a:rPr lang="ko-KR" altLang="en-US" sz="2200" b="1"/>
              <a:t>객체 배열은 기본적으로 </a:t>
            </a:r>
            <a:r>
              <a:rPr lang="en-US" altLang="ko-KR" sz="2200" b="1"/>
              <a:t>void </a:t>
            </a:r>
            <a:r>
              <a:rPr lang="ko-KR" altLang="en-US" sz="2200" b="1"/>
              <a:t>생성자의 호출을 요구한다</a:t>
            </a:r>
            <a:r>
              <a:rPr lang="en-US" altLang="ko-KR" sz="2200" b="1"/>
              <a:t>.</a:t>
            </a:r>
          </a:p>
          <a:p>
            <a:pPr lvl="1">
              <a:lnSpc>
                <a:spcPct val="120000"/>
              </a:lnSpc>
            </a:pPr>
            <a:r>
              <a:rPr lang="en-US" altLang="ko-KR" sz="2200" b="1"/>
              <a:t>PointArr1.cpp</a:t>
            </a:r>
          </a:p>
        </p:txBody>
      </p:sp>
      <p:pic>
        <p:nvPicPr>
          <p:cNvPr id="22535" name="Picture 7">
            <a:extLst>
              <a:ext uri="{FF2B5EF4-FFF2-40B4-BE49-F238E27FC236}">
                <a16:creationId xmlns:a16="http://schemas.microsoft.com/office/drawing/2014/main" id="{5DC06DCB-C0EE-03D8-D348-3679C4422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113" y="3622675"/>
            <a:ext cx="3025775" cy="20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>
            <a:extLst>
              <a:ext uri="{FF2B5EF4-FFF2-40B4-BE49-F238E27FC236}">
                <a16:creationId xmlns:a16="http://schemas.microsoft.com/office/drawing/2014/main" id="{BA1C4E7E-B9B5-FA8C-049D-D974661CB9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93800"/>
            <a:ext cx="7488238" cy="1541463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800" b="1"/>
              <a:t>객체 포인터 배열</a:t>
            </a:r>
          </a:p>
          <a:p>
            <a:pPr lvl="1">
              <a:lnSpc>
                <a:spcPct val="120000"/>
              </a:lnSpc>
            </a:pPr>
            <a:r>
              <a:rPr lang="ko-KR" altLang="en-US" sz="2200" b="1"/>
              <a:t>객체를 가리킬 수 있는 포인터를 멤버로 지니는 배열</a:t>
            </a:r>
          </a:p>
          <a:p>
            <a:pPr lvl="1">
              <a:lnSpc>
                <a:spcPct val="120000"/>
              </a:lnSpc>
            </a:pPr>
            <a:r>
              <a:rPr lang="ko-KR" altLang="en-US" sz="2200" b="1"/>
              <a:t>객체의 동적 생성 방법</a:t>
            </a:r>
            <a:r>
              <a:rPr lang="en-US" altLang="ko-KR" sz="2200" b="1"/>
              <a:t>(PointArr2.cpp)</a:t>
            </a:r>
          </a:p>
        </p:txBody>
      </p:sp>
      <p:sp>
        <p:nvSpPr>
          <p:cNvPr id="23557" name="Rectangle 5">
            <a:extLst>
              <a:ext uri="{FF2B5EF4-FFF2-40B4-BE49-F238E27FC236}">
                <a16:creationId xmlns:a16="http://schemas.microsoft.com/office/drawing/2014/main" id="{28D43FDA-B417-D099-0134-4E8DD09775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325" y="3987800"/>
            <a:ext cx="2520950" cy="841375"/>
          </a:xfrm>
          <a:prstGeom prst="rect">
            <a:avLst/>
          </a:prstGeom>
          <a:solidFill>
            <a:srgbClr val="EDF7E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118800" bIns="190800" anchor="ctr"/>
          <a:lstStyle>
            <a:lvl1pPr defTabSz="360363"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>
              <a:lnSpc>
                <a:spcPct val="125000"/>
              </a:lnSpc>
            </a:pPr>
            <a:r>
              <a:rPr lang="en-US" altLang="ko-KR" sz="2000" b="1">
                <a:cs typeface="Times New Roman" panose="02020603050405020304" pitchFamily="18" charset="0"/>
              </a:rPr>
              <a:t>Point* arr[5]; </a:t>
            </a:r>
          </a:p>
        </p:txBody>
      </p:sp>
      <p:sp>
        <p:nvSpPr>
          <p:cNvPr id="23559" name="Rectangle 7">
            <a:extLst>
              <a:ext uri="{FF2B5EF4-FFF2-40B4-BE49-F238E27FC236}">
                <a16:creationId xmlns:a16="http://schemas.microsoft.com/office/drawing/2014/main" id="{0F24A129-B3B5-9D24-6A81-153B80E8C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215900"/>
            <a:ext cx="33861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l"/>
            <a:r>
              <a:rPr lang="en-US" altLang="ko-KR" sz="2800" b="1"/>
              <a:t>4-4  </a:t>
            </a:r>
            <a:r>
              <a:rPr lang="ko-KR" altLang="en-US" sz="2800" b="1"/>
              <a:t>클래스와 배열</a:t>
            </a:r>
          </a:p>
        </p:txBody>
      </p:sp>
      <p:sp>
        <p:nvSpPr>
          <p:cNvPr id="23561" name="AutoShape 9">
            <a:extLst>
              <a:ext uri="{FF2B5EF4-FFF2-40B4-BE49-F238E27FC236}">
                <a16:creationId xmlns:a16="http://schemas.microsoft.com/office/drawing/2014/main" id="{9B2B6468-F89B-5B59-56D9-88C044410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8163" y="4213225"/>
            <a:ext cx="447675" cy="390525"/>
          </a:xfrm>
          <a:prstGeom prst="rightArrow">
            <a:avLst>
              <a:gd name="adj1" fmla="val 49056"/>
              <a:gd name="adj2" fmla="val 43131"/>
            </a:avLst>
          </a:prstGeom>
          <a:solidFill>
            <a:srgbClr val="8080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pic>
        <p:nvPicPr>
          <p:cNvPr id="23562" name="Picture 10">
            <a:extLst>
              <a:ext uri="{FF2B5EF4-FFF2-40B4-BE49-F238E27FC236}">
                <a16:creationId xmlns:a16="http://schemas.microsoft.com/office/drawing/2014/main" id="{86A1E584-080C-0A25-38D5-58115F55D6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725" y="3408363"/>
            <a:ext cx="2143125" cy="200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AE9E8A3A-49F5-8378-FE49-2D7670A18E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11413" y="188913"/>
            <a:ext cx="2841625" cy="519112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2800" b="1"/>
              <a:t>4-5  this </a:t>
            </a:r>
            <a:r>
              <a:rPr lang="ko-KR" altLang="en-US" sz="2800" b="1"/>
              <a:t>포인터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EC75FEF9-DB4E-CD82-7ABB-972AEC8486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84275"/>
            <a:ext cx="4641850" cy="107315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800" b="1"/>
              <a:t>this </a:t>
            </a:r>
            <a:r>
              <a:rPr lang="ko-KR" altLang="en-US" sz="2800" b="1"/>
              <a:t>포인터의 의미</a:t>
            </a:r>
          </a:p>
          <a:p>
            <a:pPr lvl="1">
              <a:lnSpc>
                <a:spcPct val="120000"/>
              </a:lnSpc>
            </a:pPr>
            <a:r>
              <a:rPr lang="en-US" altLang="ko-KR" sz="2200" b="1"/>
              <a:t>this_under.cpp</a:t>
            </a:r>
            <a:r>
              <a:rPr lang="ko-KR" altLang="en-US" sz="2200" b="1"/>
              <a:t>가 말해준다</a:t>
            </a:r>
            <a:r>
              <a:rPr lang="en-US" altLang="ko-KR" sz="2200" b="1"/>
              <a:t>!</a:t>
            </a:r>
          </a:p>
        </p:txBody>
      </p:sp>
      <p:pic>
        <p:nvPicPr>
          <p:cNvPr id="25605" name="Picture 5">
            <a:extLst>
              <a:ext uri="{FF2B5EF4-FFF2-40B4-BE49-F238E27FC236}">
                <a16:creationId xmlns:a16="http://schemas.microsoft.com/office/drawing/2014/main" id="{D6E5DA25-205B-3100-4B1A-ADFA8B6B0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2438400"/>
            <a:ext cx="4559300" cy="4113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>
            <a:extLst>
              <a:ext uri="{FF2B5EF4-FFF2-40B4-BE49-F238E27FC236}">
                <a16:creationId xmlns:a16="http://schemas.microsoft.com/office/drawing/2014/main" id="{6CD9B7DE-31C7-8D5A-30B3-A729663551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79513"/>
            <a:ext cx="5507038" cy="107315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800" b="1"/>
              <a:t>this </a:t>
            </a:r>
            <a:r>
              <a:rPr lang="ko-KR" altLang="en-US" sz="2800" b="1"/>
              <a:t>포인터의 용도</a:t>
            </a:r>
          </a:p>
          <a:p>
            <a:pPr lvl="1">
              <a:lnSpc>
                <a:spcPct val="120000"/>
              </a:lnSpc>
            </a:pPr>
            <a:r>
              <a:rPr lang="ko-KR" altLang="en-US" sz="2200" b="1"/>
              <a:t>연산자 오버로딩에서 유용하게 사용</a:t>
            </a:r>
          </a:p>
        </p:txBody>
      </p:sp>
      <p:sp>
        <p:nvSpPr>
          <p:cNvPr id="26628" name="Rectangle 4">
            <a:extLst>
              <a:ext uri="{FF2B5EF4-FFF2-40B4-BE49-F238E27FC236}">
                <a16:creationId xmlns:a16="http://schemas.microsoft.com/office/drawing/2014/main" id="{C84C138D-0846-2845-62B9-73E1B79AF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8425" y="2420938"/>
            <a:ext cx="3384550" cy="4176712"/>
          </a:xfrm>
          <a:prstGeom prst="rect">
            <a:avLst/>
          </a:prstGeom>
          <a:solidFill>
            <a:srgbClr val="EDF7E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06000" tIns="118800" bIns="190800" anchor="ctr"/>
          <a:lstStyle>
            <a:lvl1pPr defTabSz="360363"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2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class Data</a:t>
            </a:r>
          </a:p>
          <a:p>
            <a:pPr>
              <a:lnSpc>
                <a:spcPct val="12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2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int aaa;</a:t>
            </a:r>
          </a:p>
          <a:p>
            <a:pPr>
              <a:lnSpc>
                <a:spcPct val="12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int bbb;</a:t>
            </a:r>
          </a:p>
          <a:p>
            <a:pPr>
              <a:lnSpc>
                <a:spcPct val="125000"/>
              </a:lnSpc>
            </a:pPr>
            <a:endParaRPr lang="en-US" altLang="ko-KR" sz="1200" b="1"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public :</a:t>
            </a:r>
          </a:p>
          <a:p>
            <a:pPr>
              <a:lnSpc>
                <a:spcPct val="12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Data(int aaa, int bbb) {</a:t>
            </a:r>
          </a:p>
          <a:p>
            <a:pPr>
              <a:lnSpc>
                <a:spcPct val="12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   //aaa=aaa;</a:t>
            </a:r>
          </a:p>
          <a:p>
            <a:pPr>
              <a:lnSpc>
                <a:spcPct val="12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   this-&gt;aaa=aaa;</a:t>
            </a:r>
          </a:p>
          <a:p>
            <a:pPr>
              <a:lnSpc>
                <a:spcPct val="125000"/>
              </a:lnSpc>
            </a:pPr>
            <a:endParaRPr lang="en-US" altLang="ko-KR" sz="1200" b="1"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   //bbb=bbb;</a:t>
            </a:r>
          </a:p>
          <a:p>
            <a:pPr>
              <a:lnSpc>
                <a:spcPct val="12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   this-&gt;bbb=bbb;</a:t>
            </a:r>
          </a:p>
          <a:p>
            <a:pPr>
              <a:lnSpc>
                <a:spcPct val="12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}</a:t>
            </a:r>
          </a:p>
          <a:p>
            <a:pPr>
              <a:lnSpc>
                <a:spcPct val="12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void printAll() {</a:t>
            </a:r>
          </a:p>
          <a:p>
            <a:pPr>
              <a:lnSpc>
                <a:spcPct val="12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   cout&lt;&lt;aaa&lt;&lt;" "&lt;&lt;bbb&lt;&lt;endl;</a:t>
            </a:r>
          </a:p>
          <a:p>
            <a:pPr>
              <a:lnSpc>
                <a:spcPct val="12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}</a:t>
            </a:r>
          </a:p>
          <a:p>
            <a:pPr>
              <a:lnSpc>
                <a:spcPct val="125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};</a:t>
            </a:r>
          </a:p>
        </p:txBody>
      </p:sp>
      <p:sp>
        <p:nvSpPr>
          <p:cNvPr id="26630" name="Rectangle 6">
            <a:extLst>
              <a:ext uri="{FF2B5EF4-FFF2-40B4-BE49-F238E27FC236}">
                <a16:creationId xmlns:a16="http://schemas.microsoft.com/office/drawing/2014/main" id="{4C6EDD1A-5FFE-8AB5-E3E3-ECE23653C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188913"/>
            <a:ext cx="28416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l"/>
            <a:r>
              <a:rPr lang="en-US" altLang="ko-KR" sz="2800" b="1"/>
              <a:t>4-5  this </a:t>
            </a:r>
            <a:r>
              <a:rPr lang="ko-KR" altLang="en-US" sz="2800" b="1"/>
              <a:t>포인터</a:t>
            </a:r>
          </a:p>
        </p:txBody>
      </p:sp>
      <p:pic>
        <p:nvPicPr>
          <p:cNvPr id="26632" name="Picture 8">
            <a:extLst>
              <a:ext uri="{FF2B5EF4-FFF2-40B4-BE49-F238E27FC236}">
                <a16:creationId xmlns:a16="http://schemas.microsoft.com/office/drawing/2014/main" id="{5B598E70-4937-EBFB-0764-E158CCA91C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0150" y="2673350"/>
            <a:ext cx="2765425" cy="344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4AB38383-7FA6-59EC-9CEA-30FEE9D863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76488" y="198438"/>
            <a:ext cx="2878137" cy="519112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2800" b="1"/>
              <a:t>4-6  friend </a:t>
            </a:r>
            <a:r>
              <a:rPr lang="ko-KR" altLang="en-US" sz="2800" b="1"/>
              <a:t>선언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4AA3CE12-21D5-BAF0-4708-6614A4D2C6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233488"/>
            <a:ext cx="6154738" cy="2620962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2800" b="1"/>
              <a:t>전역 함수에 대한 </a:t>
            </a:r>
            <a:r>
              <a:rPr lang="en-US" altLang="ko-KR" sz="2800" b="1"/>
              <a:t>friend </a:t>
            </a:r>
            <a:r>
              <a:rPr lang="ko-KR" altLang="en-US" sz="2800" b="1"/>
              <a:t>선언</a:t>
            </a:r>
          </a:p>
          <a:p>
            <a:pPr lvl="1">
              <a:lnSpc>
                <a:spcPct val="110000"/>
              </a:lnSpc>
            </a:pPr>
            <a:r>
              <a:rPr lang="en-US" altLang="ko-KR" sz="2200" b="1"/>
              <a:t>friend1.cpp</a:t>
            </a:r>
          </a:p>
          <a:p>
            <a:pPr lvl="1">
              <a:lnSpc>
                <a:spcPct val="110000"/>
              </a:lnSpc>
            </a:pPr>
            <a:r>
              <a:rPr lang="ko-KR" altLang="en-US" sz="2200" b="1"/>
              <a:t>전역 함수에게 </a:t>
            </a:r>
            <a:r>
              <a:rPr lang="en-US" altLang="ko-KR" sz="2200" b="1"/>
              <a:t>private </a:t>
            </a:r>
            <a:r>
              <a:rPr lang="ko-KR" altLang="en-US" sz="2200" b="1"/>
              <a:t>영역 접근 허용</a:t>
            </a:r>
            <a:r>
              <a:rPr lang="en-US" altLang="ko-KR" sz="2200" b="1"/>
              <a:t>!</a:t>
            </a:r>
          </a:p>
          <a:p>
            <a:pPr lvl="1">
              <a:lnSpc>
                <a:spcPct val="110000"/>
              </a:lnSpc>
            </a:pPr>
            <a:endParaRPr lang="en-US" altLang="ko-KR" sz="1000" b="1"/>
          </a:p>
          <a:p>
            <a:pPr>
              <a:lnSpc>
                <a:spcPct val="110000"/>
              </a:lnSpc>
            </a:pPr>
            <a:r>
              <a:rPr lang="en-US" altLang="ko-KR" sz="2800" b="1"/>
              <a:t>class</a:t>
            </a:r>
            <a:r>
              <a:rPr lang="ko-KR" altLang="en-US" sz="2800" b="1"/>
              <a:t>에 대한 </a:t>
            </a:r>
            <a:r>
              <a:rPr lang="en-US" altLang="ko-KR" sz="2800" b="1"/>
              <a:t>friend </a:t>
            </a:r>
            <a:r>
              <a:rPr lang="ko-KR" altLang="en-US" sz="2800" b="1"/>
              <a:t>선언</a:t>
            </a:r>
          </a:p>
          <a:p>
            <a:pPr lvl="1">
              <a:lnSpc>
                <a:spcPct val="110000"/>
              </a:lnSpc>
            </a:pPr>
            <a:r>
              <a:rPr lang="en-US" altLang="ko-KR" sz="2200" b="1"/>
              <a:t>friend2.cpp</a:t>
            </a:r>
          </a:p>
        </p:txBody>
      </p:sp>
      <p:pic>
        <p:nvPicPr>
          <p:cNvPr id="27653" name="Picture 5">
            <a:extLst>
              <a:ext uri="{FF2B5EF4-FFF2-40B4-BE49-F238E27FC236}">
                <a16:creationId xmlns:a16="http://schemas.microsoft.com/office/drawing/2014/main" id="{9EDBCB6A-7BEE-BEB1-4A5A-2ADEE64FAD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738" y="4221163"/>
            <a:ext cx="6486525" cy="204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>
            <a:extLst>
              <a:ext uri="{FF2B5EF4-FFF2-40B4-BE49-F238E27FC236}">
                <a16:creationId xmlns:a16="http://schemas.microsoft.com/office/drawing/2014/main" id="{AB80B287-2F98-6839-2509-A57AFE18D5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96975"/>
            <a:ext cx="7772400" cy="4481513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800" b="1"/>
              <a:t>friend </a:t>
            </a:r>
            <a:r>
              <a:rPr lang="ko-KR" altLang="en-US" sz="2800" b="1"/>
              <a:t>선언의 유용성</a:t>
            </a:r>
          </a:p>
          <a:p>
            <a:pPr lvl="1">
              <a:lnSpc>
                <a:spcPct val="120000"/>
              </a:lnSpc>
            </a:pPr>
            <a:r>
              <a:rPr lang="ko-KR" altLang="en-US" sz="2200" b="1"/>
              <a:t>유용하지 않다</a:t>
            </a:r>
            <a:r>
              <a:rPr lang="en-US" altLang="ko-KR" sz="2200" b="1"/>
              <a:t>!</a:t>
            </a:r>
          </a:p>
          <a:p>
            <a:pPr lvl="1">
              <a:lnSpc>
                <a:spcPct val="120000"/>
              </a:lnSpc>
            </a:pPr>
            <a:r>
              <a:rPr lang="ko-KR" altLang="en-US" sz="2200" b="1"/>
              <a:t>정보 은닉에 위배되는 개념</a:t>
            </a:r>
          </a:p>
          <a:p>
            <a:pPr lvl="1">
              <a:lnSpc>
                <a:spcPct val="120000"/>
              </a:lnSpc>
            </a:pPr>
            <a:r>
              <a:rPr lang="ko-KR" altLang="en-US" sz="2200" b="1">
                <a:solidFill>
                  <a:srgbClr val="FF0000"/>
                </a:solidFill>
              </a:rPr>
              <a:t>연산자 오버로딩에서 유용하게 사용</a:t>
            </a:r>
          </a:p>
          <a:p>
            <a:pPr lvl="1">
              <a:lnSpc>
                <a:spcPct val="120000"/>
              </a:lnSpc>
            </a:pPr>
            <a:r>
              <a:rPr lang="ko-KR" altLang="en-US" sz="2200" b="1"/>
              <a:t>그 전에는 사용하지 말자</a:t>
            </a:r>
            <a:r>
              <a:rPr lang="en-US" altLang="ko-KR" sz="2200" b="1"/>
              <a:t>!</a:t>
            </a:r>
          </a:p>
          <a:p>
            <a:pPr lvl="1">
              <a:lnSpc>
                <a:spcPct val="120000"/>
              </a:lnSpc>
            </a:pPr>
            <a:endParaRPr lang="en-US" altLang="ko-KR" sz="2200" b="1"/>
          </a:p>
          <a:p>
            <a:pPr>
              <a:lnSpc>
                <a:spcPct val="120000"/>
              </a:lnSpc>
            </a:pPr>
            <a:r>
              <a:rPr lang="en-US" altLang="ko-KR" sz="2800" b="1"/>
              <a:t>friend </a:t>
            </a:r>
            <a:r>
              <a:rPr lang="ko-KR" altLang="en-US" sz="2800" b="1"/>
              <a:t>선언으로만 해결 가능한 문제</a:t>
            </a:r>
          </a:p>
          <a:p>
            <a:pPr lvl="1">
              <a:lnSpc>
                <a:spcPct val="120000"/>
              </a:lnSpc>
            </a:pPr>
            <a:r>
              <a:rPr lang="ko-KR" altLang="en-US" sz="2200" b="1"/>
              <a:t>그런 것은 존재하지 않는다</a:t>
            </a:r>
            <a:r>
              <a:rPr lang="en-US" altLang="ko-KR" sz="2200" b="1"/>
              <a:t>.</a:t>
            </a:r>
          </a:p>
          <a:p>
            <a:pPr lvl="1">
              <a:lnSpc>
                <a:spcPct val="120000"/>
              </a:lnSpc>
            </a:pPr>
            <a:r>
              <a:rPr lang="ko-KR" altLang="en-US" sz="2200" b="1"/>
              <a:t>연산자 오버로딩에서는 예외</a:t>
            </a:r>
            <a:r>
              <a:rPr lang="en-US" altLang="ko-KR" sz="2200" b="1"/>
              <a:t>!</a:t>
            </a:r>
          </a:p>
        </p:txBody>
      </p:sp>
      <p:sp>
        <p:nvSpPr>
          <p:cNvPr id="28676" name="Rectangle 4">
            <a:extLst>
              <a:ext uri="{FF2B5EF4-FFF2-40B4-BE49-F238E27FC236}">
                <a16:creationId xmlns:a16="http://schemas.microsoft.com/office/drawing/2014/main" id="{FEA3A803-DC33-A944-3EA4-E33892E0FF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198438"/>
            <a:ext cx="28781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l"/>
            <a:r>
              <a:rPr lang="en-US" altLang="ko-KR" sz="2800" b="1"/>
              <a:t>4-6  friend </a:t>
            </a:r>
            <a:r>
              <a:rPr lang="ko-KR" altLang="en-US" sz="2800" b="1"/>
              <a:t>선언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B7396D54-1937-B483-78D8-095BEC79CE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425450"/>
            <a:ext cx="3670300" cy="519113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2800" b="1"/>
              <a:t>OOP </a:t>
            </a:r>
            <a:r>
              <a:rPr lang="ko-KR" altLang="en-US" sz="2800" b="1"/>
              <a:t>프로젝트 </a:t>
            </a:r>
            <a:r>
              <a:rPr lang="en-US" altLang="ko-KR" sz="2800" b="1"/>
              <a:t>2</a:t>
            </a:r>
            <a:r>
              <a:rPr lang="ko-KR" altLang="en-US" sz="2800" b="1"/>
              <a:t>단계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894EA1D3-E417-20F4-C2B1-8E219ED446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89038"/>
            <a:ext cx="6515100" cy="2009775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800" b="1"/>
              <a:t>Banking System v2.0</a:t>
            </a:r>
          </a:p>
          <a:p>
            <a:pPr lvl="1">
              <a:lnSpc>
                <a:spcPct val="120000"/>
              </a:lnSpc>
            </a:pPr>
            <a:r>
              <a:rPr lang="en-US" altLang="ko-KR" sz="2200" b="1"/>
              <a:t>Account </a:t>
            </a:r>
            <a:r>
              <a:rPr lang="ko-KR" altLang="en-US" sz="2200" b="1"/>
              <a:t>구조체를 </a:t>
            </a:r>
            <a:r>
              <a:rPr lang="en-US" altLang="ko-KR" sz="2200" b="1"/>
              <a:t>Account </a:t>
            </a:r>
            <a:r>
              <a:rPr lang="ko-KR" altLang="en-US" sz="2200" b="1"/>
              <a:t>클래스로 변경</a:t>
            </a:r>
          </a:p>
          <a:p>
            <a:pPr lvl="1">
              <a:lnSpc>
                <a:spcPct val="120000"/>
              </a:lnSpc>
            </a:pPr>
            <a:r>
              <a:rPr lang="ko-KR" altLang="en-US" sz="2200" b="1"/>
              <a:t>생성자 소멸자</a:t>
            </a:r>
            <a:r>
              <a:rPr lang="en-US" altLang="ko-KR" sz="2200" b="1"/>
              <a:t>, </a:t>
            </a:r>
            <a:r>
              <a:rPr lang="ko-KR" altLang="en-US" sz="2200" b="1"/>
              <a:t>정보 은닉</a:t>
            </a:r>
            <a:r>
              <a:rPr lang="en-US" altLang="ko-KR" sz="2200" b="1"/>
              <a:t>, </a:t>
            </a:r>
            <a:r>
              <a:rPr lang="ko-KR" altLang="en-US" sz="2200" b="1"/>
              <a:t>캡슐화 고민</a:t>
            </a:r>
            <a:r>
              <a:rPr lang="en-US" altLang="ko-KR" sz="2200" b="1"/>
              <a:t>!</a:t>
            </a:r>
          </a:p>
          <a:p>
            <a:pPr lvl="1">
              <a:lnSpc>
                <a:spcPct val="120000"/>
              </a:lnSpc>
            </a:pPr>
            <a:r>
              <a:rPr lang="ko-KR" altLang="en-US" sz="2200" b="1"/>
              <a:t>객체의 저장은 포인터 배열을 기반으로</a:t>
            </a:r>
          </a:p>
        </p:txBody>
      </p:sp>
      <p:sp>
        <p:nvSpPr>
          <p:cNvPr id="29700" name="Rectangle 4">
            <a:extLst>
              <a:ext uri="{FF2B5EF4-FFF2-40B4-BE49-F238E27FC236}">
                <a16:creationId xmlns:a16="http://schemas.microsoft.com/office/drawing/2014/main" id="{E8EBAADF-7811-3C51-EBC0-7438410565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3429000"/>
            <a:ext cx="3024187" cy="2895600"/>
          </a:xfrm>
          <a:prstGeom prst="rect">
            <a:avLst/>
          </a:prstGeom>
          <a:solidFill>
            <a:srgbClr val="EDF7E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06000" tIns="118800" bIns="190800" anchor="ctr"/>
          <a:lstStyle>
            <a:lvl1pPr defTabSz="360363"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25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// </a:t>
            </a:r>
            <a:r>
              <a:rPr lang="ko-KR" altLang="en-US" sz="1400" b="1">
                <a:cs typeface="Times New Roman" panose="02020603050405020304" pitchFamily="18" charset="0"/>
              </a:rPr>
              <a:t>변경되는 </a:t>
            </a:r>
            <a:r>
              <a:rPr lang="en-US" altLang="ko-KR" sz="1400" b="1">
                <a:cs typeface="Times New Roman" panose="02020603050405020304" pitchFamily="18" charset="0"/>
              </a:rPr>
              <a:t>Account </a:t>
            </a:r>
            <a:r>
              <a:rPr lang="ko-KR" altLang="en-US" sz="1400" b="1">
                <a:cs typeface="Times New Roman" panose="02020603050405020304" pitchFamily="18" charset="0"/>
              </a:rPr>
              <a:t>클래스</a:t>
            </a:r>
          </a:p>
          <a:p>
            <a:pPr>
              <a:lnSpc>
                <a:spcPct val="125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class Account</a:t>
            </a:r>
          </a:p>
          <a:p>
            <a:pPr>
              <a:lnSpc>
                <a:spcPct val="125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25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 int id;</a:t>
            </a:r>
          </a:p>
          <a:p>
            <a:pPr>
              <a:lnSpc>
                <a:spcPct val="125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 int balance;</a:t>
            </a:r>
          </a:p>
          <a:p>
            <a:pPr>
              <a:lnSpc>
                <a:spcPct val="125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 char* name;</a:t>
            </a:r>
          </a:p>
          <a:p>
            <a:pPr>
              <a:lnSpc>
                <a:spcPct val="125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public:</a:t>
            </a:r>
          </a:p>
          <a:p>
            <a:pPr>
              <a:lnSpc>
                <a:spcPct val="125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 .. </a:t>
            </a:r>
            <a:r>
              <a:rPr lang="ko-KR" altLang="en-US" sz="1400" b="1">
                <a:cs typeface="Times New Roman" panose="02020603050405020304" pitchFamily="18" charset="0"/>
              </a:rPr>
              <a:t>멤버 함수들 </a:t>
            </a:r>
            <a:r>
              <a:rPr lang="en-US" altLang="ko-KR" sz="1400" b="1">
                <a:cs typeface="Times New Roman" panose="02020603050405020304" pitchFamily="18" charset="0"/>
              </a:rPr>
              <a:t>..</a:t>
            </a:r>
          </a:p>
          <a:p>
            <a:pPr>
              <a:lnSpc>
                <a:spcPct val="125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29701" name="Rectangle 5">
            <a:extLst>
              <a:ext uri="{FF2B5EF4-FFF2-40B4-BE49-F238E27FC236}">
                <a16:creationId xmlns:a16="http://schemas.microsoft.com/office/drawing/2014/main" id="{E6DBB1F8-99A6-A391-C703-45AE346125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5850" y="4437063"/>
            <a:ext cx="3232150" cy="1169987"/>
          </a:xfrm>
          <a:prstGeom prst="rect">
            <a:avLst/>
          </a:prstGeom>
          <a:solidFill>
            <a:srgbClr val="EDF7E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06000" tIns="118800" bIns="190800" anchor="ctr"/>
          <a:lstStyle>
            <a:lvl1pPr defTabSz="360363"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125571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45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// Account </a:t>
            </a:r>
            <a:r>
              <a:rPr lang="ko-KR" altLang="en-US" sz="1400" b="1">
                <a:cs typeface="Times New Roman" panose="02020603050405020304" pitchFamily="18" charset="0"/>
              </a:rPr>
              <a:t>저장을 위한 배열 </a:t>
            </a:r>
          </a:p>
          <a:p>
            <a:pPr>
              <a:lnSpc>
                <a:spcPct val="145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Account* pArray[100];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가을체"/>
        <a:ea typeface="가을체"/>
        <a:cs typeface=""/>
      </a:majorFont>
      <a:minorFont>
        <a:latin typeface="가을체"/>
        <a:ea typeface="가을체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568</TotalTime>
  <Words>1458</Words>
  <Application>Microsoft Office PowerPoint</Application>
  <PresentationFormat>화면 슬라이드 쇼(4:3)</PresentationFormat>
  <Paragraphs>323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3" baseType="lpstr">
      <vt:lpstr>Times New Roman</vt:lpstr>
      <vt:lpstr>Arial</vt:lpstr>
      <vt:lpstr>가을체</vt:lpstr>
      <vt:lpstr>Wingdings 3</vt:lpstr>
      <vt:lpstr>굴림</vt:lpstr>
      <vt:lpstr>기본 디자인</vt:lpstr>
      <vt:lpstr>4장. 클래스의 완성</vt:lpstr>
      <vt:lpstr>3장의 내용 정리</vt:lpstr>
      <vt:lpstr>4장의 핵심 내용</vt:lpstr>
      <vt:lpstr>4-1  정보 은닉</vt:lpstr>
      <vt:lpstr>4-2  캡슐화(Encapsulation)</vt:lpstr>
      <vt:lpstr>4-3  생성자와 소멸자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4-4  클래스와 배열</vt:lpstr>
      <vt:lpstr>PowerPoint 프레젠테이션</vt:lpstr>
      <vt:lpstr>4-5  this 포인터</vt:lpstr>
      <vt:lpstr>PowerPoint 프레젠테이션</vt:lpstr>
      <vt:lpstr>4-6  friend 선언</vt:lpstr>
      <vt:lpstr>PowerPoint 프레젠테이션</vt:lpstr>
      <vt:lpstr>OOP 프로젝트 2단계</vt:lpstr>
    </vt:vector>
  </TitlesOfParts>
  <Company>yoon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4장. 클래스의 완성</dc:title>
  <dc:creator>yoon</dc:creator>
  <cp:lastModifiedBy>Heesung Oh</cp:lastModifiedBy>
  <cp:revision>28</cp:revision>
  <dcterms:created xsi:type="dcterms:W3CDTF">2004-03-31T03:19:35Z</dcterms:created>
  <dcterms:modified xsi:type="dcterms:W3CDTF">2026-07-14T02:46:24Z</dcterms:modified>
</cp:coreProperties>
</file>