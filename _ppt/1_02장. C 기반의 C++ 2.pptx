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가을체" panose="02030600000101010101" pitchFamily="18" charset="-127"/>
      <p:regular r:id="rId17"/>
    </p:embeddedFont>
    <p:embeddedFont>
      <p:font typeface="나눔바른고딕" panose="020B0603020101020101" pitchFamily="50" charset="-127"/>
      <p:regular r:id="rId18"/>
      <p:bold r:id="rId19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1">
          <p15:clr>
            <a:srgbClr val="A4A3A4"/>
          </p15:clr>
        </p15:guide>
        <p15:guide id="2" orient="horz" pos="663">
          <p15:clr>
            <a:srgbClr val="A4A3A4"/>
          </p15:clr>
        </p15:guide>
        <p15:guide id="3" orient="horz" pos="890">
          <p15:clr>
            <a:srgbClr val="A4A3A4"/>
          </p15:clr>
        </p15:guide>
        <p15:guide id="4" orient="horz" pos="1684">
          <p15:clr>
            <a:srgbClr val="A4A3A4"/>
          </p15:clr>
        </p15:guide>
        <p15:guide id="5" pos="2880">
          <p15:clr>
            <a:srgbClr val="A4A3A4"/>
          </p15:clr>
        </p15:guide>
        <p15:guide id="6" pos="476">
          <p15:clr>
            <a:srgbClr val="A4A3A4"/>
          </p15:clr>
        </p15:guide>
        <p15:guide id="7" pos="521">
          <p15:clr>
            <a:srgbClr val="A4A3A4"/>
          </p15:clr>
        </p15:guide>
        <p15:guide id="8" pos="70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88" autoAdjust="0"/>
    <p:restoredTop sz="96660" autoAdjust="0"/>
  </p:normalViewPr>
  <p:slideViewPr>
    <p:cSldViewPr>
      <p:cViewPr varScale="1">
        <p:scale>
          <a:sx n="122" d="100"/>
          <a:sy n="122" d="100"/>
        </p:scale>
        <p:origin x="1908" y="108"/>
      </p:cViewPr>
      <p:guideLst>
        <p:guide orient="horz" pos="1321"/>
        <p:guide orient="horz" pos="663"/>
        <p:guide orient="horz" pos="890"/>
        <p:guide orient="horz" pos="1684"/>
        <p:guide pos="2880"/>
        <p:guide pos="476"/>
        <p:guide pos="521"/>
        <p:guide pos="7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80585-A2E6-6836-266D-BEE8D8EB7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E86D9D-A05C-4A13-7ED7-D92611EEC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5194E4-9EC9-912D-1C8A-DC46AB715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557C3D-C94A-4EAE-4EEE-E38F068E5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C25DD2-DF9E-3C21-C872-D67F009D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FC1F04-E600-46A3-A4A5-98E1B8ECDA6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99330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B0306-7096-CBFD-4D0E-DD7154EB2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A67481-9CE1-AFFA-6CBC-920933C43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8907E5-8640-F515-E2DE-80E34CF6A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140D67-7441-4B3B-269C-914D2F3A2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BEC312-E2D2-81FA-39DF-9C684C57B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0ACD32-71EC-46F3-9DD2-310FDA49E33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888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6F8C08-65F7-07E3-1BC7-D33B1E648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44BA8E-D9FB-8F8B-37DF-F5016CF79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391433-5B5D-5212-C5AC-68D781B72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78CCD4-925E-0B24-2A01-338E9618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E36626-C0AE-D31A-F2DC-0A9EF985C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BEBD37-3BCA-4FA4-97E0-BDF38E189DF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411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B5DD4B-5E7B-D635-40DF-EE95F656A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0E40BB-364D-DDAE-9DB6-5A455836E1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FE4D73-168C-0ABC-0D85-942A7EE76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7FC720-7329-207E-B8A9-DFEAEB282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0B3CB4-CBD5-47A6-DD3E-438EDE568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2CB620-4C34-8485-35DC-36810B07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33282F-A589-4316-B15C-B9CCA8302A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170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E32DDC-D8DB-266D-8235-496796FCF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2018B9-4DD3-3077-D9AF-08CB40E03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50B2F5-384D-9B5D-FA66-6A01A63DB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59C496-C5C3-6E4F-1822-9060577C7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335F1B-1B22-C32B-2671-974DBBFEE0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842BC29-D03B-F26C-5104-1CC327A1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942001-E340-80A8-B4D4-EE77A337C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A01F5CC-7B9B-43DF-C336-E931EB5F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AB8A27-2D81-428B-B911-92A543F6A97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91055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EE5AA-6AE4-670E-89D3-33F4CECB4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92AAF0-61BF-9D5E-FEFF-DFB397059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5D5BEB-5437-2821-BBA3-D100BE234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41EECB-2A55-775F-E885-7B7DD9642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D8E17A-9F74-42EB-A720-FDAA69DCAE5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09105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C430CF-BABE-D892-AEDE-25DA5821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C22F578-7473-05B1-FE18-FE7D9CB2B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03D05-EC89-2C0C-B72E-42CA98A9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41E31-F30D-45D7-84E6-FA167132673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2322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70645-31E5-5A2F-9E92-98480CE06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2B380B-2F2C-E70A-D403-B1DC81C5E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C8EEF6-EC46-7F01-50C3-EA4B31224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B9B54F-0359-B1C1-DE60-69653A73E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AD6885-4C4A-5991-1249-9D1260F35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9421D6-56AA-7B8A-46A8-48B66CC6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F0F1D7-2D96-48D7-8D33-D4F9EF006B2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2112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1C6B33-B159-9C18-3641-65F8E6D5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DC25B17-E184-09FE-1858-D82C8C9AD8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5AE627-B275-DCE9-BF71-48317DB89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0124B2-F6D7-D8DC-2A08-6D928911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2B443F-E9EC-ABC6-F40F-00707683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0EF35C-CF24-097E-09B7-6E1F21504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2BEFC4-8DC8-4830-AD25-0A6894643DB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9187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2D6CD0-D538-2A8B-4094-9EFB3670C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39A952-CE40-D629-775D-5F26E2E1D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327389-1944-CE9F-6D5D-318EE2D9E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618495-D91C-1C23-5C69-5A5472FA9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434015-7EB1-236F-F7E3-320F3AEE6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48594E-AAB7-4CAB-BB14-DD94905DEF3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63935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66A18E-0358-4CBA-F60E-8474998A8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E11213-0BF3-7C75-D0E4-4D3866CF3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200921-0EFA-9FD4-FF57-8327C5F64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0CFD34-7D2B-EE8F-ADD2-90003B3EA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49C734-0740-1C8E-278C-BE2FE510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1E8565-7F51-4BEB-B0BA-3DD616962C2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61652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BDDD807-AC34-1651-4A06-FDD79D21B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1CB1068-9F8F-48F5-2E4F-3A7F7E208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03EB0B8-CD52-76C6-5DE6-A7F43CB2BFA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ea typeface="+mn-ea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71C2C55-3591-4F4B-7449-F3EDF5B43D5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ea typeface="+mn-ea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54F75BF-E4DC-A65E-5B07-8EE16506795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ea typeface="+mn-ea"/>
              </a:defRPr>
            </a:lvl1pPr>
          </a:lstStyle>
          <a:p>
            <a:fld id="{595F8A1C-66E0-4739-BED0-12CFB4871625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C15D91C-32AD-2A07-292A-F7569AA3B1C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857500"/>
            <a:ext cx="7772400" cy="1143000"/>
          </a:xfrm>
        </p:spPr>
        <p:txBody>
          <a:bodyPr anchor="ctr"/>
          <a:lstStyle/>
          <a:p>
            <a:r>
              <a:rPr lang="en-US" altLang="ko-KR" sz="4800" b="1">
                <a:solidFill>
                  <a:schemeClr val="tx1"/>
                </a:solidFill>
              </a:rPr>
              <a:t>2</a:t>
            </a:r>
            <a:r>
              <a:rPr lang="ko-KR" altLang="en-US" sz="4800" b="1">
                <a:solidFill>
                  <a:schemeClr val="tx1"/>
                </a:solidFill>
              </a:rPr>
              <a:t>장</a:t>
            </a:r>
            <a:r>
              <a:rPr lang="en-US" altLang="ko-KR" sz="4800" b="1">
                <a:solidFill>
                  <a:schemeClr val="tx1"/>
                </a:solidFill>
              </a:rPr>
              <a:t>. C </a:t>
            </a:r>
            <a:r>
              <a:rPr lang="ko-KR" altLang="en-US" sz="4800" b="1">
                <a:solidFill>
                  <a:schemeClr val="tx1"/>
                </a:solidFill>
              </a:rPr>
              <a:t>기반의 </a:t>
            </a:r>
            <a:r>
              <a:rPr lang="en-US" altLang="ko-KR" sz="4800" b="1">
                <a:solidFill>
                  <a:schemeClr val="tx1"/>
                </a:solidFill>
              </a:rPr>
              <a:t>C++ 2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389D348-05E3-C805-DD20-67B195C87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488" y="188913"/>
            <a:ext cx="4102100" cy="51911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2-1  </a:t>
            </a:r>
            <a:r>
              <a:rPr lang="ko-KR" altLang="en-US" sz="2800" b="1"/>
              <a:t>들어가기에 앞서서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3B48AF3-2804-9CF6-08A5-FF058DFE59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7772400" cy="511175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800" b="1"/>
              <a:t>문제 </a:t>
            </a:r>
            <a:r>
              <a:rPr lang="en-US" altLang="ko-KR" sz="2800" b="1"/>
              <a:t>1 : const </a:t>
            </a:r>
            <a:r>
              <a:rPr lang="ko-KR" altLang="en-US" sz="2800" b="1"/>
              <a:t>키워드의 의미</a:t>
            </a:r>
          </a:p>
          <a:p>
            <a:pPr lvl="1">
              <a:lnSpc>
                <a:spcPct val="115000"/>
              </a:lnSpc>
            </a:pPr>
            <a:r>
              <a:rPr lang="en-US" altLang="ko-KR" sz="2200" b="1"/>
              <a:t>const int n=10;</a:t>
            </a:r>
          </a:p>
          <a:p>
            <a:pPr lvl="1">
              <a:lnSpc>
                <a:spcPct val="115000"/>
              </a:lnSpc>
            </a:pPr>
            <a:r>
              <a:rPr lang="en-US" altLang="ko-KR" sz="2200" b="1"/>
              <a:t>const int* n;</a:t>
            </a:r>
          </a:p>
          <a:p>
            <a:pPr lvl="1">
              <a:lnSpc>
                <a:spcPct val="115000"/>
              </a:lnSpc>
            </a:pPr>
            <a:r>
              <a:rPr lang="en-US" altLang="ko-KR" sz="2200" b="1"/>
              <a:t>int* const n;</a:t>
            </a:r>
          </a:p>
          <a:p>
            <a:pPr lvl="1">
              <a:lnSpc>
                <a:spcPct val="115000"/>
              </a:lnSpc>
            </a:pPr>
            <a:r>
              <a:rPr lang="en-US" altLang="ko-KR" sz="2200" b="1"/>
              <a:t>const int* const n</a:t>
            </a:r>
          </a:p>
          <a:p>
            <a:pPr lvl="1">
              <a:lnSpc>
                <a:spcPct val="115000"/>
              </a:lnSpc>
            </a:pPr>
            <a:endParaRPr lang="en-US" altLang="ko-KR" sz="1600" b="1"/>
          </a:p>
          <a:p>
            <a:pPr>
              <a:lnSpc>
                <a:spcPct val="115000"/>
              </a:lnSpc>
            </a:pPr>
            <a:r>
              <a:rPr lang="ko-KR" altLang="en-US" sz="2800" b="1"/>
              <a:t>문제 </a:t>
            </a:r>
            <a:r>
              <a:rPr lang="en-US" altLang="ko-KR" sz="2800" b="1"/>
              <a:t>2 : stack</a:t>
            </a:r>
            <a:r>
              <a:rPr lang="ko-KR" altLang="en-US" sz="2800" b="1"/>
              <a:t>의 용도 및 특징</a:t>
            </a:r>
          </a:p>
          <a:p>
            <a:pPr>
              <a:lnSpc>
                <a:spcPct val="115000"/>
              </a:lnSpc>
            </a:pPr>
            <a:endParaRPr lang="ko-KR" altLang="en-US" sz="1600" b="1"/>
          </a:p>
          <a:p>
            <a:pPr>
              <a:lnSpc>
                <a:spcPct val="115000"/>
              </a:lnSpc>
            </a:pPr>
            <a:r>
              <a:rPr lang="ko-KR" altLang="en-US" sz="2800" b="1"/>
              <a:t>문제 </a:t>
            </a:r>
            <a:r>
              <a:rPr lang="en-US" altLang="ko-KR" sz="2800" b="1"/>
              <a:t>3 : heap</a:t>
            </a:r>
            <a:r>
              <a:rPr lang="ko-KR" altLang="en-US" sz="2800" b="1"/>
              <a:t>의 용도 및 특징</a:t>
            </a:r>
          </a:p>
          <a:p>
            <a:pPr>
              <a:lnSpc>
                <a:spcPct val="115000"/>
              </a:lnSpc>
            </a:pPr>
            <a:endParaRPr lang="ko-KR" altLang="en-US" sz="1600" b="1"/>
          </a:p>
          <a:p>
            <a:pPr>
              <a:lnSpc>
                <a:spcPct val="115000"/>
              </a:lnSpc>
            </a:pPr>
            <a:r>
              <a:rPr lang="ko-KR" altLang="en-US" sz="2800" b="1"/>
              <a:t>문제 </a:t>
            </a:r>
            <a:r>
              <a:rPr lang="en-US" altLang="ko-KR" sz="2800" b="1"/>
              <a:t>4 : malloc &amp; free </a:t>
            </a:r>
            <a:r>
              <a:rPr lang="ko-KR" altLang="en-US" sz="2800" b="1"/>
              <a:t>함수의 필요성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E263DABB-50B1-6FB9-5C23-6E5983ACD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592263"/>
            <a:ext cx="3048000" cy="481965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54800" bIns="226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b="1"/>
              <a:t>void function (int);</a:t>
            </a:r>
          </a:p>
          <a:p>
            <a:pPr>
              <a:lnSpc>
                <a:spcPct val="150000"/>
              </a:lnSpc>
            </a:pPr>
            <a:endParaRPr lang="en-US" altLang="ko-KR" sz="1400" b="1"/>
          </a:p>
          <a:p>
            <a:pPr>
              <a:lnSpc>
                <a:spcPct val="150000"/>
              </a:lnSpc>
            </a:pPr>
            <a:r>
              <a:rPr lang="en-US" altLang="ko-KR" sz="1400" b="1"/>
              <a:t>int main(void)</a:t>
            </a:r>
          </a:p>
          <a:p>
            <a:pPr>
              <a:lnSpc>
                <a:spcPct val="150000"/>
              </a:lnSpc>
            </a:pPr>
            <a:r>
              <a:rPr lang="en-US" altLang="ko-KR" sz="1400" b="1"/>
              <a:t>{</a:t>
            </a:r>
          </a:p>
          <a:p>
            <a:pPr>
              <a:lnSpc>
                <a:spcPct val="150000"/>
              </a:lnSpc>
            </a:pPr>
            <a:r>
              <a:rPr lang="en-US" altLang="ko-KR" sz="1400" b="1"/>
              <a:t>    int size;</a:t>
            </a:r>
          </a:p>
          <a:p>
            <a:pPr>
              <a:lnSpc>
                <a:spcPct val="150000"/>
              </a:lnSpc>
            </a:pPr>
            <a:r>
              <a:rPr lang="en-US" altLang="ko-KR" sz="1400" b="1"/>
              <a:t>    cin&gt;&gt;size;</a:t>
            </a:r>
          </a:p>
          <a:p>
            <a:pPr>
              <a:lnSpc>
                <a:spcPct val="150000"/>
              </a:lnSpc>
            </a:pPr>
            <a:r>
              <a:rPr lang="en-US" altLang="ko-KR" sz="1400" b="1"/>
              <a:t>    function(size);</a:t>
            </a:r>
          </a:p>
          <a:p>
            <a:pPr>
              <a:lnSpc>
                <a:spcPct val="150000"/>
              </a:lnSpc>
            </a:pPr>
            <a:r>
              <a:rPr lang="en-US" altLang="ko-KR" sz="1400" b="1"/>
              <a:t>    return 0;</a:t>
            </a:r>
          </a:p>
          <a:p>
            <a:pPr>
              <a:lnSpc>
                <a:spcPct val="150000"/>
              </a:lnSpc>
            </a:pPr>
            <a:r>
              <a:rPr lang="en-US" altLang="ko-KR" sz="1400" b="1"/>
              <a:t>}</a:t>
            </a:r>
          </a:p>
          <a:p>
            <a:pPr>
              <a:lnSpc>
                <a:spcPct val="150000"/>
              </a:lnSpc>
            </a:pPr>
            <a:endParaRPr lang="en-US" altLang="ko-KR" sz="1400" b="1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void function(int i)</a:t>
            </a:r>
          </a:p>
          <a:p>
            <a:pPr>
              <a:lnSpc>
                <a:spcPct val="15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int array[i];</a:t>
            </a:r>
          </a:p>
          <a:p>
            <a:pPr>
              <a:lnSpc>
                <a:spcPct val="15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4101" name="Picture 5">
            <a:extLst>
              <a:ext uri="{FF2B5EF4-FFF2-40B4-BE49-F238E27FC236}">
                <a16:creationId xmlns:a16="http://schemas.microsoft.com/office/drawing/2014/main" id="{05FAE10B-1ED6-8C8E-C8B7-61AB2DB69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981200"/>
            <a:ext cx="2500313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2" name="Rectangle 6">
            <a:extLst>
              <a:ext uri="{FF2B5EF4-FFF2-40B4-BE49-F238E27FC236}">
                <a16:creationId xmlns:a16="http://schemas.microsoft.com/office/drawing/2014/main" id="{F762876C-916D-7875-A798-73635B6D8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4102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2-1  </a:t>
            </a:r>
            <a:r>
              <a:rPr lang="ko-KR" altLang="en-US" sz="2800" b="1"/>
              <a:t>들어가기에 앞서서</a:t>
            </a:r>
          </a:p>
        </p:txBody>
      </p:sp>
      <p:sp>
        <p:nvSpPr>
          <p:cNvPr id="4104" name="AutoShape 8">
            <a:extLst>
              <a:ext uri="{FF2B5EF4-FFF2-40B4-BE49-F238E27FC236}">
                <a16:creationId xmlns:a16="http://schemas.microsoft.com/office/drawing/2014/main" id="{027EAEAF-5FD6-5944-4FE0-B558E68DE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838200"/>
            <a:ext cx="1371600" cy="838200"/>
          </a:xfrm>
          <a:prstGeom prst="wedgeEllipseCallout">
            <a:avLst>
              <a:gd name="adj1" fmla="val -83218"/>
              <a:gd name="adj2" fmla="val 79926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pPr algn="ctr"/>
            <a:r>
              <a:rPr lang="ko-KR" altLang="en-US" sz="1800" b="1">
                <a:solidFill>
                  <a:schemeClr val="bg1"/>
                </a:solidFill>
              </a:rPr>
              <a:t>문제점</a:t>
            </a:r>
            <a:r>
              <a:rPr lang="en-US" altLang="ko-KR" sz="1800" b="1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4105" name="AutoShape 9">
            <a:extLst>
              <a:ext uri="{FF2B5EF4-FFF2-40B4-BE49-F238E27FC236}">
                <a16:creationId xmlns:a16="http://schemas.microsoft.com/office/drawing/2014/main" id="{1923BF85-3703-F278-CD16-AD3DA9E2F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495800"/>
            <a:ext cx="1600200" cy="838200"/>
          </a:xfrm>
          <a:prstGeom prst="wedgeEllipseCallout">
            <a:avLst>
              <a:gd name="adj1" fmla="val 62597"/>
              <a:gd name="adj2" fmla="val 66097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pPr algn="ctr"/>
            <a:r>
              <a:rPr lang="ko-KR" altLang="en-US" sz="1400" b="1">
                <a:solidFill>
                  <a:schemeClr val="bg1"/>
                </a:solidFill>
              </a:rPr>
              <a:t>컴파일 타임</a:t>
            </a:r>
          </a:p>
          <a:p>
            <a:pPr algn="ctr"/>
            <a:r>
              <a:rPr lang="ko-KR" altLang="en-US" sz="1400" b="1">
                <a:solidFill>
                  <a:schemeClr val="bg1"/>
                </a:solidFill>
              </a:rPr>
              <a:t>크기 결정</a:t>
            </a:r>
          </a:p>
        </p:txBody>
      </p:sp>
      <p:sp>
        <p:nvSpPr>
          <p:cNvPr id="4106" name="AutoShape 10">
            <a:extLst>
              <a:ext uri="{FF2B5EF4-FFF2-40B4-BE49-F238E27FC236}">
                <a16:creationId xmlns:a16="http://schemas.microsoft.com/office/drawing/2014/main" id="{FE9299E7-6E7C-D1E2-79F2-D265EFEC5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286000"/>
            <a:ext cx="1371600" cy="838200"/>
          </a:xfrm>
          <a:prstGeom prst="wedgeEllipseCallout">
            <a:avLst>
              <a:gd name="adj1" fmla="val 66667"/>
              <a:gd name="adj2" fmla="val 44884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pPr algn="ctr"/>
            <a:r>
              <a:rPr lang="ko-KR" altLang="en-US" sz="1400" b="1">
                <a:solidFill>
                  <a:schemeClr val="bg1"/>
                </a:solidFill>
              </a:rPr>
              <a:t>런 타임</a:t>
            </a:r>
          </a:p>
          <a:p>
            <a:pPr algn="ctr"/>
            <a:r>
              <a:rPr lang="ko-KR" altLang="en-US" sz="1400" b="1">
                <a:solidFill>
                  <a:schemeClr val="bg1"/>
                </a:solidFill>
              </a:rPr>
              <a:t>크기 결정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4E32B8B-B674-61C6-1646-7969ED8C6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488" y="188913"/>
            <a:ext cx="3057525" cy="51911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2-2  </a:t>
            </a:r>
            <a:r>
              <a:rPr lang="ko-KR" altLang="en-US" sz="2800" b="1"/>
              <a:t>자료형 </a:t>
            </a:r>
            <a:r>
              <a:rPr lang="en-US" altLang="ko-KR" sz="2800" b="1"/>
              <a:t>bool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F4D06FA-EDC8-6ACF-7900-C9D6DA7803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03325"/>
            <a:ext cx="8278813" cy="492125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800" b="1"/>
              <a:t>자료형 </a:t>
            </a:r>
            <a:r>
              <a:rPr lang="en-US" altLang="ko-KR" sz="2800" b="1">
                <a:solidFill>
                  <a:schemeClr val="accent2"/>
                </a:solidFill>
              </a:rPr>
              <a:t>bool</a:t>
            </a:r>
            <a:r>
              <a:rPr lang="ko-KR" altLang="en-US" sz="2800" b="1"/>
              <a:t>에 대한 이해</a:t>
            </a:r>
          </a:p>
          <a:p>
            <a:pPr lvl="1">
              <a:lnSpc>
                <a:spcPct val="115000"/>
              </a:lnSpc>
            </a:pPr>
            <a:r>
              <a:rPr lang="ko-KR" altLang="en-US" sz="2400" b="1"/>
              <a:t>기본 자료형의 일종</a:t>
            </a:r>
          </a:p>
          <a:p>
            <a:pPr lvl="1">
              <a:lnSpc>
                <a:spcPct val="115000"/>
              </a:lnSpc>
            </a:pPr>
            <a:r>
              <a:rPr lang="ko-KR" altLang="en-US" sz="2400" b="1"/>
              <a:t>참을 의미하는 </a:t>
            </a:r>
            <a:r>
              <a:rPr lang="en-US" altLang="ko-KR" sz="2400" b="1"/>
              <a:t>true, </a:t>
            </a:r>
            <a:r>
              <a:rPr lang="ko-KR" altLang="en-US" sz="2400" b="1"/>
              <a:t>거짓을 의미하는 </a:t>
            </a:r>
            <a:r>
              <a:rPr lang="en-US" altLang="ko-KR" sz="2400" b="1"/>
              <a:t>false </a:t>
            </a:r>
            <a:r>
              <a:rPr lang="ko-KR" altLang="en-US" sz="2400" b="1"/>
              <a:t>중 하나의 </a:t>
            </a:r>
            <a:br>
              <a:rPr lang="ko-KR" altLang="en-US" sz="2400" b="1"/>
            </a:br>
            <a:r>
              <a:rPr lang="ko-KR" altLang="en-US" sz="2400" b="1"/>
              <a:t>값을 지닌다</a:t>
            </a:r>
            <a:r>
              <a:rPr lang="en-US" altLang="ko-KR" sz="2400" b="1"/>
              <a:t>.</a:t>
            </a:r>
            <a:r>
              <a:rPr lang="en-US" altLang="ko-KR" sz="2200" b="1"/>
              <a:t> </a:t>
            </a:r>
          </a:p>
          <a:p>
            <a:pPr lvl="1">
              <a:lnSpc>
                <a:spcPct val="115000"/>
              </a:lnSpc>
            </a:pPr>
            <a:endParaRPr lang="en-US" altLang="ko-KR" sz="2200" b="1"/>
          </a:p>
          <a:p>
            <a:pPr>
              <a:lnSpc>
                <a:spcPct val="115000"/>
              </a:lnSpc>
            </a:pPr>
            <a:r>
              <a:rPr lang="en-US" altLang="ko-KR" sz="2800" b="1"/>
              <a:t> </a:t>
            </a:r>
            <a:r>
              <a:rPr lang="en-US" altLang="ko-KR" sz="2800" b="1">
                <a:solidFill>
                  <a:schemeClr val="accent2"/>
                </a:solidFill>
              </a:rPr>
              <a:t>true</a:t>
            </a:r>
            <a:r>
              <a:rPr lang="en-US" altLang="ko-KR" sz="2800" b="1"/>
              <a:t> &amp; </a:t>
            </a:r>
            <a:r>
              <a:rPr lang="en-US" altLang="ko-KR" sz="2800" b="1">
                <a:solidFill>
                  <a:schemeClr val="accent2"/>
                </a:solidFill>
              </a:rPr>
              <a:t>false</a:t>
            </a:r>
          </a:p>
          <a:p>
            <a:pPr lvl="1">
              <a:lnSpc>
                <a:spcPct val="115000"/>
              </a:lnSpc>
            </a:pPr>
            <a:r>
              <a:rPr lang="en-US" altLang="ko-KR" sz="2400" b="1"/>
              <a:t>1</a:t>
            </a:r>
            <a:r>
              <a:rPr lang="ko-KR" altLang="en-US" sz="2400" b="1"/>
              <a:t>과 </a:t>
            </a:r>
            <a:r>
              <a:rPr lang="en-US" altLang="ko-KR" sz="2400" b="1"/>
              <a:t>0</a:t>
            </a:r>
            <a:r>
              <a:rPr lang="ko-KR" altLang="en-US" sz="2400" b="1"/>
              <a:t>이 아니라</a:t>
            </a:r>
            <a:r>
              <a:rPr lang="en-US" altLang="ko-KR" sz="2400" b="1"/>
              <a:t>, </a:t>
            </a:r>
            <a:r>
              <a:rPr lang="ko-KR" altLang="en-US" sz="2400" b="1">
                <a:solidFill>
                  <a:schemeClr val="accent2"/>
                </a:solidFill>
              </a:rPr>
              <a:t>논리적인 참과 거짓</a:t>
            </a:r>
            <a:r>
              <a:rPr lang="ko-KR" altLang="en-US" sz="2400" b="1"/>
              <a:t>을 의미하는 </a:t>
            </a:r>
            <a:br>
              <a:rPr lang="ko-KR" altLang="en-US" sz="2400" b="1"/>
            </a:br>
            <a:r>
              <a:rPr lang="ko-KR" altLang="en-US" sz="2400" b="1"/>
              <a:t>키워드이다</a:t>
            </a:r>
            <a:r>
              <a:rPr lang="en-US" altLang="ko-KR" sz="2400" b="1"/>
              <a:t>.</a:t>
            </a:r>
          </a:p>
          <a:p>
            <a:pPr lvl="1">
              <a:lnSpc>
                <a:spcPct val="115000"/>
              </a:lnSpc>
            </a:pPr>
            <a:r>
              <a:rPr lang="en-US" altLang="ko-KR" sz="2400" b="1"/>
              <a:t>int</a:t>
            </a:r>
            <a:r>
              <a:rPr lang="ko-KR" altLang="en-US" sz="2400" b="1"/>
              <a:t>형 데이터로 형 변환 시 </a:t>
            </a:r>
            <a:r>
              <a:rPr lang="en-US" altLang="ko-KR" sz="2400" b="1"/>
              <a:t>1</a:t>
            </a:r>
            <a:r>
              <a:rPr lang="ko-KR" altLang="en-US" sz="2400" b="1"/>
              <a:t>과 </a:t>
            </a:r>
            <a:r>
              <a:rPr lang="en-US" altLang="ko-KR" sz="2400" b="1"/>
              <a:t>0</a:t>
            </a:r>
            <a:r>
              <a:rPr lang="ko-KR" altLang="en-US" sz="2400" b="1"/>
              <a:t>이 된다</a:t>
            </a:r>
            <a:r>
              <a:rPr lang="en-US" altLang="ko-KR" sz="2400" b="1"/>
              <a:t>.</a:t>
            </a:r>
          </a:p>
          <a:p>
            <a:pPr lvl="1">
              <a:lnSpc>
                <a:spcPct val="115000"/>
              </a:lnSpc>
            </a:pPr>
            <a:r>
              <a:rPr lang="en-US" altLang="ko-KR" sz="2400" b="1"/>
              <a:t>bool1.cpp, bool2.cpp, bool3.cpp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B2A6A89-CA76-608B-218A-9A28FAB89D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488" y="188913"/>
            <a:ext cx="5649912" cy="51911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2-3  </a:t>
            </a:r>
            <a:r>
              <a:rPr lang="ko-KR" altLang="en-US" sz="2800" b="1"/>
              <a:t>레퍼런스</a:t>
            </a:r>
            <a:r>
              <a:rPr lang="en-US" altLang="ko-KR" sz="2800" b="1"/>
              <a:t>(Reference)</a:t>
            </a:r>
            <a:r>
              <a:rPr lang="ko-KR" altLang="en-US" sz="2800" b="1"/>
              <a:t>의 이해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37800A1-30F9-34DE-6711-EDF5C6E8CC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6765925" cy="157003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800" b="1">
                <a:solidFill>
                  <a:schemeClr val="accent2"/>
                </a:solidFill>
              </a:rPr>
              <a:t>레퍼런스</a:t>
            </a:r>
            <a:r>
              <a:rPr lang="ko-KR" altLang="en-US" sz="2800" b="1"/>
              <a:t>의 개념</a:t>
            </a:r>
          </a:p>
          <a:p>
            <a:pPr lvl="1">
              <a:lnSpc>
                <a:spcPct val="115000"/>
              </a:lnSpc>
            </a:pPr>
            <a:r>
              <a:rPr lang="ko-KR" altLang="en-US" sz="2400" b="1">
                <a:solidFill>
                  <a:schemeClr val="accent2"/>
                </a:solidFill>
              </a:rPr>
              <a:t>이름 지니는 대상에 별명을 붙여주는 행위</a:t>
            </a:r>
          </a:p>
          <a:p>
            <a:pPr lvl="1">
              <a:lnSpc>
                <a:spcPct val="115000"/>
              </a:lnSpc>
            </a:pPr>
            <a:r>
              <a:rPr lang="en-US" altLang="ko-KR" sz="2400" b="1"/>
              <a:t>reference.cpp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3AD871DB-D6D7-F14B-9458-CC99E004F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3033713"/>
            <a:ext cx="3749675" cy="5222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ko-KR" sz="2000" b="1">
                <a:cs typeface="Times New Roman" panose="02020603050405020304" pitchFamily="18" charset="0"/>
              </a:rPr>
              <a:t>int&amp; ref=val;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3845C8F6-5DB1-58D2-9B08-AC27F1874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713" y="3752850"/>
            <a:ext cx="6378575" cy="26638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2152650" algn="l"/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2152650" algn="l"/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2152650" algn="l"/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2152650" algn="l"/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2152650" algn="l"/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2152650" algn="l"/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2152650" algn="l"/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2152650" algn="l"/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2152650" algn="l"/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int main(void)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{    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 int val=10;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  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   int *pVal</a:t>
            </a:r>
            <a:r>
              <a:rPr lang="en-US" altLang="ko-KR" sz="1600" b="1">
                <a:cs typeface="Times New Roman" panose="02020603050405020304" pitchFamily="18" charset="0"/>
              </a:rPr>
              <a:t>=&amp;val</a:t>
            </a:r>
            <a:r>
              <a:rPr lang="en-US" altLang="ko-KR" sz="1400" b="1">
                <a:cs typeface="Times New Roman" panose="02020603050405020304" pitchFamily="18" charset="0"/>
              </a:rPr>
              <a:t>;	// </a:t>
            </a:r>
            <a:r>
              <a:rPr lang="ko-KR" altLang="en-US" sz="1400" b="1">
                <a:cs typeface="Times New Roman" panose="02020603050405020304" pitchFamily="18" charset="0"/>
              </a:rPr>
              <a:t>주소 값을 얻기 위해 </a:t>
            </a:r>
            <a:r>
              <a:rPr lang="en-US" altLang="ko-KR" sz="1400" b="1">
                <a:cs typeface="Times New Roman" panose="02020603050405020304" pitchFamily="18" charset="0"/>
              </a:rPr>
              <a:t>&amp; </a:t>
            </a:r>
            <a:r>
              <a:rPr lang="ko-KR" altLang="en-US" sz="1400" b="1">
                <a:cs typeface="Times New Roman" panose="02020603050405020304" pitchFamily="18" charset="0"/>
              </a:rPr>
              <a:t>연산자 사용</a:t>
            </a:r>
          </a:p>
          <a:p>
            <a:pPr>
              <a:lnSpc>
                <a:spcPct val="120000"/>
              </a:lnSpc>
            </a:pPr>
            <a:r>
              <a:rPr lang="ko-KR" altLang="en-US" sz="1400" b="1">
                <a:cs typeface="Times New Roman" panose="02020603050405020304" pitchFamily="18" charset="0"/>
              </a:rPr>
              <a:t>      </a:t>
            </a:r>
            <a:r>
              <a:rPr lang="en-US" altLang="ko-KR" sz="1400" b="1">
                <a:cs typeface="Times New Roman" panose="02020603050405020304" pitchFamily="18" charset="0"/>
              </a:rPr>
              <a:t>int &amp;rVal=val;      	// </a:t>
            </a:r>
            <a:r>
              <a:rPr lang="ko-KR" altLang="en-US" sz="1400" b="1">
                <a:cs typeface="Times New Roman" panose="02020603050405020304" pitchFamily="18" charset="0"/>
              </a:rPr>
              <a:t>레퍼런스 선언을 위해 </a:t>
            </a:r>
            <a:r>
              <a:rPr lang="en-US" altLang="ko-KR" sz="1400" b="1">
                <a:cs typeface="Times New Roman" panose="02020603050405020304" pitchFamily="18" charset="0"/>
              </a:rPr>
              <a:t>&amp; </a:t>
            </a:r>
            <a:r>
              <a:rPr lang="ko-KR" altLang="en-US" sz="1400" b="1">
                <a:cs typeface="Times New Roman" panose="02020603050405020304" pitchFamily="18" charset="0"/>
              </a:rPr>
              <a:t>연산자 사용</a:t>
            </a:r>
          </a:p>
          <a:p>
            <a:pPr>
              <a:lnSpc>
                <a:spcPct val="120000"/>
              </a:lnSpc>
            </a:pPr>
            <a:r>
              <a:rPr lang="ko-KR" altLang="en-US" sz="14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ko-KR" altLang="en-US" sz="1400" b="1">
                <a:cs typeface="Times New Roman" panose="02020603050405020304" pitchFamily="18" charset="0"/>
              </a:rPr>
              <a:t>      </a:t>
            </a:r>
            <a:r>
              <a:rPr lang="en-US" altLang="ko-KR" sz="1400" b="1">
                <a:cs typeface="Times New Roman" panose="02020603050405020304" pitchFamily="18" charset="0"/>
              </a:rPr>
              <a:t>return 0;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D5E1DEE3-645E-8099-8041-FA1D3D051F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11263"/>
            <a:ext cx="7772400" cy="1570037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800" b="1"/>
              <a:t>레퍼런스에 대한 또 다른 접근</a:t>
            </a:r>
          </a:p>
          <a:p>
            <a:pPr lvl="1">
              <a:lnSpc>
                <a:spcPct val="115000"/>
              </a:lnSpc>
            </a:pPr>
            <a:r>
              <a:rPr lang="ko-KR" altLang="en-US" sz="2400" b="1"/>
              <a:t>변수란</a:t>
            </a:r>
            <a:r>
              <a:rPr lang="en-US" altLang="ko-KR" sz="2400" b="1"/>
              <a:t>? </a:t>
            </a:r>
            <a:r>
              <a:rPr lang="ko-KR" altLang="en-US" sz="2400" b="1"/>
              <a:t>메모리 공간에 붙여진 이름</a:t>
            </a:r>
            <a:r>
              <a:rPr lang="en-US" altLang="ko-KR" sz="2400" b="1"/>
              <a:t>!</a:t>
            </a:r>
          </a:p>
          <a:p>
            <a:pPr lvl="1">
              <a:lnSpc>
                <a:spcPct val="115000"/>
              </a:lnSpc>
            </a:pPr>
            <a:r>
              <a:rPr lang="ko-KR" altLang="en-US" sz="2400" b="1"/>
              <a:t>메모리 공간에 이름을 하나 더 추가하는 행위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D5727022-9196-996A-C6FE-4EDCEE775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56499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2-3  </a:t>
            </a:r>
            <a:r>
              <a:rPr lang="ko-KR" altLang="en-US" sz="2800" b="1"/>
              <a:t>레퍼런스</a:t>
            </a:r>
            <a:r>
              <a:rPr lang="en-US" altLang="ko-KR" sz="2800" b="1"/>
              <a:t>(Reference)</a:t>
            </a:r>
            <a:r>
              <a:rPr lang="ko-KR" altLang="en-US" sz="2800" b="1"/>
              <a:t>의 이해</a:t>
            </a:r>
          </a:p>
        </p:txBody>
      </p:sp>
      <p:pic>
        <p:nvPicPr>
          <p:cNvPr id="7175" name="Picture 7">
            <a:extLst>
              <a:ext uri="{FF2B5EF4-FFF2-40B4-BE49-F238E27FC236}">
                <a16:creationId xmlns:a16="http://schemas.microsoft.com/office/drawing/2014/main" id="{F79C9112-AD9E-16BC-6B78-07B3536A0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3068638"/>
            <a:ext cx="5762625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6" name="Rectangle 8">
            <a:extLst>
              <a:ext uri="{FF2B5EF4-FFF2-40B4-BE49-F238E27FC236}">
                <a16:creationId xmlns:a16="http://schemas.microsoft.com/office/drawing/2014/main" id="{7F3952F0-B086-C812-6191-9273EEDD3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6200775"/>
            <a:ext cx="1089025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800" b="1"/>
              <a:t>그림 </a:t>
            </a:r>
            <a:r>
              <a:rPr lang="en-US" altLang="ko-KR" sz="1800" b="1"/>
              <a:t>2-2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23770658-A564-F8C7-2CD8-0AF2BAE459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6515100" cy="157003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800" b="1"/>
              <a:t>레퍼런스와 변수</a:t>
            </a:r>
            <a:r>
              <a:rPr lang="en-US" altLang="ko-KR" sz="2800" b="1"/>
              <a:t>(</a:t>
            </a:r>
            <a:r>
              <a:rPr lang="ko-KR" altLang="en-US" sz="2800" b="1"/>
              <a:t>변수의 이름</a:t>
            </a:r>
            <a:r>
              <a:rPr lang="en-US" altLang="ko-KR" sz="2800" b="1"/>
              <a:t>)</a:t>
            </a:r>
          </a:p>
          <a:p>
            <a:pPr lvl="1">
              <a:lnSpc>
                <a:spcPct val="115000"/>
              </a:lnSpc>
            </a:pPr>
            <a:r>
              <a:rPr lang="ko-KR" altLang="en-US" sz="2400" b="1"/>
              <a:t>생성되는 방법에 있어서만 차이를 보임</a:t>
            </a:r>
          </a:p>
          <a:p>
            <a:pPr lvl="1">
              <a:lnSpc>
                <a:spcPct val="115000"/>
              </a:lnSpc>
            </a:pPr>
            <a:r>
              <a:rPr lang="ko-KR" altLang="en-US" sz="2400" b="1"/>
              <a:t>만들어지고 나면 완전히 같은 것</a:t>
            </a:r>
            <a:r>
              <a:rPr lang="en-US" altLang="ko-KR" sz="2400" b="1"/>
              <a:t>!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C7FED661-76AE-AD42-B51A-B66601828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56499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2-3  </a:t>
            </a:r>
            <a:r>
              <a:rPr lang="ko-KR" altLang="en-US" sz="2800" b="1"/>
              <a:t>레퍼런스</a:t>
            </a:r>
            <a:r>
              <a:rPr lang="en-US" altLang="ko-KR" sz="2800" b="1"/>
              <a:t>(Reference)</a:t>
            </a:r>
            <a:r>
              <a:rPr lang="ko-KR" altLang="en-US" sz="2800" b="1"/>
              <a:t>의 이해</a:t>
            </a:r>
          </a:p>
        </p:txBody>
      </p:sp>
      <p:pic>
        <p:nvPicPr>
          <p:cNvPr id="8202" name="Picture 10">
            <a:extLst>
              <a:ext uri="{FF2B5EF4-FFF2-40B4-BE49-F238E27FC236}">
                <a16:creationId xmlns:a16="http://schemas.microsoft.com/office/drawing/2014/main" id="{26087BAE-0817-BD21-1C1E-4721B90CA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176588"/>
            <a:ext cx="3781425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3" name="Picture 11">
            <a:extLst>
              <a:ext uri="{FF2B5EF4-FFF2-40B4-BE49-F238E27FC236}">
                <a16:creationId xmlns:a16="http://schemas.microsoft.com/office/drawing/2014/main" id="{5B2007DD-E3F9-0176-3FD4-EE01EE8B2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3176588"/>
            <a:ext cx="3781425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4" name="Rectangle 12">
            <a:extLst>
              <a:ext uri="{FF2B5EF4-FFF2-40B4-BE49-F238E27FC236}">
                <a16:creationId xmlns:a16="http://schemas.microsoft.com/office/drawing/2014/main" id="{52368CB1-7A24-5153-BFBE-4E19D0512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5768975"/>
            <a:ext cx="1089025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800" b="1"/>
              <a:t>그림 </a:t>
            </a:r>
            <a:r>
              <a:rPr lang="en-US" altLang="ko-KR" sz="1800" b="1"/>
              <a:t>2-</a:t>
            </a:r>
            <a:r>
              <a:rPr lang="en-US" altLang="ja-JP" sz="1800" b="1"/>
              <a:t>3</a:t>
            </a:r>
            <a:endParaRPr lang="en-US" altLang="ko-KR" sz="1800" b="1"/>
          </a:p>
        </p:txBody>
      </p:sp>
      <p:sp>
        <p:nvSpPr>
          <p:cNvPr id="8205" name="Rectangle 13">
            <a:extLst>
              <a:ext uri="{FF2B5EF4-FFF2-40B4-BE49-F238E27FC236}">
                <a16:creationId xmlns:a16="http://schemas.microsoft.com/office/drawing/2014/main" id="{22D3FEC7-1C17-4808-3883-6BE35A1F8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75" y="5768975"/>
            <a:ext cx="1089025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800" b="1"/>
              <a:t>그림 </a:t>
            </a:r>
            <a:r>
              <a:rPr lang="en-US" altLang="ko-KR" sz="1800" b="1"/>
              <a:t>2-</a:t>
            </a:r>
            <a:r>
              <a:rPr lang="en-US" altLang="ja-JP" sz="1800" b="1"/>
              <a:t>4</a:t>
            </a:r>
            <a:endParaRPr lang="en-US" altLang="ko-KR" sz="18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5634A4BB-08AC-0084-B371-FA12C247E6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7772400" cy="155416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레퍼런스의 제약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이름이 존재하지 않는 대상을 레퍼런스 할 수 없다</a:t>
            </a:r>
            <a:r>
              <a:rPr lang="en-US" altLang="ko-KR" sz="2400" b="1"/>
              <a:t>.</a:t>
            </a:r>
            <a:r>
              <a:rPr lang="ko-KR" altLang="en-US" sz="2400" b="1"/>
              <a:t>선언과 동시에 반드시 초기화되어야 한다</a:t>
            </a:r>
            <a:r>
              <a:rPr lang="en-US" altLang="ko-KR" sz="2400" b="1"/>
              <a:t>.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77ACEB8C-FB57-01B7-4C2F-3BF133AAB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2960688"/>
            <a:ext cx="6696075" cy="27432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int main(void)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{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 int &amp;ref1;     </a:t>
            </a:r>
            <a:r>
              <a:rPr lang="en-US" altLang="ja-JP" sz="1600" b="1">
                <a:cs typeface="Times New Roman" panose="02020603050405020304" pitchFamily="18" charset="0"/>
              </a:rPr>
              <a:t>	</a:t>
            </a:r>
            <a:r>
              <a:rPr lang="en-US" altLang="ko-KR" sz="1600" b="1">
                <a:cs typeface="Times New Roman" panose="02020603050405020304" pitchFamily="18" charset="0"/>
              </a:rPr>
              <a:t>// </a:t>
            </a:r>
            <a:r>
              <a:rPr lang="ko-KR" altLang="en-US" sz="1600" b="1">
                <a:cs typeface="Times New Roman" panose="02020603050405020304" pitchFamily="18" charset="0"/>
              </a:rPr>
              <a:t>초기화되지 않았으므로 </a:t>
            </a:r>
            <a:r>
              <a:rPr lang="en-US" altLang="ko-KR" sz="1600" b="1">
                <a:cs typeface="Times New Roman" panose="02020603050405020304" pitchFamily="18" charset="0"/>
              </a:rPr>
              <a:t>ERROR!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 int &amp;ref2=10;    </a:t>
            </a:r>
            <a:r>
              <a:rPr lang="en-US" altLang="ja-JP" sz="1600" b="1">
                <a:cs typeface="Times New Roman" panose="02020603050405020304" pitchFamily="18" charset="0"/>
              </a:rPr>
              <a:t>	</a:t>
            </a:r>
            <a:r>
              <a:rPr lang="en-US" altLang="ko-KR" sz="1600" b="1">
                <a:cs typeface="Times New Roman" panose="02020603050405020304" pitchFamily="18" charset="0"/>
              </a:rPr>
              <a:t>// </a:t>
            </a:r>
            <a:r>
              <a:rPr lang="ko-KR" altLang="en-US" sz="1600" b="1">
                <a:cs typeface="Times New Roman" panose="02020603050405020304" pitchFamily="18" charset="0"/>
              </a:rPr>
              <a:t>상수가 올 수 없으므로 </a:t>
            </a:r>
            <a:r>
              <a:rPr lang="en-US" altLang="ko-KR" sz="1600" b="1">
                <a:cs typeface="Times New Roman" panose="02020603050405020304" pitchFamily="18" charset="0"/>
              </a:rPr>
              <a:t>ERROR!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 int val=10;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 ref1=val;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 . . . . .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E8BC260D-22A3-EB54-813A-4BC933CFC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56499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2-3  </a:t>
            </a:r>
            <a:r>
              <a:rPr lang="ko-KR" altLang="en-US" sz="2800" b="1"/>
              <a:t>레퍼런스</a:t>
            </a:r>
            <a:r>
              <a:rPr lang="en-US" altLang="ko-KR" sz="2800" b="1"/>
              <a:t>(Reference)</a:t>
            </a:r>
            <a:r>
              <a:rPr lang="ko-KR" altLang="en-US" sz="2800" b="1"/>
              <a:t>의 이해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ACA9731-E7F1-50A6-FD0F-D1A63E82D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488" y="188913"/>
            <a:ext cx="3670300" cy="51911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2-4  </a:t>
            </a:r>
            <a:r>
              <a:rPr lang="ko-KR" altLang="en-US" sz="2800" b="1"/>
              <a:t>레퍼런스와 함수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D43F56F-F621-AC87-BFE6-2226274E3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7772400" cy="247808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포인터를 이용한 </a:t>
            </a:r>
            <a:r>
              <a:rPr lang="en-US" altLang="ko-KR" sz="2800" b="1"/>
              <a:t>Call-By-Reference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함수 외부에 선언된 변수의 접근이 가능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포인터 연산에 의해서 가능한 것이다</a:t>
            </a:r>
            <a:r>
              <a:rPr lang="en-US" altLang="ko-KR" sz="2200" b="1"/>
              <a:t>!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따라서 포인터 연산의 위험성 존재</a:t>
            </a:r>
            <a:r>
              <a:rPr lang="en-US" altLang="ko-KR" sz="2200" b="1"/>
              <a:t>!</a:t>
            </a:r>
          </a:p>
          <a:p>
            <a:pPr lvl="1">
              <a:lnSpc>
                <a:spcPct val="120000"/>
              </a:lnSpc>
            </a:pPr>
            <a:r>
              <a:rPr lang="en-US" altLang="ko-KR" sz="2200" b="1"/>
              <a:t>swap1.cpp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756CF071-74F6-4810-7B02-143B58467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3894138"/>
            <a:ext cx="5616575" cy="234315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void swap(int *a, int *b)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{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 int temp=*a;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 a++;  </a:t>
            </a:r>
            <a:r>
              <a:rPr lang="en-US" altLang="ja-JP" sz="1600" b="1">
                <a:cs typeface="Times New Roman" panose="02020603050405020304" pitchFamily="18" charset="0"/>
              </a:rPr>
              <a:t>	</a:t>
            </a:r>
            <a:r>
              <a:rPr lang="en-US" altLang="ko-KR" sz="1600" b="1">
                <a:cs typeface="Times New Roman" panose="02020603050405020304" pitchFamily="18" charset="0"/>
              </a:rPr>
              <a:t> //</a:t>
            </a:r>
            <a:r>
              <a:rPr lang="ko-KR" altLang="en-US" sz="1600" b="1">
                <a:cs typeface="Times New Roman" panose="02020603050405020304" pitchFamily="18" charset="0"/>
              </a:rPr>
              <a:t>잘못 들어간 코드</a:t>
            </a:r>
          </a:p>
          <a:p>
            <a:pPr>
              <a:lnSpc>
                <a:spcPct val="120000"/>
              </a:lnSpc>
            </a:pPr>
            <a:r>
              <a:rPr lang="ko-KR" altLang="en-US" sz="1600" b="1">
                <a:cs typeface="Times New Roman" panose="02020603050405020304" pitchFamily="18" charset="0"/>
              </a:rPr>
              <a:t>      *</a:t>
            </a:r>
            <a:r>
              <a:rPr lang="en-US" altLang="ko-KR" sz="1600" b="1">
                <a:cs typeface="Times New Roman" panose="02020603050405020304" pitchFamily="18" charset="0"/>
              </a:rPr>
              <a:t>a=*b;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 *b=temp;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33477ED7-DCC9-D253-904D-3CC5689DBE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04913"/>
            <a:ext cx="7772400" cy="230187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800" b="1"/>
              <a:t>레퍼런스를 이용한 </a:t>
            </a:r>
            <a:r>
              <a:rPr lang="en-US" altLang="ko-KR" sz="2800" b="1"/>
              <a:t>Call-By-Reference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함수 외부에 선언된 변수의 접근이 가능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포인터 연산을 할 필요가 없으므로 보다 안정적이다</a:t>
            </a:r>
          </a:p>
          <a:p>
            <a:pPr lvl="1">
              <a:lnSpc>
                <a:spcPct val="110000"/>
              </a:lnSpc>
            </a:pPr>
            <a:r>
              <a:rPr lang="ko-KR" altLang="en-US" sz="2200" b="1"/>
              <a:t>함수의 호출 형태를 구분하기 어렵다</a:t>
            </a:r>
            <a:r>
              <a:rPr lang="en-US" altLang="ko-KR" sz="2200" b="1"/>
              <a:t>!</a:t>
            </a:r>
          </a:p>
          <a:p>
            <a:pPr lvl="1">
              <a:lnSpc>
                <a:spcPct val="110000"/>
              </a:lnSpc>
            </a:pPr>
            <a:r>
              <a:rPr lang="en-US" altLang="ko-KR" sz="2200" b="1"/>
              <a:t>swap2.cpp</a:t>
            </a: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B983C146-C33B-57CA-CB02-708BD9A71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188913"/>
            <a:ext cx="36703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2-4  </a:t>
            </a:r>
            <a:r>
              <a:rPr lang="ko-KR" altLang="en-US" sz="2800" b="1"/>
              <a:t>레퍼런스와 함수</a:t>
            </a:r>
          </a:p>
        </p:txBody>
      </p:sp>
      <p:pic>
        <p:nvPicPr>
          <p:cNvPr id="11271" name="Picture 7">
            <a:extLst>
              <a:ext uri="{FF2B5EF4-FFF2-40B4-BE49-F238E27FC236}">
                <a16:creationId xmlns:a16="http://schemas.microsoft.com/office/drawing/2014/main" id="{E2F63BA8-FF61-9967-CB46-4E730B703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638" y="3681413"/>
            <a:ext cx="4276725" cy="270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2" name="Rectangle 8">
            <a:extLst>
              <a:ext uri="{FF2B5EF4-FFF2-40B4-BE49-F238E27FC236}">
                <a16:creationId xmlns:a16="http://schemas.microsoft.com/office/drawing/2014/main" id="{76FBDB77-9045-348E-B0C5-053F4D65F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6057900"/>
            <a:ext cx="1089025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800" b="1"/>
              <a:t>그림 </a:t>
            </a:r>
            <a:r>
              <a:rPr lang="en-US" altLang="ko-KR" sz="1800" b="1"/>
              <a:t>2-</a:t>
            </a:r>
            <a:r>
              <a:rPr lang="en-US" altLang="ja-JP" sz="1800" b="1"/>
              <a:t>6</a:t>
            </a:r>
            <a:endParaRPr lang="en-US" altLang="ko-KR" sz="18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E213533-76CE-C466-13BF-35C314394B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1413" y="188913"/>
            <a:ext cx="6046787" cy="51911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2-5  </a:t>
            </a:r>
            <a:r>
              <a:rPr lang="ko-KR" altLang="en-US" sz="2800" b="1"/>
              <a:t>레퍼런스를 이용한 성능의 향상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4AC70D7-2D82-0614-27CB-DE36295CF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7772400" cy="470852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부담스러운 </a:t>
            </a:r>
            <a:r>
              <a:rPr lang="en-US" altLang="ko-KR" sz="2800" b="1"/>
              <a:t>Call-By-Value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함수 호출 시 인자 전달 과정에서 발생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데이터를 복사하는 과정에서 발생</a:t>
            </a:r>
          </a:p>
          <a:p>
            <a:pPr lvl="1">
              <a:lnSpc>
                <a:spcPct val="120000"/>
              </a:lnSpc>
            </a:pPr>
            <a:endParaRPr lang="ko-KR" altLang="en-US" sz="2400" b="1"/>
          </a:p>
          <a:p>
            <a:pPr>
              <a:lnSpc>
                <a:spcPct val="120000"/>
              </a:lnSpc>
            </a:pPr>
            <a:r>
              <a:rPr lang="ko-KR" altLang="en-US" sz="2800" b="1"/>
              <a:t>대신할 수 있는 </a:t>
            </a:r>
            <a:r>
              <a:rPr lang="en-US" altLang="ko-KR" sz="2800" b="1"/>
              <a:t>Call-By-Reference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전달되는 인자를 레퍼런스로 받으면</a:t>
            </a:r>
            <a:r>
              <a:rPr lang="en-US" altLang="ko-KR" sz="2400" b="1"/>
              <a:t>, </a:t>
            </a:r>
            <a:r>
              <a:rPr lang="ko-KR" altLang="en-US" sz="2400" b="1"/>
              <a:t>데이터의 </a:t>
            </a:r>
            <a:br>
              <a:rPr lang="ko-KR" altLang="ja-JP" sz="2400" b="1"/>
            </a:br>
            <a:r>
              <a:rPr lang="ko-KR" altLang="en-US" sz="2400" b="1"/>
              <a:t>복사 연산이 필요 없다</a:t>
            </a:r>
            <a:r>
              <a:rPr lang="en-US" altLang="ko-KR" sz="2400" b="1"/>
              <a:t>.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원본 데이터의 손실 예상</a:t>
            </a:r>
            <a:r>
              <a:rPr lang="en-US" altLang="ko-KR" sz="2400" b="1"/>
              <a:t>! const </a:t>
            </a:r>
            <a:r>
              <a:rPr lang="ko-KR" altLang="en-US" sz="2400" b="1"/>
              <a:t>선언</a:t>
            </a:r>
            <a:r>
              <a:rPr lang="en-US" altLang="ko-KR" sz="2400" b="1"/>
              <a:t>!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reffunc.cpp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E59B2FFC-3D04-0631-8A7E-2DE47562A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25" y="1412875"/>
            <a:ext cx="5364163" cy="1277938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void ShowData(Person p)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{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cout&lt;&lt;"******* </a:t>
            </a:r>
            <a:r>
              <a:rPr lang="ko-KR" altLang="en-US" sz="1200" b="1">
                <a:cs typeface="Times New Roman" panose="02020603050405020304" pitchFamily="18" charset="0"/>
              </a:rPr>
              <a:t>개인 정보 출력 *******</a:t>
            </a:r>
            <a:r>
              <a:rPr lang="en-US" altLang="ko-KR" sz="1200" b="1">
                <a:cs typeface="Times New Roman" panose="02020603050405020304" pitchFamily="18" charset="0"/>
              </a:rPr>
              <a:t>"&lt;&lt;endl;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. . . . . </a:t>
            </a:r>
            <a:r>
              <a:rPr lang="ko-KR" altLang="en-US" sz="1200" b="1">
                <a:cs typeface="Times New Roman" panose="02020603050405020304" pitchFamily="18" charset="0"/>
              </a:rPr>
              <a:t>생        략 </a:t>
            </a:r>
            <a:r>
              <a:rPr lang="en-US" altLang="ko-KR" sz="1200" b="1">
                <a:cs typeface="Times New Roman" panose="02020603050405020304" pitchFamily="18" charset="0"/>
              </a:rPr>
              <a:t>. . . . .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}</a:t>
            </a:r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52C16881-98AD-6579-2EC7-36D980C2D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25" y="3321050"/>
            <a:ext cx="5364163" cy="1277938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void ShowData(Person&amp; p)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{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cout&lt;&lt;"******* </a:t>
            </a:r>
            <a:r>
              <a:rPr lang="ko-KR" altLang="en-US" sz="1200" b="1">
                <a:cs typeface="Times New Roman" panose="02020603050405020304" pitchFamily="18" charset="0"/>
              </a:rPr>
              <a:t>개인 정보 출력 *******</a:t>
            </a:r>
            <a:r>
              <a:rPr lang="en-US" altLang="ko-KR" sz="1200" b="1">
                <a:cs typeface="Times New Roman" panose="02020603050405020304" pitchFamily="18" charset="0"/>
              </a:rPr>
              <a:t>"&lt;&lt;endl;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. . . . . </a:t>
            </a:r>
            <a:r>
              <a:rPr lang="ko-KR" altLang="en-US" sz="1200" b="1">
                <a:cs typeface="Times New Roman" panose="02020603050405020304" pitchFamily="18" charset="0"/>
              </a:rPr>
              <a:t>생        략 </a:t>
            </a:r>
            <a:r>
              <a:rPr lang="en-US" altLang="ko-KR" sz="1200" b="1">
                <a:cs typeface="Times New Roman" panose="02020603050405020304" pitchFamily="18" charset="0"/>
              </a:rPr>
              <a:t>. . . . .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}</a:t>
            </a:r>
          </a:p>
        </p:txBody>
      </p:sp>
      <p:sp>
        <p:nvSpPr>
          <p:cNvPr id="13320" name="Rectangle 8">
            <a:extLst>
              <a:ext uri="{FF2B5EF4-FFF2-40B4-BE49-F238E27FC236}">
                <a16:creationId xmlns:a16="http://schemas.microsoft.com/office/drawing/2014/main" id="{44606D70-CB37-074D-D861-315D7A930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25" y="5229225"/>
            <a:ext cx="5364163" cy="1277938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void ShowData(const Person&amp; p)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{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cout&lt;&lt;"******* </a:t>
            </a:r>
            <a:r>
              <a:rPr lang="ko-KR" altLang="en-US" sz="1200" b="1">
                <a:cs typeface="Times New Roman" panose="02020603050405020304" pitchFamily="18" charset="0"/>
              </a:rPr>
              <a:t>개인 정보 출력 *******</a:t>
            </a:r>
            <a:r>
              <a:rPr lang="en-US" altLang="ko-KR" sz="1200" b="1">
                <a:cs typeface="Times New Roman" panose="02020603050405020304" pitchFamily="18" charset="0"/>
              </a:rPr>
              <a:t>"&lt;&lt;endl;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  . . . . . </a:t>
            </a:r>
            <a:r>
              <a:rPr lang="ko-KR" altLang="en-US" sz="1200" b="1">
                <a:cs typeface="Times New Roman" panose="02020603050405020304" pitchFamily="18" charset="0"/>
              </a:rPr>
              <a:t>생        략 </a:t>
            </a:r>
            <a:r>
              <a:rPr lang="en-US" altLang="ko-KR" sz="1200" b="1">
                <a:cs typeface="Times New Roman" panose="02020603050405020304" pitchFamily="18" charset="0"/>
              </a:rPr>
              <a:t>. . . . .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}</a:t>
            </a:r>
          </a:p>
        </p:txBody>
      </p:sp>
      <p:sp>
        <p:nvSpPr>
          <p:cNvPr id="13321" name="AutoShape 9">
            <a:extLst>
              <a:ext uri="{FF2B5EF4-FFF2-40B4-BE49-F238E27FC236}">
                <a16:creationId xmlns:a16="http://schemas.microsoft.com/office/drawing/2014/main" id="{A9BAF2A9-249A-85EA-C59C-2595354E2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2809875"/>
            <a:ext cx="381000" cy="381000"/>
          </a:xfrm>
          <a:prstGeom prst="downArrow">
            <a:avLst>
              <a:gd name="adj1" fmla="val 45000"/>
              <a:gd name="adj2" fmla="val 45000"/>
            </a:avLst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ko-KR" altLang="en-US"/>
          </a:p>
        </p:txBody>
      </p:sp>
      <p:sp>
        <p:nvSpPr>
          <p:cNvPr id="13325" name="Rectangle 13">
            <a:extLst>
              <a:ext uri="{FF2B5EF4-FFF2-40B4-BE49-F238E27FC236}">
                <a16:creationId xmlns:a16="http://schemas.microsoft.com/office/drawing/2014/main" id="{87163758-30D9-D7AE-FC92-CD2D06E44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188913"/>
            <a:ext cx="60467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2-5  </a:t>
            </a:r>
            <a:r>
              <a:rPr lang="ko-KR" altLang="en-US" sz="2800" b="1"/>
              <a:t>레퍼런스를 이용한 성능의 향상</a:t>
            </a:r>
          </a:p>
        </p:txBody>
      </p:sp>
      <p:sp>
        <p:nvSpPr>
          <p:cNvPr id="13327" name="AutoShape 15">
            <a:extLst>
              <a:ext uri="{FF2B5EF4-FFF2-40B4-BE49-F238E27FC236}">
                <a16:creationId xmlns:a16="http://schemas.microsoft.com/office/drawing/2014/main" id="{36022CD6-29A7-0BB6-9609-B0C2BE27D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4724400"/>
            <a:ext cx="381000" cy="381000"/>
          </a:xfrm>
          <a:prstGeom prst="downArrow">
            <a:avLst>
              <a:gd name="adj1" fmla="val 45000"/>
              <a:gd name="adj2" fmla="val 45000"/>
            </a:avLst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0A8327E-56C9-78A1-F8C6-EBC90A3AD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488" y="225425"/>
            <a:ext cx="6407150" cy="5191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2-6  </a:t>
            </a:r>
            <a:r>
              <a:rPr lang="ko-KR" altLang="en-US" sz="2800" b="1"/>
              <a:t>레퍼런스를 리턴하는 함수의 정의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25A2ACE0-CE4A-73AA-7E37-D29AD914E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097088"/>
            <a:ext cx="3352800" cy="424815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/*  ref_return.cpp  */</a:t>
            </a:r>
          </a:p>
          <a:p>
            <a:pPr>
              <a:lnSpc>
                <a:spcPct val="120000"/>
              </a:lnSpc>
            </a:pPr>
            <a:endParaRPr lang="en-US" altLang="ko-KR" sz="1200" b="1"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</a:t>
            </a:r>
            <a:r>
              <a:rPr lang="en-US" altLang="ko-KR" sz="1400" b="1">
                <a:cs typeface="Times New Roman" panose="02020603050405020304" pitchFamily="18" charset="0"/>
              </a:rPr>
              <a:t>int&amp;</a:t>
            </a:r>
            <a:r>
              <a:rPr lang="en-US" altLang="ko-KR" sz="1200" b="1">
                <a:cs typeface="Times New Roman" panose="02020603050405020304" pitchFamily="18" charset="0"/>
              </a:rPr>
              <a:t> increment(int </a:t>
            </a:r>
            <a:r>
              <a:rPr lang="en-US" altLang="ko-KR" sz="1400" b="1">
                <a:cs typeface="Times New Roman" panose="02020603050405020304" pitchFamily="18" charset="0"/>
              </a:rPr>
              <a:t>&amp;val</a:t>
            </a:r>
            <a:r>
              <a:rPr lang="en-US" altLang="ko-KR" sz="1200" b="1"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val++;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return val;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}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int main(void)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int n=10;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int &amp;ref=increment(n);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cout&lt;&lt;"n  : "&lt;&lt;n&lt;&lt;endl;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cout&lt;&lt;"ref: "&lt;&lt;ref&lt;&lt;endl;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return 0;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}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62DBDCD1-A366-7275-A589-DBACBDC864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5541963" cy="60483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예제의 분석</a:t>
            </a:r>
            <a:r>
              <a:rPr lang="en-US" altLang="ko-KR" sz="2800" b="1"/>
              <a:t>, </a:t>
            </a:r>
            <a:r>
              <a:rPr lang="ko-KR" altLang="en-US" sz="2800" b="1"/>
              <a:t>이해 그리고 응용</a:t>
            </a:r>
            <a:r>
              <a:rPr lang="en-US" altLang="ko-KR" sz="2800" b="1"/>
              <a:t>!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873DF1AE-295B-25A6-D4DA-03F1E6B9C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388" y="2097088"/>
            <a:ext cx="3352800" cy="424815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/*  ref_error.cpp  */</a:t>
            </a:r>
          </a:p>
          <a:p>
            <a:pPr>
              <a:lnSpc>
                <a:spcPct val="120000"/>
              </a:lnSpc>
            </a:pPr>
            <a:endParaRPr lang="en-US" altLang="ko-KR" sz="1200" b="1"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int&amp; function(void)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int val=10;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return val; 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}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int main(void)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int &amp;ref=function();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   cout&lt;&lt;ref&lt;&lt;endl;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     return 0;</a:t>
            </a:r>
          </a:p>
          <a:p>
            <a:pPr>
              <a:lnSpc>
                <a:spcPct val="120000"/>
              </a:lnSpc>
            </a:pPr>
            <a:r>
              <a:rPr lang="en-US" altLang="ko-KR" sz="1200" b="1">
                <a:cs typeface="Times New Roman" panose="02020603050405020304" pitchFamily="18" charset="0"/>
              </a:rPr>
              <a:t>  }</a:t>
            </a:r>
          </a:p>
          <a:p>
            <a:pPr>
              <a:lnSpc>
                <a:spcPct val="120000"/>
              </a:lnSpc>
            </a:pPr>
            <a:endParaRPr lang="en-US" altLang="ko-KR" sz="1200" b="1"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ko-KR" sz="1200" b="1"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ko-KR" sz="1200" b="1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0524D83-62DF-5F43-0A23-9CB3682195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1413" y="188913"/>
            <a:ext cx="4537075" cy="51911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2-7  </a:t>
            </a:r>
            <a:r>
              <a:rPr lang="en-US" altLang="ko-KR" sz="2800" b="1">
                <a:solidFill>
                  <a:srgbClr val="FF0000"/>
                </a:solidFill>
              </a:rPr>
              <a:t>new</a:t>
            </a:r>
            <a:r>
              <a:rPr lang="en-US" altLang="ko-KR" sz="2800" b="1"/>
              <a:t> &amp; </a:t>
            </a:r>
            <a:r>
              <a:rPr lang="en-US" altLang="ko-KR" sz="2800" b="1">
                <a:solidFill>
                  <a:srgbClr val="FF0000"/>
                </a:solidFill>
              </a:rPr>
              <a:t>delete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85C9495-04BE-5BC1-9E28-331CEB2B65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6478588" cy="11160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b="1"/>
              <a:t>new</a:t>
            </a:r>
            <a:r>
              <a:rPr lang="ko-KR" altLang="en-US" sz="2800" b="1"/>
              <a:t>와 </a:t>
            </a:r>
            <a:r>
              <a:rPr lang="en-US" altLang="ko-KR" sz="2800" b="1"/>
              <a:t>delete </a:t>
            </a:r>
            <a:r>
              <a:rPr lang="ko-KR" altLang="en-US" sz="2800" b="1"/>
              <a:t>연산자의 기본적 기능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malloc_free.cpp, new_delete.cpp</a:t>
            </a:r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8450A7E0-7B5F-5432-F001-DE7859785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673350"/>
            <a:ext cx="3113088" cy="34290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62000" tIns="118800" bIns="190800" anchor="ctr"/>
          <a:lstStyle>
            <a:lvl1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int main(void)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int * val = new int;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int * arr = new int[size];  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. . . . .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   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delete val;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delete []arr;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. . . . .</a:t>
            </a:r>
          </a:p>
        </p:txBody>
      </p:sp>
      <p:sp>
        <p:nvSpPr>
          <p:cNvPr id="15368" name="Rectangle 8">
            <a:extLst>
              <a:ext uri="{FF2B5EF4-FFF2-40B4-BE49-F238E27FC236}">
                <a16:creationId xmlns:a16="http://schemas.microsoft.com/office/drawing/2014/main" id="{2062AD37-9466-16A7-5509-78314A18B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2673350"/>
            <a:ext cx="4608512" cy="34290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62000" tIns="118800" bIns="190800" anchor="ctr"/>
          <a:lstStyle>
            <a:lvl1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500" b="1">
                <a:cs typeface="Times New Roman" panose="02020603050405020304" pitchFamily="18" charset="0"/>
              </a:rPr>
              <a:t> int main(void)</a:t>
            </a:r>
          </a:p>
          <a:p>
            <a:pPr>
              <a:lnSpc>
                <a:spcPct val="120000"/>
              </a:lnSpc>
            </a:pPr>
            <a:r>
              <a:rPr lang="en-US" altLang="ko-KR" sz="1500" b="1">
                <a:cs typeface="Times New Roman" panose="02020603050405020304" pitchFamily="18" charset="0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int * val = (int*)malloc(sizeof(int));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int * arr = (int*)malloc(sizeof(int)* size);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 . . . . .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   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free(val);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free(arr);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. . . . 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>
            <a:extLst>
              <a:ext uri="{FF2B5EF4-FFF2-40B4-BE49-F238E27FC236}">
                <a16:creationId xmlns:a16="http://schemas.microsoft.com/office/drawing/2014/main" id="{0A86E4A8-5E69-3047-F02B-ED655F0F2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3800"/>
            <a:ext cx="8458200" cy="24114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b="1">
                <a:solidFill>
                  <a:srgbClr val="FF0000"/>
                </a:solidFill>
              </a:rPr>
              <a:t>NULL</a:t>
            </a:r>
            <a:r>
              <a:rPr lang="en-US" altLang="ko-KR" sz="2800" b="1"/>
              <a:t> </a:t>
            </a:r>
            <a:r>
              <a:rPr lang="ko-KR" altLang="en-US" sz="2800" b="1"/>
              <a:t>포인터 리턴하는 </a:t>
            </a:r>
            <a:r>
              <a:rPr lang="en-US" altLang="ko-KR" sz="2800" b="1"/>
              <a:t>new </a:t>
            </a:r>
            <a:r>
              <a:rPr lang="ko-KR" altLang="en-US" sz="2800" b="1"/>
              <a:t>연산자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메모리 할당 실패 시 </a:t>
            </a:r>
            <a:r>
              <a:rPr lang="en-US" altLang="ko-KR" sz="2200" b="1"/>
              <a:t>NULL </a:t>
            </a:r>
            <a:r>
              <a:rPr lang="ko-KR" altLang="en-US" sz="2200" b="1"/>
              <a:t>포인터 리턴</a:t>
            </a:r>
            <a:r>
              <a:rPr lang="en-US" altLang="ko-KR" sz="2200" b="1"/>
              <a:t>!</a:t>
            </a:r>
          </a:p>
          <a:p>
            <a:pPr lvl="1">
              <a:lnSpc>
                <a:spcPct val="120000"/>
              </a:lnSpc>
            </a:pPr>
            <a:r>
              <a:rPr lang="ko-KR" altLang="en-US" sz="2200" b="1"/>
              <a:t>새로운 표준에 관한 내용은 </a:t>
            </a:r>
            <a:r>
              <a:rPr lang="en-US" altLang="ko-KR" sz="2200" b="1"/>
              <a:t>"</a:t>
            </a:r>
            <a:r>
              <a:rPr lang="ko-KR" altLang="en-US" sz="2200" b="1"/>
              <a:t>예외 처리</a:t>
            </a:r>
            <a:r>
              <a:rPr lang="en-US" altLang="ko-KR" sz="2200" b="1"/>
              <a:t>"</a:t>
            </a:r>
            <a:r>
              <a:rPr lang="ko-KR" altLang="en-US" sz="2200" b="1"/>
              <a:t>를 통해서 </a:t>
            </a:r>
            <a:br>
              <a:rPr lang="ko-KR" altLang="en-US" sz="2200" b="1"/>
            </a:br>
            <a:r>
              <a:rPr lang="ko-KR" altLang="en-US" sz="2200" b="1"/>
              <a:t>다시 언급</a:t>
            </a:r>
            <a:r>
              <a:rPr lang="en-US" altLang="ko-KR" sz="2200" b="1"/>
              <a:t>!</a:t>
            </a:r>
          </a:p>
          <a:p>
            <a:pPr lvl="1">
              <a:lnSpc>
                <a:spcPct val="120000"/>
              </a:lnSpc>
            </a:pPr>
            <a:r>
              <a:rPr lang="en-US" altLang="ko-KR" sz="2200" b="1"/>
              <a:t>NULL_new.cpp, Debug_new.cpp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5662212E-33EA-7349-BA9C-89EAB95B8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3824288"/>
            <a:ext cx="6469063" cy="223837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62000" tIns="118800" bIns="190800" anchor="ctr"/>
          <a:lstStyle>
            <a:lvl1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2333625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int* arr=new int[size];						// </a:t>
            </a:r>
            <a:r>
              <a:rPr lang="ko-KR" altLang="en-US" sz="1600" b="1">
                <a:cs typeface="Times New Roman" panose="02020603050405020304" pitchFamily="18" charset="0"/>
              </a:rPr>
              <a:t>배열의 동적 할당</a:t>
            </a:r>
          </a:p>
          <a:p>
            <a:pPr>
              <a:lnSpc>
                <a:spcPct val="120000"/>
              </a:lnSpc>
            </a:pPr>
            <a:r>
              <a:rPr lang="ko-KR" altLang="en-US" sz="1600" b="1">
                <a:cs typeface="Times New Roman" panose="02020603050405020304" pitchFamily="18" charset="0"/>
              </a:rPr>
              <a:t>   </a:t>
            </a:r>
            <a:r>
              <a:rPr lang="en-US" altLang="ko-KR" sz="1800" b="1">
                <a:cs typeface="Times New Roman" panose="02020603050405020304" pitchFamily="18" charset="0"/>
              </a:rPr>
              <a:t>if(arr==NULL)</a:t>
            </a:r>
            <a:r>
              <a:rPr lang="en-US" altLang="ko-KR" sz="1600" b="1">
                <a:cs typeface="Times New Roman" panose="02020603050405020304" pitchFamily="18" charset="0"/>
              </a:rPr>
              <a:t>     						// </a:t>
            </a:r>
            <a:r>
              <a:rPr lang="ko-KR" altLang="en-US" sz="1600" b="1">
                <a:cs typeface="Times New Roman" panose="02020603050405020304" pitchFamily="18" charset="0"/>
              </a:rPr>
              <a:t>동적 할당 검사</a:t>
            </a:r>
          </a:p>
          <a:p>
            <a:pPr>
              <a:lnSpc>
                <a:spcPct val="120000"/>
              </a:lnSpc>
            </a:pPr>
            <a:r>
              <a:rPr lang="ko-KR" altLang="en-US" sz="1600" b="1">
                <a:cs typeface="Times New Roman" panose="02020603050405020304" pitchFamily="18" charset="0"/>
              </a:rPr>
              <a:t>   </a:t>
            </a:r>
            <a:r>
              <a:rPr lang="en-US" altLang="ko-KR" sz="16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  cout&lt;&lt;"</a:t>
            </a:r>
            <a:r>
              <a:rPr lang="ko-KR" altLang="en-US" sz="1600" b="1">
                <a:cs typeface="Times New Roman" panose="02020603050405020304" pitchFamily="18" charset="0"/>
              </a:rPr>
              <a:t>메모리 할당 실패</a:t>
            </a:r>
            <a:r>
              <a:rPr lang="en-US" altLang="ko-KR" sz="1600" b="1">
                <a:cs typeface="Times New Roman" panose="02020603050405020304" pitchFamily="18" charset="0"/>
              </a:rPr>
              <a:t>"&lt;&lt;endl;</a:t>
            </a:r>
          </a:p>
          <a:p>
            <a:pPr>
              <a:lnSpc>
                <a:spcPct val="120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       return -1;  						//</a:t>
            </a:r>
            <a:r>
              <a:rPr lang="ko-KR" altLang="en-US" sz="1600" b="1">
                <a:cs typeface="Times New Roman" panose="02020603050405020304" pitchFamily="18" charset="0"/>
              </a:rPr>
              <a:t>프로그램 종료</a:t>
            </a:r>
          </a:p>
          <a:p>
            <a:pPr>
              <a:lnSpc>
                <a:spcPct val="120000"/>
              </a:lnSpc>
            </a:pPr>
            <a:r>
              <a:rPr lang="ko-KR" altLang="en-US" sz="1600" b="1">
                <a:cs typeface="Times New Roman" panose="02020603050405020304" pitchFamily="18" charset="0"/>
              </a:rPr>
              <a:t>   </a:t>
            </a:r>
            <a:r>
              <a:rPr lang="en-US" altLang="ko-KR" sz="1600" b="1"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4E7D82D8-3DEF-2BC6-351C-7EA174DC1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188913"/>
            <a:ext cx="47894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2-7  new &amp; delete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1034</Words>
  <Application>Microsoft Office PowerPoint</Application>
  <PresentationFormat>화면 슬라이드 쇼(4:3)</PresentationFormat>
  <Paragraphs>193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나눔바른고딕</vt:lpstr>
      <vt:lpstr>Times New Roman</vt:lpstr>
      <vt:lpstr>가을체</vt:lpstr>
      <vt:lpstr>Arial</vt:lpstr>
      <vt:lpstr>굴림</vt:lpstr>
      <vt:lpstr>기본 디자인</vt:lpstr>
      <vt:lpstr>2장. C 기반의 C++ 2</vt:lpstr>
      <vt:lpstr>2-1  들어가기에 앞서서</vt:lpstr>
      <vt:lpstr>PowerPoint 프레젠테이션</vt:lpstr>
      <vt:lpstr>2-2  자료형 bool</vt:lpstr>
      <vt:lpstr>2-3  레퍼런스(Reference)의 이해</vt:lpstr>
      <vt:lpstr>PowerPoint 프레젠테이션</vt:lpstr>
      <vt:lpstr>PowerPoint 프레젠테이션</vt:lpstr>
      <vt:lpstr>PowerPoint 프레젠테이션</vt:lpstr>
      <vt:lpstr>2-4  레퍼런스와 함수</vt:lpstr>
      <vt:lpstr>PowerPoint 프레젠테이션</vt:lpstr>
      <vt:lpstr>2-5  레퍼런스를 이용한 성능의 향상</vt:lpstr>
      <vt:lpstr>PowerPoint 프레젠테이션</vt:lpstr>
      <vt:lpstr>2-6  레퍼런스를 리턴하는 함수의 정의</vt:lpstr>
      <vt:lpstr>2-7  new &amp; delete</vt:lpstr>
      <vt:lpstr>PowerPoint 프레젠테이션</vt:lpstr>
    </vt:vector>
  </TitlesOfParts>
  <Company>yoon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2장. C 기반의 C++ 2</dc:title>
  <dc:creator>yoon</dc:creator>
  <cp:lastModifiedBy>Heesung Oh</cp:lastModifiedBy>
  <cp:revision>20</cp:revision>
  <dcterms:created xsi:type="dcterms:W3CDTF">2004-03-22T17:21:27Z</dcterms:created>
  <dcterms:modified xsi:type="dcterms:W3CDTF">2026-07-14T02:47:18Z</dcterms:modified>
</cp:coreProperties>
</file>