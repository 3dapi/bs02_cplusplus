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embeddedFontLst>
    <p:embeddedFont>
      <p:font typeface="가을체" panose="02030600000101010101" pitchFamily="18" charset="-127"/>
      <p:regular r:id="rId17"/>
    </p:embeddedFont>
    <p:embeddedFont>
      <p:font typeface="나눔바른고딕" panose="020B0603020101020101" pitchFamily="50" charset="-127"/>
      <p:regular r:id="rId18"/>
      <p:bold r:id="rId19"/>
    </p:embeddedFont>
  </p:embeddedFontLst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21">
          <p15:clr>
            <a:srgbClr val="A4A3A4"/>
          </p15:clr>
        </p15:guide>
        <p15:guide id="2" orient="horz" pos="663">
          <p15:clr>
            <a:srgbClr val="A4A3A4"/>
          </p15:clr>
        </p15:guide>
        <p15:guide id="3" orient="horz" pos="890">
          <p15:clr>
            <a:srgbClr val="A4A3A4"/>
          </p15:clr>
        </p15:guide>
        <p15:guide id="4" orient="horz" pos="2863">
          <p15:clr>
            <a:srgbClr val="A4A3A4"/>
          </p15:clr>
        </p15:guide>
        <p15:guide id="5" orient="horz" pos="1911">
          <p15:clr>
            <a:srgbClr val="A4A3A4"/>
          </p15:clr>
        </p15:guide>
        <p15:guide id="6" orient="horz" pos="3589">
          <p15:clr>
            <a:srgbClr val="A4A3A4"/>
          </p15:clr>
        </p15:guide>
        <p15:guide id="7" orient="horz" pos="2500">
          <p15:clr>
            <a:srgbClr val="A4A3A4"/>
          </p15:clr>
        </p15:guide>
        <p15:guide id="8" orient="horz" pos="1480">
          <p15:clr>
            <a:srgbClr val="A4A3A4"/>
          </p15:clr>
        </p15:guide>
        <p15:guide id="9" pos="2880">
          <p15:clr>
            <a:srgbClr val="A4A3A4"/>
          </p15:clr>
        </p15:guide>
        <p15:guide id="10" pos="476">
          <p15:clr>
            <a:srgbClr val="A4A3A4"/>
          </p15:clr>
        </p15:guide>
        <p15:guide id="11" pos="521">
          <p15:clr>
            <a:srgbClr val="A4A3A4"/>
          </p15:clr>
        </p15:guide>
        <p15:guide id="12" pos="703">
          <p15:clr>
            <a:srgbClr val="A4A3A4"/>
          </p15:clr>
        </p15:guide>
        <p15:guide id="13" pos="1587">
          <p15:clr>
            <a:srgbClr val="A4A3A4"/>
          </p15:clr>
        </p15:guide>
        <p15:guide id="14" pos="437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F7E5"/>
    <a:srgbClr val="427D2D"/>
    <a:srgbClr val="A5BC90"/>
    <a:srgbClr val="DDDDDD"/>
    <a:srgbClr val="EAE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396" autoAdjust="0"/>
    <p:restoredTop sz="92102" autoAdjust="0"/>
  </p:normalViewPr>
  <p:slideViewPr>
    <p:cSldViewPr>
      <p:cViewPr varScale="1">
        <p:scale>
          <a:sx n="116" d="100"/>
          <a:sy n="116" d="100"/>
        </p:scale>
        <p:origin x="2112" y="114"/>
      </p:cViewPr>
      <p:guideLst>
        <p:guide orient="horz" pos="1321"/>
        <p:guide orient="horz" pos="663"/>
        <p:guide orient="horz" pos="890"/>
        <p:guide orient="horz" pos="2863"/>
        <p:guide orient="horz" pos="1911"/>
        <p:guide orient="horz" pos="3589"/>
        <p:guide orient="horz" pos="2500"/>
        <p:guide orient="horz" pos="1480"/>
        <p:guide pos="2880"/>
        <p:guide pos="476"/>
        <p:guide pos="521"/>
        <p:guide pos="703"/>
        <p:guide pos="1587"/>
        <p:guide pos="437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C11C94-A4EC-068E-677B-533850706F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BEBD8E3-9EF3-B799-A1D8-DC9B66C8BD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A7812F8-67A9-5D4C-5C03-051155569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55C53EF-5AF3-27A5-1C72-93BD136A6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66DB5AF-5C68-7DA6-C491-FAE501229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D1D9AA-7CF8-468E-8AD6-1E8B7A06F26C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004180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EE6A84-C541-CA20-13D9-3A0FAA21C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BEF3A53-B775-D5AF-077A-72819D61FD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0B53672-C6BA-7B68-FDA9-B7B4CBF16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C5B0471-4E26-5CAF-3D6E-31C2830BA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CF985E3-3D56-A374-E84D-F31CF4D74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61E5AFF-B458-4BCD-A169-844F6DAD2111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0962002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F7296D-F268-8933-35FC-64B5C6271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0EB5F38-E83A-BDA6-3F03-30348530F2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9F7F00B-68F4-BF9B-8D88-2E72F4591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339F4B4-48B7-B00D-69B5-DFFA6DFD2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AA6367F-7C29-D211-AAB4-E634271D1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08E56D8-E560-4BB9-819C-C510062AC8F6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080134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CD7FE7-CDA8-9080-2598-A73A17CD5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8A07D85-3580-ECA4-69CE-C02DFDD048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9A8A2D2-4B36-0ACA-E642-C144CA5495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4378D3F-E585-58B2-3D43-3B93AFE68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4D2820E-82B4-405B-83E7-A26461579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7E91A39-43CC-E864-D3BD-D3349D12E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1EA54BD-201B-4A15-9896-3F409DEAF2DE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909343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60AC7D-DE53-2401-9E52-ACC77925B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492E8A3-F826-93F7-B87F-D040248CFA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8AC3C4A-7B40-EB7C-CECE-745AAF1CEC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E83FD81-2B19-B03D-398D-E874EAA34B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0461695-40D5-BA16-369C-B32017B66D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F77CB34-B32D-1E59-6A59-CFEB7A260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49C545C-98E9-47BD-531F-C265C7928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B256436-67E3-0252-0433-A807F5CAD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F1A665A-CEF0-455D-9750-75290218A887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9328184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FB34FE-CC51-6DFE-AF0C-DEC668FAF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4D0E44E-479C-2891-C78F-48950DA92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DB206F7-3895-AC31-ECCB-FD430C730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7BE922C-0CF4-2437-28D8-BD56413E6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4E3EC74-3D9D-45B1-8C7C-9D8A62C91789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0734702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5E8931C-8615-E148-76D9-A0D4067F8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BA2E88B-08E1-895C-A197-D83E5C9E8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7A9FA9C-76B1-78A3-34DA-9722545C9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0E94E9C-E0A4-4A6C-B485-221FC88E331D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746406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F6FE9E-43B2-90D1-8802-7DDDEBA1B0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042909-2730-5E43-2844-E038274F06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68C8611-45A5-3ABE-901F-D0C4D5EDA5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92D12D9-47EE-FACA-79B6-FBA375ADD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B9602F6-49E4-BFE2-EFD2-3DA370EFF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845CE95-4DAA-AAB2-6CF6-6076B9F5D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26E3F5A-8A8F-497C-9B59-5F045183872D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556265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98826C-BC2E-F56C-BA0A-06A77E72C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5E94B2B-7374-1C60-74AF-A432778152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E2ABBBE-C95B-8674-1FAD-AFAF67BC8A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6CBE6CE-E3CB-FA10-5419-E3634623C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B8ECBEE-55F6-FF9C-B33E-DAB5B500D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21F7660-BD56-3C38-0F5B-58202A837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264C0C8-2B5B-4096-BF79-9A7797784DC0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9427313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FF6746-2580-DB1F-2A32-6E277264A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C0E92F9-592C-A4C2-6C81-92F3C07697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6E7CD88-134B-BD02-5B71-5DB9B7CEC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426EDDA-02BA-96A9-5965-C370D1988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F16ACBB-A461-462F-B930-7A0441B5E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30159E7-9D02-4333-81C7-BADAC516BB86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4762406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8F162A4-F0A5-021A-C136-9D789BFA8C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B1A8DA5-8F00-9FFF-77D8-2AA8F6E565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85E664-6876-FD41-AB95-1601B17334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2154E28-C9ED-21BA-35CD-88807789A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CE14A07-C1F5-B471-E3E5-F8EE6DBC8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33F8DCF-DCD4-4555-BC03-D00973971CC5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0757877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08255417-CA02-BDAA-5AD6-290AEC3ED1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37678F50-08BA-FA9D-706B-A7C1509E28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D76B5953-C649-FFDC-5414-66F8F29ED99E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1">
                <a:latin typeface="+mn-lt"/>
                <a:ea typeface="+mn-ea"/>
              </a:defRPr>
            </a:lvl1pPr>
          </a:lstStyle>
          <a:p>
            <a:endParaRPr lang="en-US" altLang="ko-K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580E3BAC-566F-88C0-494F-94228C60F0CF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1">
                <a:latin typeface="+mn-lt"/>
                <a:ea typeface="+mn-ea"/>
              </a:defRPr>
            </a:lvl1pPr>
          </a:lstStyle>
          <a:p>
            <a:endParaRPr lang="en-US" altLang="ko-K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ECA44569-095A-AC41-DA2D-9DA279B312E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1">
                <a:latin typeface="+mn-lt"/>
                <a:ea typeface="+mn-ea"/>
              </a:defRPr>
            </a:lvl1pPr>
          </a:lstStyle>
          <a:p>
            <a:fld id="{6B3AB22A-7F46-441A-925B-21FA03ACEAA0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 latinLnBrk="1">
        <a:spcBef>
          <a:spcPct val="0"/>
        </a:spcBef>
        <a:spcAft>
          <a:spcPct val="0"/>
        </a:spcAft>
        <a:defRPr kumimoji="1" sz="44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가을체" panose="02030600000101010101" pitchFamily="18" charset="-127"/>
          <a:ea typeface="가을체" panose="02030600000101010101" pitchFamily="18" charset="-127"/>
        </a:defRPr>
      </a:lvl2pPr>
      <a:lvl3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가을체" panose="02030600000101010101" pitchFamily="18" charset="-127"/>
          <a:ea typeface="가을체" panose="02030600000101010101" pitchFamily="18" charset="-127"/>
        </a:defRPr>
      </a:lvl3pPr>
      <a:lvl4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가을체" panose="02030600000101010101" pitchFamily="18" charset="-127"/>
          <a:ea typeface="가을체" panose="02030600000101010101" pitchFamily="18" charset="-127"/>
        </a:defRPr>
      </a:lvl4pPr>
      <a:lvl5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가을체" panose="02030600000101010101" pitchFamily="18" charset="-127"/>
          <a:ea typeface="가을체" panose="02030600000101010101" pitchFamily="18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가을체" panose="02030600000101010101" pitchFamily="18" charset="-127"/>
          <a:ea typeface="가을체" panose="02030600000101010101" pitchFamily="18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가을체" panose="02030600000101010101" pitchFamily="18" charset="-127"/>
          <a:ea typeface="가을체" panose="02030600000101010101" pitchFamily="18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가을체" panose="02030600000101010101" pitchFamily="18" charset="-127"/>
          <a:ea typeface="가을체" panose="02030600000101010101" pitchFamily="18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가을체" panose="02030600000101010101" pitchFamily="18" charset="-127"/>
          <a:ea typeface="가을체" panose="02030600000101010101" pitchFamily="18" charset="-127"/>
        </a:defRPr>
      </a:lvl9pPr>
    </p:titleStyle>
    <p:bodyStyle>
      <a:lvl1pPr marL="342900" indent="-342900" algn="l" rtl="0" fontAlgn="base" latinLnBrk="1">
        <a:spcBef>
          <a:spcPct val="20000"/>
        </a:spcBef>
        <a:spcAft>
          <a:spcPct val="0"/>
        </a:spcAft>
        <a:buChar char="•"/>
        <a:defRPr kumimoji="1" sz="32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 latinLnBrk="1">
        <a:spcBef>
          <a:spcPct val="20000"/>
        </a:spcBef>
        <a:spcAft>
          <a:spcPct val="0"/>
        </a:spcAft>
        <a:buChar char="–"/>
        <a:defRPr kumimoji="1" sz="28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 latinLnBrk="1">
        <a:spcBef>
          <a:spcPct val="20000"/>
        </a:spcBef>
        <a:spcAft>
          <a:spcPct val="0"/>
        </a:spcAft>
        <a:buChar char="•"/>
        <a:defRPr kumimoji="1" sz="24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 latinLnBrk="1">
        <a:spcBef>
          <a:spcPct val="20000"/>
        </a:spcBef>
        <a:spcAft>
          <a:spcPct val="0"/>
        </a:spcAft>
        <a:buChar char="–"/>
        <a:defRPr kumimoji="1" sz="20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012F9A36-BC02-7537-1F01-2EEADEF6E42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857500"/>
            <a:ext cx="7772400" cy="1143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altLang="ko-KR" sz="4800" b="1">
                <a:solidFill>
                  <a:schemeClr val="tx1"/>
                </a:solidFill>
              </a:rPr>
              <a:t>3</a:t>
            </a:r>
            <a:r>
              <a:rPr lang="ko-KR" altLang="en-US" sz="4800" b="1">
                <a:solidFill>
                  <a:schemeClr val="tx1"/>
                </a:solidFill>
              </a:rPr>
              <a:t>장</a:t>
            </a:r>
            <a:r>
              <a:rPr lang="en-US" altLang="ko-KR" sz="4800" b="1">
                <a:solidFill>
                  <a:schemeClr val="tx1"/>
                </a:solidFill>
              </a:rPr>
              <a:t>. </a:t>
            </a:r>
            <a:r>
              <a:rPr lang="ko-KR" altLang="en-US" sz="4800" b="1">
                <a:solidFill>
                  <a:schemeClr val="tx1"/>
                </a:solidFill>
              </a:rPr>
              <a:t>클래스의 기본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496DBEF8-FAAD-A834-3A59-1BDD9E3F2B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11413" y="225425"/>
            <a:ext cx="3670300" cy="519113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ko-KR" sz="2800" b="1"/>
              <a:t>3-1  </a:t>
            </a:r>
            <a:r>
              <a:rPr lang="ko-KR" altLang="en-US" sz="2800" b="1"/>
              <a:t>구조체와 클래스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1E38FE9B-643D-CBA3-C438-171D5C9B11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1187450"/>
            <a:ext cx="8099425" cy="2138363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2800" b="1"/>
              <a:t>구조체의 유용성</a:t>
            </a:r>
          </a:p>
          <a:p>
            <a:pPr lvl="1">
              <a:lnSpc>
                <a:spcPct val="120000"/>
              </a:lnSpc>
            </a:pPr>
            <a:r>
              <a:rPr lang="ko-KR" altLang="en-US" sz="2400" b="1"/>
              <a:t>관련 있는 데이터를 하나의 자료형으로 묶을 수 있다</a:t>
            </a:r>
            <a:r>
              <a:rPr lang="en-US" altLang="ko-KR" sz="2400" b="1"/>
              <a:t>. </a:t>
            </a:r>
          </a:p>
          <a:p>
            <a:pPr lvl="1">
              <a:lnSpc>
                <a:spcPct val="120000"/>
              </a:lnSpc>
            </a:pPr>
            <a:r>
              <a:rPr lang="ko-KR" altLang="en-US" sz="2400" b="1"/>
              <a:t>따라서</a:t>
            </a:r>
            <a:r>
              <a:rPr lang="en-US" altLang="ko-KR" sz="2400" b="1"/>
              <a:t>, </a:t>
            </a:r>
            <a:r>
              <a:rPr lang="ko-KR" altLang="en-US" sz="2400" b="1"/>
              <a:t>프로그램의 구현 및 관리가 용이해진다</a:t>
            </a:r>
            <a:r>
              <a:rPr lang="en-US" altLang="ko-KR" sz="2400" b="1"/>
              <a:t>.</a:t>
            </a:r>
          </a:p>
          <a:p>
            <a:pPr lvl="1">
              <a:lnSpc>
                <a:spcPct val="120000"/>
              </a:lnSpc>
            </a:pPr>
            <a:r>
              <a:rPr lang="ko-KR" altLang="en-US" sz="2400" b="1"/>
              <a:t>함께 움직이는 데이터들을 묶어주는 효과</a:t>
            </a:r>
            <a:r>
              <a:rPr lang="en-US" altLang="ko-KR" sz="2400" b="1"/>
              <a:t>!</a:t>
            </a:r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1FD83B5E-DDC1-4A5C-715B-C0F6ADA092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2413" y="5878513"/>
            <a:ext cx="1016000" cy="358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ko-KR" altLang="en-US" sz="1800" b="1"/>
              <a:t>그림 </a:t>
            </a:r>
            <a:r>
              <a:rPr lang="en-US" altLang="ko-KR" sz="1800" b="1"/>
              <a:t>3-1</a:t>
            </a:r>
          </a:p>
        </p:txBody>
      </p:sp>
      <p:pic>
        <p:nvPicPr>
          <p:cNvPr id="3078" name="Picture 6">
            <a:extLst>
              <a:ext uri="{FF2B5EF4-FFF2-40B4-BE49-F238E27FC236}">
                <a16:creationId xmlns:a16="http://schemas.microsoft.com/office/drawing/2014/main" id="{8B140D9C-7D2A-7F1B-87E7-E06712CC33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3733800"/>
            <a:ext cx="4997450" cy="202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>
            <a:extLst>
              <a:ext uri="{FF2B5EF4-FFF2-40B4-BE49-F238E27FC236}">
                <a16:creationId xmlns:a16="http://schemas.microsoft.com/office/drawing/2014/main" id="{9199F2B1-2F60-D2BA-A941-EFFBCF1A96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1187450"/>
            <a:ext cx="6515100" cy="1627188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2800" b="1"/>
              <a:t>C </a:t>
            </a:r>
            <a:r>
              <a:rPr lang="ko-KR" altLang="en-US" sz="2800" b="1"/>
              <a:t>언어의 구조체에 대한 불만</a:t>
            </a:r>
          </a:p>
          <a:p>
            <a:pPr lvl="1">
              <a:lnSpc>
                <a:spcPct val="120000"/>
              </a:lnSpc>
            </a:pPr>
            <a:r>
              <a:rPr lang="ko-KR" altLang="en-US" sz="2400" b="1"/>
              <a:t>모든 사용자 정의 자료형에 대한 불만</a:t>
            </a:r>
          </a:p>
          <a:p>
            <a:pPr lvl="1">
              <a:lnSpc>
                <a:spcPct val="120000"/>
              </a:lnSpc>
            </a:pPr>
            <a:r>
              <a:rPr lang="ko-KR" altLang="en-US" sz="2400" b="1"/>
              <a:t>기본 자료형으로 인식해 주지 않는다</a:t>
            </a:r>
            <a:r>
              <a:rPr lang="en-US" altLang="ko-KR" sz="2400" b="1"/>
              <a:t>.</a:t>
            </a:r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170C939B-FAFE-BE52-A12F-F5EECC5706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4325" y="2924175"/>
            <a:ext cx="3581400" cy="3505200"/>
          </a:xfrm>
          <a:prstGeom prst="rect">
            <a:avLst/>
          </a:prstGeom>
          <a:solidFill>
            <a:srgbClr val="EDF7E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06000" tIns="118800" bIns="190800" anchor="ctr"/>
          <a:lstStyle>
            <a:lvl1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ko-KR" sz="1400" b="1">
                <a:cs typeface="Times New Roman" panose="02020603050405020304" pitchFamily="18" charset="0"/>
              </a:rPr>
              <a:t> struct Person{</a:t>
            </a:r>
          </a:p>
          <a:p>
            <a:pPr>
              <a:lnSpc>
                <a:spcPct val="120000"/>
              </a:lnSpc>
            </a:pPr>
            <a:r>
              <a:rPr lang="en-US" altLang="ko-KR" sz="1400" b="1">
                <a:cs typeface="Times New Roman" panose="02020603050405020304" pitchFamily="18" charset="0"/>
              </a:rPr>
              <a:t>      int age;</a:t>
            </a:r>
          </a:p>
          <a:p>
            <a:pPr>
              <a:lnSpc>
                <a:spcPct val="120000"/>
              </a:lnSpc>
            </a:pPr>
            <a:r>
              <a:rPr lang="en-US" altLang="ko-KR" sz="1400" b="1">
                <a:cs typeface="Times New Roman" panose="02020603050405020304" pitchFamily="18" charset="0"/>
              </a:rPr>
              <a:t>      char name[10];</a:t>
            </a:r>
          </a:p>
          <a:p>
            <a:pPr>
              <a:lnSpc>
                <a:spcPct val="120000"/>
              </a:lnSpc>
            </a:pPr>
            <a:r>
              <a:rPr lang="en-US" altLang="ko-KR" sz="1400" b="1">
                <a:cs typeface="Times New Roman" panose="02020603050405020304" pitchFamily="18" charset="0"/>
              </a:rPr>
              <a:t> };</a:t>
            </a:r>
          </a:p>
          <a:p>
            <a:pPr>
              <a:lnSpc>
                <a:spcPct val="120000"/>
              </a:lnSpc>
            </a:pPr>
            <a:r>
              <a:rPr lang="en-US" altLang="ko-KR" sz="1400" b="1"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20000"/>
              </a:lnSpc>
            </a:pPr>
            <a:r>
              <a:rPr lang="en-US" altLang="ko-KR" sz="1400" b="1">
                <a:cs typeface="Times New Roman" panose="02020603050405020304" pitchFamily="18" charset="0"/>
              </a:rPr>
              <a:t> int main()</a:t>
            </a:r>
          </a:p>
          <a:p>
            <a:pPr>
              <a:lnSpc>
                <a:spcPct val="120000"/>
              </a:lnSpc>
            </a:pPr>
            <a:r>
              <a:rPr lang="en-US" altLang="ko-KR" sz="1400" b="1">
                <a:cs typeface="Times New Roman" panose="02020603050405020304" pitchFamily="18" charset="0"/>
              </a:rPr>
              <a:t> {</a:t>
            </a:r>
          </a:p>
          <a:p>
            <a:pPr>
              <a:lnSpc>
                <a:spcPct val="120000"/>
              </a:lnSpc>
            </a:pPr>
            <a:r>
              <a:rPr lang="en-US" altLang="ko-KR" sz="1400" b="1">
                <a:cs typeface="Times New Roman" panose="02020603050405020304" pitchFamily="18" charset="0"/>
              </a:rPr>
              <a:t>     int a=10;</a:t>
            </a:r>
          </a:p>
          <a:p>
            <a:pPr>
              <a:lnSpc>
                <a:spcPct val="120000"/>
              </a:lnSpc>
            </a:pPr>
            <a:r>
              <a:rPr lang="en-US" altLang="ko-KR" sz="1400" b="1">
                <a:cs typeface="Times New Roman" panose="02020603050405020304" pitchFamily="18" charset="0"/>
              </a:rPr>
              <a:t>     </a:t>
            </a:r>
            <a:r>
              <a:rPr lang="en-US" altLang="ko-KR" sz="1600" b="1">
                <a:cs typeface="Times New Roman" panose="02020603050405020304" pitchFamily="18" charset="0"/>
              </a:rPr>
              <a:t>Person p;</a:t>
            </a:r>
            <a:r>
              <a:rPr lang="en-US" altLang="ko-KR" sz="1400" b="1">
                <a:cs typeface="Times New Roman" panose="02020603050405020304" pitchFamily="18" charset="0"/>
              </a:rPr>
              <a:t>    // struct Person p;</a:t>
            </a:r>
          </a:p>
          <a:p>
            <a:pPr>
              <a:lnSpc>
                <a:spcPct val="120000"/>
              </a:lnSpc>
            </a:pPr>
            <a:r>
              <a:rPr lang="en-US" altLang="ko-KR" sz="1400" b="1"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20000"/>
              </a:lnSpc>
            </a:pPr>
            <a:r>
              <a:rPr lang="en-US" altLang="ko-KR" sz="1400" b="1">
                <a:cs typeface="Times New Roman" panose="02020603050405020304" pitchFamily="18" charset="0"/>
              </a:rPr>
              <a:t>     return 0;</a:t>
            </a:r>
          </a:p>
          <a:p>
            <a:pPr>
              <a:lnSpc>
                <a:spcPct val="120000"/>
              </a:lnSpc>
            </a:pPr>
            <a:r>
              <a:rPr lang="en-US" altLang="ko-KR" sz="1400" b="1">
                <a:cs typeface="Times New Roman" panose="02020603050405020304" pitchFamily="18" charset="0"/>
              </a:rPr>
              <a:t> }</a:t>
            </a:r>
          </a:p>
        </p:txBody>
      </p:sp>
      <p:sp>
        <p:nvSpPr>
          <p:cNvPr id="4101" name="AutoShape 5">
            <a:extLst>
              <a:ext uri="{FF2B5EF4-FFF2-40B4-BE49-F238E27FC236}">
                <a16:creationId xmlns:a16="http://schemas.microsoft.com/office/drawing/2014/main" id="{ED045F64-3A56-D98C-9E77-ADC06C4B6A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4163" y="3176588"/>
            <a:ext cx="1944687" cy="1152525"/>
          </a:xfrm>
          <a:prstGeom prst="wedgeEllipseCallout">
            <a:avLst>
              <a:gd name="adj1" fmla="val -76287"/>
              <a:gd name="adj2" fmla="val 44903"/>
            </a:avLst>
          </a:prstGeom>
          <a:solidFill>
            <a:srgbClr val="427D2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/>
          <a:p>
            <a:pPr algn="ctr"/>
            <a:r>
              <a:rPr lang="en-US" altLang="ko-KR" sz="1400" b="1">
                <a:solidFill>
                  <a:schemeClr val="bg1"/>
                </a:solidFill>
              </a:rPr>
              <a:t>C++</a:t>
            </a:r>
            <a:r>
              <a:rPr lang="ko-KR" altLang="en-US" sz="1400" b="1">
                <a:solidFill>
                  <a:schemeClr val="bg1"/>
                </a:solidFill>
              </a:rPr>
              <a:t>의 철학과 </a:t>
            </a:r>
            <a:br>
              <a:rPr lang="ko-KR" altLang="ja-JP" sz="1400" b="1">
                <a:solidFill>
                  <a:schemeClr val="bg1"/>
                </a:solidFill>
              </a:rPr>
            </a:br>
            <a:r>
              <a:rPr lang="ko-KR" altLang="en-US" sz="1400" b="1">
                <a:solidFill>
                  <a:schemeClr val="bg1"/>
                </a:solidFill>
              </a:rPr>
              <a:t>맞물리면</a:t>
            </a:r>
            <a:r>
              <a:rPr lang="en-US" altLang="ko-KR" sz="1400" b="1">
                <a:solidFill>
                  <a:schemeClr val="bg1"/>
                </a:solidFill>
              </a:rPr>
              <a:t>?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ED04054B-BF6E-0010-20B2-B52128C64C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1413" y="225425"/>
            <a:ext cx="36703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l"/>
            <a:r>
              <a:rPr lang="en-US" altLang="ko-KR" sz="2800" b="1" dirty="0">
                <a:latin typeface="+mn-ea"/>
                <a:ea typeface="+mn-ea"/>
              </a:rPr>
              <a:t>3-1  </a:t>
            </a:r>
            <a:r>
              <a:rPr lang="ko-KR" altLang="en-US" sz="2800" b="1" dirty="0">
                <a:latin typeface="+mn-ea"/>
                <a:ea typeface="+mn-ea"/>
              </a:rPr>
              <a:t>구조체와 클래스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3">
            <a:extLst>
              <a:ext uri="{FF2B5EF4-FFF2-40B4-BE49-F238E27FC236}">
                <a16:creationId xmlns:a16="http://schemas.microsoft.com/office/drawing/2014/main" id="{FFA6EB14-53F7-20A4-C0B9-1612447BE8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1196975"/>
            <a:ext cx="7772400" cy="2576513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2800" b="1"/>
              <a:t>함수를 넣으면 좋은 구조체</a:t>
            </a:r>
          </a:p>
          <a:p>
            <a:pPr lvl="1">
              <a:lnSpc>
                <a:spcPct val="120000"/>
              </a:lnSpc>
            </a:pPr>
            <a:r>
              <a:rPr lang="ko-KR" altLang="en-US" sz="2400" b="1"/>
              <a:t>프로그램</a:t>
            </a:r>
            <a:r>
              <a:rPr lang="en-US" altLang="ko-KR" sz="2400" b="1"/>
              <a:t>=</a:t>
            </a:r>
            <a:r>
              <a:rPr lang="ko-KR" altLang="en-US" sz="2400" b="1"/>
              <a:t>데이터</a:t>
            </a:r>
            <a:r>
              <a:rPr lang="en-US" altLang="ko-KR" sz="2400" b="1"/>
              <a:t>+</a:t>
            </a:r>
            <a:r>
              <a:rPr lang="ko-KR" altLang="en-US" sz="2400" b="1"/>
              <a:t>데이터 조작 루틴</a:t>
            </a:r>
            <a:r>
              <a:rPr lang="en-US" altLang="ko-KR" sz="2400" b="1"/>
              <a:t>(</a:t>
            </a:r>
            <a:r>
              <a:rPr lang="ko-KR" altLang="en-US" sz="2400" b="1"/>
              <a:t>함수</a:t>
            </a:r>
            <a:r>
              <a:rPr lang="en-US" altLang="ko-KR" sz="2400" b="1"/>
              <a:t>)</a:t>
            </a:r>
          </a:p>
          <a:p>
            <a:pPr lvl="1">
              <a:lnSpc>
                <a:spcPct val="120000"/>
              </a:lnSpc>
            </a:pPr>
            <a:r>
              <a:rPr lang="ko-KR" altLang="en-US" sz="2400" b="1"/>
              <a:t>잘 구성된 프로그램은 데이터와 더불어 함수들도 부류를 형성</a:t>
            </a:r>
          </a:p>
          <a:p>
            <a:pPr lvl="1">
              <a:lnSpc>
                <a:spcPct val="120000"/>
              </a:lnSpc>
            </a:pPr>
            <a:r>
              <a:rPr lang="en-US" altLang="ko-KR" sz="2400" b="1"/>
              <a:t>oo1.cpp, oo2.cpp, oo3.cpp</a:t>
            </a:r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A351A227-102C-D182-A713-6EA1AE4A73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1613" y="6200775"/>
            <a:ext cx="1119187" cy="403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ko-KR" altLang="en-US" sz="1800" b="1"/>
              <a:t>그림 </a:t>
            </a:r>
            <a:r>
              <a:rPr lang="en-US" altLang="ko-KR" sz="1800" b="1"/>
              <a:t>3-4</a:t>
            </a:r>
          </a:p>
        </p:txBody>
      </p:sp>
      <p:sp>
        <p:nvSpPr>
          <p:cNvPr id="5126" name="Rectangle 6">
            <a:extLst>
              <a:ext uri="{FF2B5EF4-FFF2-40B4-BE49-F238E27FC236}">
                <a16:creationId xmlns:a16="http://schemas.microsoft.com/office/drawing/2014/main" id="{2A136DE0-6774-6F88-279F-D21819B463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1413" y="225425"/>
            <a:ext cx="36703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l"/>
            <a:r>
              <a:rPr lang="en-US" altLang="ko-KR" sz="2800" b="1" dirty="0">
                <a:latin typeface="+mn-ea"/>
                <a:ea typeface="+mn-ea"/>
              </a:rPr>
              <a:t>3-1  </a:t>
            </a:r>
            <a:r>
              <a:rPr lang="ko-KR" altLang="en-US" sz="2800" b="1" dirty="0">
                <a:latin typeface="+mn-ea"/>
                <a:ea typeface="+mn-ea"/>
              </a:rPr>
              <a:t>구조체와 클래스</a:t>
            </a:r>
          </a:p>
        </p:txBody>
      </p:sp>
      <p:pic>
        <p:nvPicPr>
          <p:cNvPr id="5128" name="Picture 8">
            <a:extLst>
              <a:ext uri="{FF2B5EF4-FFF2-40B4-BE49-F238E27FC236}">
                <a16:creationId xmlns:a16="http://schemas.microsoft.com/office/drawing/2014/main" id="{40E676EC-7D0C-BB29-4955-B7C048C28A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7888" y="4041775"/>
            <a:ext cx="4848225" cy="1762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>
            <a:extLst>
              <a:ext uri="{FF2B5EF4-FFF2-40B4-BE49-F238E27FC236}">
                <a16:creationId xmlns:a16="http://schemas.microsoft.com/office/drawing/2014/main" id="{69EEA159-C4C6-1D98-D168-A1416620FA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1168400"/>
            <a:ext cx="5472113" cy="604838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2800" b="1"/>
              <a:t>oo2.cpp</a:t>
            </a:r>
            <a:r>
              <a:rPr lang="ko-KR" altLang="en-US" sz="2800" b="1"/>
              <a:t>와 </a:t>
            </a:r>
            <a:r>
              <a:rPr lang="en-US" altLang="ko-KR" sz="2800" b="1"/>
              <a:t>oo3.cpp</a:t>
            </a:r>
            <a:r>
              <a:rPr lang="ko-KR" altLang="en-US" sz="2800" b="1"/>
              <a:t>의 비교</a:t>
            </a:r>
          </a:p>
        </p:txBody>
      </p:sp>
      <p:sp>
        <p:nvSpPr>
          <p:cNvPr id="6148" name="Rectangle 4">
            <a:extLst>
              <a:ext uri="{FF2B5EF4-FFF2-40B4-BE49-F238E27FC236}">
                <a16:creationId xmlns:a16="http://schemas.microsoft.com/office/drawing/2014/main" id="{67C7D854-E9F9-5BA0-D1CC-4D8D2F1096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013" y="2097088"/>
            <a:ext cx="4103687" cy="4419600"/>
          </a:xfrm>
          <a:prstGeom prst="rect">
            <a:avLst/>
          </a:prstGeom>
          <a:solidFill>
            <a:srgbClr val="EDF7E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06000" tIns="118800" bIns="190800" anchor="ctr"/>
          <a:lstStyle>
            <a:lvl1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ko-KR" sz="1400" b="1">
                <a:cs typeface="Times New Roman" panose="02020603050405020304" pitchFamily="18" charset="0"/>
              </a:rPr>
              <a:t> struct Account {</a:t>
            </a:r>
          </a:p>
          <a:p>
            <a:pPr>
              <a:lnSpc>
                <a:spcPct val="120000"/>
              </a:lnSpc>
            </a:pPr>
            <a:r>
              <a:rPr lang="en-US" altLang="ko-KR" sz="1400" b="1">
                <a:cs typeface="Times New Roman" panose="02020603050405020304" pitchFamily="18" charset="0"/>
              </a:rPr>
              <a:t>      char accID[20];    </a:t>
            </a:r>
          </a:p>
          <a:p>
            <a:pPr>
              <a:lnSpc>
                <a:spcPct val="120000"/>
              </a:lnSpc>
            </a:pPr>
            <a:r>
              <a:rPr lang="en-US" altLang="ko-KR" sz="1400" b="1">
                <a:cs typeface="Times New Roman" panose="02020603050405020304" pitchFamily="18" charset="0"/>
              </a:rPr>
              <a:t>      char secID[20];    </a:t>
            </a:r>
          </a:p>
          <a:p>
            <a:pPr>
              <a:lnSpc>
                <a:spcPct val="120000"/>
              </a:lnSpc>
            </a:pPr>
            <a:r>
              <a:rPr lang="en-US" altLang="ko-KR" sz="1400" b="1">
                <a:cs typeface="Times New Roman" panose="02020603050405020304" pitchFamily="18" charset="0"/>
              </a:rPr>
              <a:t>      char name[20]; </a:t>
            </a:r>
          </a:p>
          <a:p>
            <a:pPr>
              <a:lnSpc>
                <a:spcPct val="120000"/>
              </a:lnSpc>
            </a:pPr>
            <a:r>
              <a:rPr lang="en-US" altLang="ko-KR" sz="1400" b="1">
                <a:cs typeface="Times New Roman" panose="02020603050405020304" pitchFamily="18" charset="0"/>
              </a:rPr>
              <a:t>      int balance;          </a:t>
            </a:r>
          </a:p>
          <a:p>
            <a:pPr>
              <a:lnSpc>
                <a:spcPct val="120000"/>
              </a:lnSpc>
            </a:pPr>
            <a:r>
              <a:rPr lang="en-US" altLang="ko-KR" sz="1400" b="1">
                <a:cs typeface="Times New Roman" panose="02020603050405020304" pitchFamily="18" charset="0"/>
              </a:rPr>
              <a:t> };</a:t>
            </a:r>
          </a:p>
          <a:p>
            <a:pPr>
              <a:lnSpc>
                <a:spcPct val="120000"/>
              </a:lnSpc>
            </a:pPr>
            <a:r>
              <a:rPr lang="en-US" altLang="ko-KR" sz="1400" b="1"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20000"/>
              </a:lnSpc>
            </a:pPr>
            <a:r>
              <a:rPr lang="en-US" altLang="ko-KR" sz="1400" b="1">
                <a:cs typeface="Times New Roman" panose="02020603050405020304" pitchFamily="18" charset="0"/>
              </a:rPr>
              <a:t> void Deposit(Account &amp;acc, int money) </a:t>
            </a:r>
          </a:p>
          <a:p>
            <a:pPr>
              <a:lnSpc>
                <a:spcPct val="120000"/>
              </a:lnSpc>
            </a:pPr>
            <a:r>
              <a:rPr lang="en-US" altLang="ko-KR" sz="1400" b="1">
                <a:cs typeface="Times New Roman" panose="02020603050405020304" pitchFamily="18" charset="0"/>
              </a:rPr>
              <a:t> {</a:t>
            </a:r>
          </a:p>
          <a:p>
            <a:pPr>
              <a:lnSpc>
                <a:spcPct val="120000"/>
              </a:lnSpc>
            </a:pPr>
            <a:r>
              <a:rPr lang="en-US" altLang="ko-KR" sz="1400" b="1">
                <a:cs typeface="Times New Roman" panose="02020603050405020304" pitchFamily="18" charset="0"/>
              </a:rPr>
              <a:t>      acc.balance+=money;</a:t>
            </a:r>
          </a:p>
          <a:p>
            <a:pPr>
              <a:lnSpc>
                <a:spcPct val="120000"/>
              </a:lnSpc>
            </a:pPr>
            <a:r>
              <a:rPr lang="en-US" altLang="ko-KR" sz="1400" b="1">
                <a:cs typeface="Times New Roman" panose="02020603050405020304" pitchFamily="18" charset="0"/>
              </a:rPr>
              <a:t> }</a:t>
            </a:r>
          </a:p>
          <a:p>
            <a:pPr>
              <a:lnSpc>
                <a:spcPct val="120000"/>
              </a:lnSpc>
            </a:pPr>
            <a:endParaRPr lang="en-US" altLang="ko-KR" sz="1400" b="1"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ko-KR" sz="1400" b="1">
                <a:cs typeface="Times New Roman" panose="02020603050405020304" pitchFamily="18" charset="0"/>
              </a:rPr>
              <a:t> void Withdraw(Account &amp;acc, int money) </a:t>
            </a:r>
          </a:p>
          <a:p>
            <a:pPr>
              <a:lnSpc>
                <a:spcPct val="120000"/>
              </a:lnSpc>
            </a:pPr>
            <a:r>
              <a:rPr lang="en-US" altLang="ko-KR" sz="1400" b="1">
                <a:cs typeface="Times New Roman" panose="02020603050405020304" pitchFamily="18" charset="0"/>
              </a:rPr>
              <a:t> {</a:t>
            </a:r>
          </a:p>
          <a:p>
            <a:pPr>
              <a:lnSpc>
                <a:spcPct val="120000"/>
              </a:lnSpc>
            </a:pPr>
            <a:r>
              <a:rPr lang="en-US" altLang="ko-KR" sz="1400" b="1">
                <a:cs typeface="Times New Roman" panose="02020603050405020304" pitchFamily="18" charset="0"/>
              </a:rPr>
              <a:t>      acc.balance-=money;</a:t>
            </a:r>
          </a:p>
          <a:p>
            <a:pPr>
              <a:lnSpc>
                <a:spcPct val="120000"/>
              </a:lnSpc>
            </a:pPr>
            <a:r>
              <a:rPr lang="en-US" altLang="ko-KR" sz="1400" b="1">
                <a:cs typeface="Times New Roman" panose="02020603050405020304" pitchFamily="18" charset="0"/>
              </a:rPr>
              <a:t> }</a:t>
            </a:r>
          </a:p>
        </p:txBody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5AC0C0EF-2490-E056-E2FF-BD0DB3A3AB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4525" y="2097088"/>
            <a:ext cx="3240088" cy="3962400"/>
          </a:xfrm>
          <a:prstGeom prst="rect">
            <a:avLst/>
          </a:prstGeom>
          <a:solidFill>
            <a:srgbClr val="EDF7E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06000" tIns="118800" bIns="190800" anchor="ctr"/>
          <a:lstStyle>
            <a:lvl1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ko-KR" sz="1400" b="1">
                <a:cs typeface="Times New Roman" panose="02020603050405020304" pitchFamily="18" charset="0"/>
              </a:rPr>
              <a:t> struct Account {</a:t>
            </a:r>
          </a:p>
          <a:p>
            <a:pPr>
              <a:lnSpc>
                <a:spcPct val="120000"/>
              </a:lnSpc>
            </a:pPr>
            <a:r>
              <a:rPr lang="en-US" altLang="ko-KR" sz="1400" b="1">
                <a:cs typeface="Times New Roman" panose="02020603050405020304" pitchFamily="18" charset="0"/>
              </a:rPr>
              <a:t>     char accID[20];   </a:t>
            </a:r>
          </a:p>
          <a:p>
            <a:pPr>
              <a:lnSpc>
                <a:spcPct val="120000"/>
              </a:lnSpc>
            </a:pPr>
            <a:r>
              <a:rPr lang="en-US" altLang="ko-KR" sz="1400" b="1">
                <a:cs typeface="Times New Roman" panose="02020603050405020304" pitchFamily="18" charset="0"/>
              </a:rPr>
              <a:t>     char secID[20];   </a:t>
            </a:r>
          </a:p>
          <a:p>
            <a:pPr>
              <a:lnSpc>
                <a:spcPct val="120000"/>
              </a:lnSpc>
            </a:pPr>
            <a:r>
              <a:rPr lang="en-US" altLang="ko-KR" sz="1400" b="1">
                <a:cs typeface="Times New Roman" panose="02020603050405020304" pitchFamily="18" charset="0"/>
              </a:rPr>
              <a:t>     char name[20];   </a:t>
            </a:r>
          </a:p>
          <a:p>
            <a:pPr>
              <a:lnSpc>
                <a:spcPct val="120000"/>
              </a:lnSpc>
            </a:pPr>
            <a:r>
              <a:rPr lang="en-US" altLang="ko-KR" sz="1400" b="1">
                <a:cs typeface="Times New Roman" panose="02020603050405020304" pitchFamily="18" charset="0"/>
              </a:rPr>
              <a:t>     int balance;       </a:t>
            </a:r>
          </a:p>
          <a:p>
            <a:pPr>
              <a:lnSpc>
                <a:spcPct val="120000"/>
              </a:lnSpc>
            </a:pPr>
            <a:r>
              <a:rPr lang="en-US" altLang="ko-KR" sz="1400" b="1"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20000"/>
              </a:lnSpc>
            </a:pPr>
            <a:r>
              <a:rPr lang="en-US" altLang="ko-KR" sz="1400" b="1">
                <a:cs typeface="Times New Roman" panose="02020603050405020304" pitchFamily="18" charset="0"/>
              </a:rPr>
              <a:t>     void Deposit(int money){</a:t>
            </a:r>
          </a:p>
          <a:p>
            <a:pPr>
              <a:lnSpc>
                <a:spcPct val="120000"/>
              </a:lnSpc>
            </a:pPr>
            <a:r>
              <a:rPr lang="en-US" altLang="ko-KR" sz="1400" b="1">
                <a:cs typeface="Times New Roman" panose="02020603050405020304" pitchFamily="18" charset="0"/>
              </a:rPr>
              <a:t>          balance+=money;</a:t>
            </a:r>
          </a:p>
          <a:p>
            <a:pPr>
              <a:lnSpc>
                <a:spcPct val="120000"/>
              </a:lnSpc>
            </a:pPr>
            <a:r>
              <a:rPr lang="en-US" altLang="ko-KR" sz="1400" b="1">
                <a:cs typeface="Times New Roman" panose="02020603050405020304" pitchFamily="18" charset="0"/>
              </a:rPr>
              <a:t>     }</a:t>
            </a:r>
          </a:p>
          <a:p>
            <a:pPr>
              <a:lnSpc>
                <a:spcPct val="120000"/>
              </a:lnSpc>
            </a:pPr>
            <a:r>
              <a:rPr lang="en-US" altLang="ko-KR" sz="1400" b="1">
                <a:cs typeface="Times New Roman" panose="02020603050405020304" pitchFamily="18" charset="0"/>
              </a:rPr>
              <a:t>     void Withdraw(int money){</a:t>
            </a:r>
          </a:p>
          <a:p>
            <a:pPr>
              <a:lnSpc>
                <a:spcPct val="120000"/>
              </a:lnSpc>
            </a:pPr>
            <a:r>
              <a:rPr lang="en-US" altLang="ko-KR" sz="1400" b="1">
                <a:cs typeface="Times New Roman" panose="02020603050405020304" pitchFamily="18" charset="0"/>
              </a:rPr>
              <a:t>         balance-=money;   </a:t>
            </a:r>
          </a:p>
          <a:p>
            <a:pPr>
              <a:lnSpc>
                <a:spcPct val="120000"/>
              </a:lnSpc>
            </a:pPr>
            <a:r>
              <a:rPr lang="en-US" altLang="ko-KR" sz="1400" b="1">
                <a:cs typeface="Times New Roman" panose="02020603050405020304" pitchFamily="18" charset="0"/>
              </a:rPr>
              <a:t>     }</a:t>
            </a:r>
          </a:p>
          <a:p>
            <a:pPr>
              <a:lnSpc>
                <a:spcPct val="120000"/>
              </a:lnSpc>
            </a:pPr>
            <a:r>
              <a:rPr lang="en-US" altLang="ko-KR" sz="1400" b="1">
                <a:cs typeface="Times New Roman" panose="02020603050405020304" pitchFamily="18" charset="0"/>
              </a:rPr>
              <a:t>};</a:t>
            </a:r>
          </a:p>
          <a:p>
            <a:pPr>
              <a:lnSpc>
                <a:spcPct val="120000"/>
              </a:lnSpc>
            </a:pPr>
            <a:r>
              <a:rPr lang="en-US" altLang="ko-KR" sz="1400" b="1"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7E4D9429-9416-EB84-4E06-5346ADD5DF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3902075"/>
            <a:ext cx="3657600" cy="2514600"/>
          </a:xfrm>
          <a:prstGeom prst="rect">
            <a:avLst/>
          </a:prstGeom>
          <a:noFill/>
          <a:ln w="38100">
            <a:solidFill>
              <a:srgbClr val="FF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C7048831-6C04-D32D-D2DF-4824C23386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6325" y="3662363"/>
            <a:ext cx="2559050" cy="1685925"/>
          </a:xfrm>
          <a:prstGeom prst="rect">
            <a:avLst/>
          </a:prstGeom>
          <a:noFill/>
          <a:ln w="38100" algn="ctr">
            <a:solidFill>
              <a:srgbClr val="FF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6152" name="AutoShape 8">
            <a:extLst>
              <a:ext uri="{FF2B5EF4-FFF2-40B4-BE49-F238E27FC236}">
                <a16:creationId xmlns:a16="http://schemas.microsoft.com/office/drawing/2014/main" id="{4C8C8849-2696-277A-97DE-29FB6391B5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6213" y="4041775"/>
            <a:ext cx="381000" cy="304800"/>
          </a:xfrm>
          <a:prstGeom prst="rightArrow">
            <a:avLst>
              <a:gd name="adj1" fmla="val 57287"/>
              <a:gd name="adj2" fmla="val 57813"/>
            </a:avLst>
          </a:prstGeom>
          <a:solidFill>
            <a:srgbClr val="80808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6153" name="Rectangle 9">
            <a:extLst>
              <a:ext uri="{FF2B5EF4-FFF2-40B4-BE49-F238E27FC236}">
                <a16:creationId xmlns:a16="http://schemas.microsoft.com/office/drawing/2014/main" id="{03491616-C0F0-41EF-A88F-A040E8AAE6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1413" y="225425"/>
            <a:ext cx="36703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l"/>
            <a:r>
              <a:rPr lang="en-US" altLang="ko-KR" sz="2800" b="1" dirty="0">
                <a:latin typeface="+mn-ea"/>
                <a:ea typeface="+mn-ea"/>
              </a:rPr>
              <a:t>3-1  </a:t>
            </a:r>
            <a:r>
              <a:rPr lang="ko-KR" altLang="en-US" sz="2800" b="1" dirty="0">
                <a:latin typeface="+mn-ea"/>
                <a:ea typeface="+mn-ea"/>
              </a:rPr>
              <a:t>구조체와 클래스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4">
            <a:extLst>
              <a:ext uri="{FF2B5EF4-FFF2-40B4-BE49-F238E27FC236}">
                <a16:creationId xmlns:a16="http://schemas.microsoft.com/office/drawing/2014/main" id="{E7126414-21CB-87C0-C2BB-3CAC79C852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150" y="1412875"/>
            <a:ext cx="4006850" cy="4994275"/>
          </a:xfrm>
          <a:prstGeom prst="rect">
            <a:avLst/>
          </a:prstGeom>
          <a:solidFill>
            <a:srgbClr val="EDF7E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06000" tIns="118800" bIns="190800" anchor="ctr"/>
          <a:lstStyle>
            <a:lvl1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 struct Account {</a:t>
            </a:r>
          </a:p>
          <a:p>
            <a:pPr>
              <a:lnSpc>
                <a:spcPct val="120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      char accID[20];    </a:t>
            </a:r>
          </a:p>
          <a:p>
            <a:pPr>
              <a:lnSpc>
                <a:spcPct val="120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      char secID[20]; </a:t>
            </a:r>
          </a:p>
          <a:p>
            <a:pPr>
              <a:lnSpc>
                <a:spcPct val="120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      char name[20];     </a:t>
            </a:r>
          </a:p>
          <a:p>
            <a:pPr>
              <a:lnSpc>
                <a:spcPct val="120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      int balance;       </a:t>
            </a:r>
          </a:p>
          <a:p>
            <a:pPr>
              <a:lnSpc>
                <a:spcPct val="120000"/>
              </a:lnSpc>
            </a:pPr>
            <a:endParaRPr lang="en-US" altLang="ko-KR" sz="1200" b="1"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      void Deposit(int money){</a:t>
            </a:r>
          </a:p>
          <a:p>
            <a:pPr>
              <a:lnSpc>
                <a:spcPct val="120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          balance+=money;</a:t>
            </a:r>
          </a:p>
          <a:p>
            <a:pPr>
              <a:lnSpc>
                <a:spcPct val="120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      }</a:t>
            </a:r>
          </a:p>
          <a:p>
            <a:pPr>
              <a:lnSpc>
                <a:spcPct val="120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      void Withdraw(int money){</a:t>
            </a:r>
          </a:p>
          <a:p>
            <a:pPr>
              <a:lnSpc>
                <a:spcPct val="120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          balance-=money;</a:t>
            </a:r>
          </a:p>
          <a:p>
            <a:pPr>
              <a:lnSpc>
                <a:spcPct val="120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      }</a:t>
            </a:r>
          </a:p>
          <a:p>
            <a:pPr>
              <a:lnSpc>
                <a:spcPct val="120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 };</a:t>
            </a:r>
          </a:p>
          <a:p>
            <a:pPr>
              <a:lnSpc>
                <a:spcPct val="120000"/>
              </a:lnSpc>
            </a:pPr>
            <a:endParaRPr lang="en-US" altLang="ko-KR" sz="1200" b="1"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 int main(void)</a:t>
            </a:r>
          </a:p>
          <a:p>
            <a:pPr>
              <a:lnSpc>
                <a:spcPct val="120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 {</a:t>
            </a:r>
          </a:p>
          <a:p>
            <a:pPr>
              <a:lnSpc>
                <a:spcPct val="120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     Account yoon={"1234", "2321", "yoon", 1000};</a:t>
            </a:r>
          </a:p>
          <a:p>
            <a:pPr>
              <a:lnSpc>
                <a:spcPct val="120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     yoon.Deposit(100);</a:t>
            </a:r>
          </a:p>
          <a:p>
            <a:pPr>
              <a:lnSpc>
                <a:spcPct val="120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     cout&lt;&lt;"</a:t>
            </a:r>
            <a:r>
              <a:rPr lang="ko-KR" altLang="en-US" sz="1200" b="1">
                <a:cs typeface="Times New Roman" panose="02020603050405020304" pitchFamily="18" charset="0"/>
              </a:rPr>
              <a:t>잔    액 </a:t>
            </a:r>
            <a:r>
              <a:rPr lang="en-US" altLang="ko-KR" sz="1200" b="1">
                <a:cs typeface="Times New Roman" panose="02020603050405020304" pitchFamily="18" charset="0"/>
              </a:rPr>
              <a:t>: "&lt;&lt;yoon.balance&lt;&lt;endl;</a:t>
            </a:r>
          </a:p>
          <a:p>
            <a:pPr>
              <a:lnSpc>
                <a:spcPct val="120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     return 0;</a:t>
            </a:r>
          </a:p>
          <a:p>
            <a:pPr>
              <a:lnSpc>
                <a:spcPct val="120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 } </a:t>
            </a:r>
          </a:p>
        </p:txBody>
      </p:sp>
      <p:sp>
        <p:nvSpPr>
          <p:cNvPr id="7173" name="Rectangle 5">
            <a:extLst>
              <a:ext uri="{FF2B5EF4-FFF2-40B4-BE49-F238E27FC236}">
                <a16:creationId xmlns:a16="http://schemas.microsoft.com/office/drawing/2014/main" id="{58CCADEB-78B2-98A9-5941-BFF19DF0AE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9813" y="5337175"/>
            <a:ext cx="1057275" cy="358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ko-KR" altLang="en-US" sz="1800" b="1"/>
              <a:t>그림 </a:t>
            </a:r>
            <a:r>
              <a:rPr lang="en-US" altLang="ko-KR" sz="1800" b="1"/>
              <a:t>3-5</a:t>
            </a:r>
          </a:p>
        </p:txBody>
      </p:sp>
      <p:sp>
        <p:nvSpPr>
          <p:cNvPr id="7174" name="Rectangle 6">
            <a:extLst>
              <a:ext uri="{FF2B5EF4-FFF2-40B4-BE49-F238E27FC236}">
                <a16:creationId xmlns:a16="http://schemas.microsoft.com/office/drawing/2014/main" id="{A50793FC-785E-B7BD-A65A-3DD39DE1E7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1413" y="225425"/>
            <a:ext cx="36703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l"/>
            <a:r>
              <a:rPr lang="en-US" altLang="ko-KR" sz="2800" b="1"/>
              <a:t>3-1  </a:t>
            </a:r>
            <a:r>
              <a:rPr lang="ko-KR" altLang="en-US" sz="2800" b="1"/>
              <a:t>구조체와 클래스</a:t>
            </a:r>
          </a:p>
        </p:txBody>
      </p:sp>
      <p:pic>
        <p:nvPicPr>
          <p:cNvPr id="7176" name="Picture 8">
            <a:extLst>
              <a:ext uri="{FF2B5EF4-FFF2-40B4-BE49-F238E27FC236}">
                <a16:creationId xmlns:a16="http://schemas.microsoft.com/office/drawing/2014/main" id="{66106FA7-449B-2119-29EF-C0E2731183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0450" y="1828800"/>
            <a:ext cx="5267325" cy="2973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3">
            <a:extLst>
              <a:ext uri="{FF2B5EF4-FFF2-40B4-BE49-F238E27FC236}">
                <a16:creationId xmlns:a16="http://schemas.microsoft.com/office/drawing/2014/main" id="{B54B4AA9-5FDA-3A37-731C-B03D243941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1192213"/>
            <a:ext cx="8029575" cy="2138362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2800" b="1"/>
              <a:t>구조체가 아니라 클래스</a:t>
            </a:r>
            <a:r>
              <a:rPr lang="en-US" altLang="ko-KR" sz="2800" b="1"/>
              <a:t>(Class)</a:t>
            </a:r>
          </a:p>
          <a:p>
            <a:pPr lvl="1">
              <a:lnSpc>
                <a:spcPct val="120000"/>
              </a:lnSpc>
            </a:pPr>
            <a:r>
              <a:rPr lang="ko-KR" altLang="en-US" sz="2400" b="1"/>
              <a:t>클래스 </a:t>
            </a:r>
            <a:r>
              <a:rPr lang="en-US" altLang="ko-KR" sz="2400" b="1"/>
              <a:t>= </a:t>
            </a:r>
            <a:r>
              <a:rPr lang="ko-KR" altLang="en-US" sz="2400" b="1"/>
              <a:t>멤버 변수 </a:t>
            </a:r>
            <a:r>
              <a:rPr lang="en-US" altLang="ko-KR" sz="2400" b="1"/>
              <a:t>+ </a:t>
            </a:r>
            <a:r>
              <a:rPr lang="ko-KR" altLang="en-US" sz="2400" b="1"/>
              <a:t>멤버 함수 </a:t>
            </a:r>
            <a:r>
              <a:rPr lang="ko-KR" altLang="en-US" sz="2400" b="1">
                <a:sym typeface="Wingdings" panose="05000000000000000000" pitchFamily="2" charset="2"/>
              </a:rPr>
              <a:t> 속성 </a:t>
            </a:r>
            <a:r>
              <a:rPr lang="en-US" altLang="ko-KR" sz="2400" b="1">
                <a:sym typeface="Wingdings" panose="05000000000000000000" pitchFamily="2" charset="2"/>
              </a:rPr>
              <a:t>+ </a:t>
            </a:r>
            <a:r>
              <a:rPr lang="ko-KR" altLang="en-US" sz="2400" b="1">
                <a:sym typeface="Wingdings" panose="05000000000000000000" pitchFamily="2" charset="2"/>
              </a:rPr>
              <a:t>오퍼레이션</a:t>
            </a:r>
            <a:endParaRPr lang="ko-KR" altLang="en-US" sz="2400" b="1"/>
          </a:p>
          <a:p>
            <a:pPr lvl="1">
              <a:lnSpc>
                <a:spcPct val="120000"/>
              </a:lnSpc>
            </a:pPr>
            <a:r>
              <a:rPr lang="ko-KR" altLang="en-US" sz="2400" b="1"/>
              <a:t>변수가 아니라 객체</a:t>
            </a:r>
            <a:r>
              <a:rPr lang="en-US" altLang="ko-KR" sz="2400" b="1"/>
              <a:t>(Object:</a:t>
            </a:r>
            <a:r>
              <a:rPr lang="en-US" altLang="ja-JP" sz="2400" b="1"/>
              <a:t> </a:t>
            </a:r>
            <a:r>
              <a:rPr lang="ko-KR" altLang="en-US" sz="2400" b="1"/>
              <a:t>완전한 대상체</a:t>
            </a:r>
            <a:r>
              <a:rPr lang="en-US" altLang="ko-KR" sz="2400" b="1"/>
              <a:t>)</a:t>
            </a:r>
          </a:p>
          <a:p>
            <a:pPr lvl="1">
              <a:lnSpc>
                <a:spcPct val="120000"/>
              </a:lnSpc>
            </a:pPr>
            <a:r>
              <a:rPr lang="en-US" altLang="ko-KR" sz="2400" b="1"/>
              <a:t>oo4.cpp</a:t>
            </a:r>
          </a:p>
        </p:txBody>
      </p:sp>
      <p:sp>
        <p:nvSpPr>
          <p:cNvPr id="8196" name="Rectangle 4">
            <a:extLst>
              <a:ext uri="{FF2B5EF4-FFF2-40B4-BE49-F238E27FC236}">
                <a16:creationId xmlns:a16="http://schemas.microsoft.com/office/drawing/2014/main" id="{D103FA8C-F725-18C7-479F-549F8F9F3D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1288" y="5768975"/>
            <a:ext cx="1241425" cy="42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ko-KR" altLang="en-US" sz="1800" b="1"/>
              <a:t>그림 </a:t>
            </a:r>
            <a:r>
              <a:rPr lang="en-US" altLang="ko-KR" sz="1800" b="1"/>
              <a:t>3-6</a:t>
            </a:r>
          </a:p>
        </p:txBody>
      </p:sp>
      <p:sp>
        <p:nvSpPr>
          <p:cNvPr id="8197" name="Rectangle 5">
            <a:extLst>
              <a:ext uri="{FF2B5EF4-FFF2-40B4-BE49-F238E27FC236}">
                <a16:creationId xmlns:a16="http://schemas.microsoft.com/office/drawing/2014/main" id="{56D3E47B-200E-20A2-C943-58E66A1B1A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1413" y="225425"/>
            <a:ext cx="36703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l"/>
            <a:r>
              <a:rPr lang="en-US" altLang="ko-KR" sz="2800" b="1"/>
              <a:t>3-1  </a:t>
            </a:r>
            <a:r>
              <a:rPr lang="ko-KR" altLang="en-US" sz="2800" b="1"/>
              <a:t>구조체와 클래스</a:t>
            </a:r>
          </a:p>
        </p:txBody>
      </p:sp>
      <p:pic>
        <p:nvPicPr>
          <p:cNvPr id="8199" name="Picture 7">
            <a:extLst>
              <a:ext uri="{FF2B5EF4-FFF2-40B4-BE49-F238E27FC236}">
                <a16:creationId xmlns:a16="http://schemas.microsoft.com/office/drawing/2014/main" id="{23974D52-93BC-D82B-B749-2292A2059B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9925" y="3392488"/>
            <a:ext cx="2724150" cy="2092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25" name="Picture 9">
            <a:extLst>
              <a:ext uri="{FF2B5EF4-FFF2-40B4-BE49-F238E27FC236}">
                <a16:creationId xmlns:a16="http://schemas.microsoft.com/office/drawing/2014/main" id="{858D203A-6C66-34CA-2E43-86914A1E00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088" y="3249613"/>
            <a:ext cx="3605212" cy="2495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218" name="Rectangle 2">
            <a:extLst>
              <a:ext uri="{FF2B5EF4-FFF2-40B4-BE49-F238E27FC236}">
                <a16:creationId xmlns:a16="http://schemas.microsoft.com/office/drawing/2014/main" id="{43B1D125-1FBC-8DD6-D1B1-0978894FCB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76488" y="209550"/>
            <a:ext cx="3346450" cy="519113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ko-KR" sz="2800" b="1"/>
              <a:t>3-2  </a:t>
            </a:r>
            <a:r>
              <a:rPr lang="ko-KR" altLang="en-US" sz="2800" b="1"/>
              <a:t>클래스와 객체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348E29ED-9517-2880-3BFF-D2592F0F3F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1196975"/>
            <a:ext cx="7772400" cy="1554163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2800" b="1"/>
              <a:t>사물의 관찰 이후의 데이터 추상화</a:t>
            </a:r>
          </a:p>
          <a:p>
            <a:pPr lvl="1">
              <a:lnSpc>
                <a:spcPct val="120000"/>
              </a:lnSpc>
            </a:pPr>
            <a:r>
              <a:rPr lang="ko-KR" altLang="en-US" sz="2400" b="1"/>
              <a:t>현실</a:t>
            </a:r>
            <a:r>
              <a:rPr lang="ko-KR" altLang="ja-JP" sz="2400" b="1"/>
              <a:t> </a:t>
            </a:r>
            <a:r>
              <a:rPr lang="ko-KR" altLang="en-US" sz="2400" b="1"/>
              <a:t>세계의 사물을 데이터적인 측면과 기능적인 측면을 통해서 정의하는 것</a:t>
            </a:r>
          </a:p>
        </p:txBody>
      </p:sp>
      <p:sp>
        <p:nvSpPr>
          <p:cNvPr id="9221" name="Rectangle 5">
            <a:extLst>
              <a:ext uri="{FF2B5EF4-FFF2-40B4-BE49-F238E27FC236}">
                <a16:creationId xmlns:a16="http://schemas.microsoft.com/office/drawing/2014/main" id="{C6566728-D02D-579D-040F-8D4F7510E5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8263" y="3419475"/>
            <a:ext cx="3636962" cy="2249488"/>
          </a:xfrm>
          <a:prstGeom prst="rect">
            <a:avLst/>
          </a:prstGeom>
          <a:noFill/>
          <a:ln w="38100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180000"/>
              </a:lnSpc>
            </a:pPr>
            <a:r>
              <a:rPr lang="ko-KR" altLang="ja-JP" sz="1400" b="1"/>
              <a:t> </a:t>
            </a:r>
            <a:r>
              <a:rPr lang="ko-KR" altLang="en-US" sz="1400" b="1"/>
              <a:t>특징 </a:t>
            </a:r>
            <a:r>
              <a:rPr lang="en-US" altLang="ko-KR" sz="1400" b="1"/>
              <a:t>1. </a:t>
            </a:r>
            <a:r>
              <a:rPr lang="ko-KR" altLang="en-US" sz="1400" b="1"/>
              <a:t>발이 네 개</a:t>
            </a:r>
          </a:p>
          <a:p>
            <a:pPr>
              <a:lnSpc>
                <a:spcPct val="180000"/>
              </a:lnSpc>
            </a:pPr>
            <a:r>
              <a:rPr lang="ko-KR" altLang="ja-JP" sz="1400" b="1"/>
              <a:t> </a:t>
            </a:r>
            <a:r>
              <a:rPr lang="ko-KR" altLang="en-US" sz="1400" b="1"/>
              <a:t>특징 </a:t>
            </a:r>
            <a:r>
              <a:rPr lang="en-US" altLang="ko-KR" sz="1400" b="1"/>
              <a:t>2. </a:t>
            </a:r>
            <a:r>
              <a:rPr lang="ko-KR" altLang="en-US" sz="1400" b="1"/>
              <a:t>코의 길이가 </a:t>
            </a:r>
            <a:r>
              <a:rPr lang="en-US" altLang="ko-KR" sz="1400" b="1"/>
              <a:t>5</a:t>
            </a:r>
            <a:r>
              <a:rPr lang="ko-KR" altLang="en-US" sz="1400" b="1"/>
              <a:t>미터 내외</a:t>
            </a:r>
          </a:p>
          <a:p>
            <a:pPr>
              <a:lnSpc>
                <a:spcPct val="180000"/>
              </a:lnSpc>
            </a:pPr>
            <a:r>
              <a:rPr lang="ko-KR" altLang="ja-JP" sz="1400" b="1"/>
              <a:t> </a:t>
            </a:r>
            <a:r>
              <a:rPr lang="ko-KR" altLang="en-US" sz="1400" b="1"/>
              <a:t>특징 </a:t>
            </a:r>
            <a:r>
              <a:rPr lang="en-US" altLang="ko-KR" sz="1400" b="1"/>
              <a:t>3. </a:t>
            </a:r>
            <a:r>
              <a:rPr lang="ko-KR" altLang="en-US" sz="1400" b="1"/>
              <a:t>몸무게는 </a:t>
            </a:r>
            <a:r>
              <a:rPr lang="en-US" altLang="ko-KR" sz="1400" b="1"/>
              <a:t>1</a:t>
            </a:r>
            <a:r>
              <a:rPr lang="ko-KR" altLang="en-US" sz="1400" b="1"/>
              <a:t>톤 이상</a:t>
            </a:r>
          </a:p>
          <a:p>
            <a:pPr>
              <a:lnSpc>
                <a:spcPct val="180000"/>
              </a:lnSpc>
            </a:pPr>
            <a:r>
              <a:rPr lang="ko-KR" altLang="ja-JP" sz="1400" b="1"/>
              <a:t> </a:t>
            </a:r>
            <a:r>
              <a:rPr lang="ko-KR" altLang="en-US" sz="1400" b="1"/>
              <a:t>특징 </a:t>
            </a:r>
            <a:r>
              <a:rPr lang="en-US" altLang="ko-KR" sz="1400" b="1"/>
              <a:t>4. </a:t>
            </a:r>
            <a:r>
              <a:rPr lang="ko-KR" altLang="en-US" sz="1400" b="1"/>
              <a:t>코를 이용해서 목욕을 함</a:t>
            </a:r>
          </a:p>
          <a:p>
            <a:pPr>
              <a:lnSpc>
                <a:spcPct val="180000"/>
              </a:lnSpc>
            </a:pPr>
            <a:r>
              <a:rPr lang="ko-KR" altLang="ja-JP" sz="1400" b="1"/>
              <a:t> </a:t>
            </a:r>
            <a:r>
              <a:rPr lang="ko-KR" altLang="en-US" sz="1400" b="1"/>
              <a:t>특징 </a:t>
            </a:r>
            <a:r>
              <a:rPr lang="en-US" altLang="ko-KR" sz="1400" b="1"/>
              <a:t>5. </a:t>
            </a:r>
            <a:r>
              <a:rPr lang="ko-KR" altLang="en-US" sz="1400" b="1"/>
              <a:t>코를 이용해서 물건을 집기도 함</a:t>
            </a:r>
          </a:p>
        </p:txBody>
      </p:sp>
      <p:sp>
        <p:nvSpPr>
          <p:cNvPr id="9222" name="AutoShape 6">
            <a:extLst>
              <a:ext uri="{FF2B5EF4-FFF2-40B4-BE49-F238E27FC236}">
                <a16:creationId xmlns:a16="http://schemas.microsoft.com/office/drawing/2014/main" id="{921FA7C0-D3D7-3204-7D58-9797AF2612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2125" y="4329113"/>
            <a:ext cx="539750" cy="377825"/>
          </a:xfrm>
          <a:prstGeom prst="rightArrow">
            <a:avLst>
              <a:gd name="adj1" fmla="val 53778"/>
              <a:gd name="adj2" fmla="val 57566"/>
            </a:avLst>
          </a:prstGeom>
          <a:solidFill>
            <a:srgbClr val="80808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3">
            <a:extLst>
              <a:ext uri="{FF2B5EF4-FFF2-40B4-BE49-F238E27FC236}">
                <a16:creationId xmlns:a16="http://schemas.microsoft.com/office/drawing/2014/main" id="{6054B5BE-B6C7-9988-AFB8-DCE91D9BB0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1185863"/>
            <a:ext cx="7772400" cy="1554162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2800" b="1"/>
              <a:t>데이터 추상화 이후의 클래스화</a:t>
            </a:r>
          </a:p>
          <a:p>
            <a:pPr lvl="1">
              <a:lnSpc>
                <a:spcPct val="120000"/>
              </a:lnSpc>
            </a:pPr>
            <a:r>
              <a:rPr lang="ko-KR" altLang="en-US" sz="2400" b="1"/>
              <a:t>추상화된 데이터를 가지고 사용자 정의 자료형을 정의하는 것</a:t>
            </a:r>
          </a:p>
        </p:txBody>
      </p:sp>
      <p:sp>
        <p:nvSpPr>
          <p:cNvPr id="10244" name="Rectangle 4">
            <a:extLst>
              <a:ext uri="{FF2B5EF4-FFF2-40B4-BE49-F238E27FC236}">
                <a16:creationId xmlns:a16="http://schemas.microsoft.com/office/drawing/2014/main" id="{C8AA37B2-C0BC-8FFD-05CC-671CEEBE24AF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949450" y="5697538"/>
            <a:ext cx="1139825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ko-KR" altLang="en-US" sz="1800" b="1"/>
              <a:t>그림 </a:t>
            </a:r>
            <a:r>
              <a:rPr lang="en-US" altLang="ko-KR" sz="1800" b="1"/>
              <a:t>3-7</a:t>
            </a:r>
          </a:p>
        </p:txBody>
      </p:sp>
      <p:sp>
        <p:nvSpPr>
          <p:cNvPr id="10245" name="Rectangle 5">
            <a:extLst>
              <a:ext uri="{FF2B5EF4-FFF2-40B4-BE49-F238E27FC236}">
                <a16:creationId xmlns:a16="http://schemas.microsoft.com/office/drawing/2014/main" id="{F540460B-BA00-68EE-BB17-C75AF6E22D2D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6054725" y="5697538"/>
            <a:ext cx="1139825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ko-KR" altLang="en-US" sz="1800" b="1"/>
              <a:t>그림 </a:t>
            </a:r>
            <a:r>
              <a:rPr lang="en-US" altLang="ko-KR" sz="1800" b="1"/>
              <a:t>3-8</a:t>
            </a:r>
          </a:p>
        </p:txBody>
      </p:sp>
      <p:sp>
        <p:nvSpPr>
          <p:cNvPr id="10246" name="Rectangle 6">
            <a:extLst>
              <a:ext uri="{FF2B5EF4-FFF2-40B4-BE49-F238E27FC236}">
                <a16:creationId xmlns:a16="http://schemas.microsoft.com/office/drawing/2014/main" id="{47FCF08C-7D9A-8BA7-B681-DE398EDCDC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6488" y="209550"/>
            <a:ext cx="33464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l"/>
            <a:r>
              <a:rPr lang="en-US" altLang="ko-KR" sz="2800" b="1"/>
              <a:t>3-2  </a:t>
            </a:r>
            <a:r>
              <a:rPr lang="ko-KR" altLang="en-US" sz="2800" b="1"/>
              <a:t>클래스와 객체</a:t>
            </a:r>
          </a:p>
        </p:txBody>
      </p:sp>
      <p:pic>
        <p:nvPicPr>
          <p:cNvPr id="10249" name="Picture 9">
            <a:extLst>
              <a:ext uri="{FF2B5EF4-FFF2-40B4-BE49-F238E27FC236}">
                <a16:creationId xmlns:a16="http://schemas.microsoft.com/office/drawing/2014/main" id="{2E154D5A-B8A2-F539-CBCB-D1C5169860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3124200"/>
            <a:ext cx="4549775" cy="2266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0" name="Picture 10">
            <a:extLst>
              <a:ext uri="{FF2B5EF4-FFF2-40B4-BE49-F238E27FC236}">
                <a16:creationId xmlns:a16="http://schemas.microsoft.com/office/drawing/2014/main" id="{3EAF6357-3C88-4AA2-EF96-4B8CBF38A1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3124200"/>
            <a:ext cx="3228975" cy="1962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3">
            <a:extLst>
              <a:ext uri="{FF2B5EF4-FFF2-40B4-BE49-F238E27FC236}">
                <a16:creationId xmlns:a16="http://schemas.microsoft.com/office/drawing/2014/main" id="{F323B4AF-C6E6-4773-EE9D-BB81F77C0E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1196975"/>
            <a:ext cx="5868988" cy="1116013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2800" b="1"/>
              <a:t>클래스화 이후의 인스턴스화</a:t>
            </a:r>
          </a:p>
          <a:p>
            <a:pPr lvl="1">
              <a:lnSpc>
                <a:spcPct val="120000"/>
              </a:lnSpc>
            </a:pPr>
            <a:r>
              <a:rPr lang="ko-KR" altLang="en-US" sz="2400" b="1"/>
              <a:t>클래스 기반의 객체</a:t>
            </a:r>
            <a:r>
              <a:rPr lang="en-US" altLang="ko-KR" sz="2400" b="1"/>
              <a:t>(Object) </a:t>
            </a:r>
            <a:r>
              <a:rPr lang="ko-KR" altLang="en-US" sz="2400" b="1"/>
              <a:t>생성</a:t>
            </a:r>
          </a:p>
        </p:txBody>
      </p:sp>
      <p:sp>
        <p:nvSpPr>
          <p:cNvPr id="11268" name="Rectangle 4">
            <a:extLst>
              <a:ext uri="{FF2B5EF4-FFF2-40B4-BE49-F238E27FC236}">
                <a16:creationId xmlns:a16="http://schemas.microsoft.com/office/drawing/2014/main" id="{4F92FCE0-34C2-CBB7-7761-E339955AB5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2575" y="6037263"/>
            <a:ext cx="958850" cy="307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ko-KR" altLang="en-US" sz="1800" b="1"/>
              <a:t>그림 </a:t>
            </a:r>
            <a:r>
              <a:rPr lang="en-US" altLang="ko-KR" sz="1800" b="1"/>
              <a:t>3-9</a:t>
            </a:r>
          </a:p>
        </p:txBody>
      </p:sp>
      <p:sp>
        <p:nvSpPr>
          <p:cNvPr id="11269" name="Rectangle 5">
            <a:extLst>
              <a:ext uri="{FF2B5EF4-FFF2-40B4-BE49-F238E27FC236}">
                <a16:creationId xmlns:a16="http://schemas.microsoft.com/office/drawing/2014/main" id="{8B99C544-73D3-F86E-989B-EA892228C1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6488" y="209550"/>
            <a:ext cx="33464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l"/>
            <a:r>
              <a:rPr lang="en-US" altLang="ko-KR" sz="2800" b="1"/>
              <a:t>3-2  </a:t>
            </a:r>
            <a:r>
              <a:rPr lang="ko-KR" altLang="en-US" sz="2800" b="1"/>
              <a:t>클래스와 객체</a:t>
            </a:r>
          </a:p>
        </p:txBody>
      </p:sp>
      <p:pic>
        <p:nvPicPr>
          <p:cNvPr id="11271" name="Picture 7">
            <a:extLst>
              <a:ext uri="{FF2B5EF4-FFF2-40B4-BE49-F238E27FC236}">
                <a16:creationId xmlns:a16="http://schemas.microsoft.com/office/drawing/2014/main" id="{406F597E-6AC5-F8BC-E6B0-30A8FFEA6D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350" y="2701925"/>
            <a:ext cx="678815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A9B59BA8-CA1E-099A-AE8D-942EE5B9FF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11413" y="188913"/>
            <a:ext cx="5181600" cy="519112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ko-KR" sz="2800" b="1"/>
              <a:t>3-3  </a:t>
            </a:r>
            <a:r>
              <a:rPr lang="ko-KR" altLang="en-US" sz="2800" b="1"/>
              <a:t>클래스 멤버의 접근 제어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23B69A1E-5E3D-E025-CFB4-AD5BBE843A7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1196975"/>
            <a:ext cx="5938838" cy="604838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2800" b="1"/>
              <a:t>클래스의 내부 접근과 외부 접근</a:t>
            </a:r>
          </a:p>
        </p:txBody>
      </p:sp>
      <p:sp>
        <p:nvSpPr>
          <p:cNvPr id="12292" name="Rectangle 4">
            <a:extLst>
              <a:ext uri="{FF2B5EF4-FFF2-40B4-BE49-F238E27FC236}">
                <a16:creationId xmlns:a16="http://schemas.microsoft.com/office/drawing/2014/main" id="{22821020-E2C3-3E6D-B54B-9FE813D94B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013" y="1881188"/>
            <a:ext cx="5257800" cy="4648200"/>
          </a:xfrm>
          <a:prstGeom prst="rect">
            <a:avLst/>
          </a:prstGeom>
          <a:solidFill>
            <a:srgbClr val="EDF7E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06000" tIns="118800" bIns="190800" anchor="ctr"/>
          <a:lstStyle>
            <a:lvl1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ko-KR" sz="1400" b="1">
                <a:cs typeface="Times New Roman" panose="02020603050405020304" pitchFamily="18" charset="0"/>
              </a:rPr>
              <a:t>class Counter {</a:t>
            </a:r>
          </a:p>
          <a:p>
            <a:pPr>
              <a:lnSpc>
                <a:spcPct val="120000"/>
              </a:lnSpc>
            </a:pPr>
            <a:r>
              <a:rPr lang="en-US" altLang="ko-KR" sz="1400" b="1">
                <a:cs typeface="Times New Roman" panose="02020603050405020304" pitchFamily="18" charset="0"/>
              </a:rPr>
              <a:t>public:</a:t>
            </a:r>
          </a:p>
          <a:p>
            <a:pPr>
              <a:lnSpc>
                <a:spcPct val="120000"/>
              </a:lnSpc>
            </a:pPr>
            <a:r>
              <a:rPr lang="en-US" altLang="ko-KR" sz="1400" b="1">
                <a:cs typeface="Times New Roman" panose="02020603050405020304" pitchFamily="18" charset="0"/>
              </a:rPr>
              <a:t>    int val;</a:t>
            </a:r>
          </a:p>
          <a:p>
            <a:pPr>
              <a:lnSpc>
                <a:spcPct val="120000"/>
              </a:lnSpc>
            </a:pPr>
            <a:r>
              <a:rPr lang="en-US" altLang="ko-KR" sz="1400" b="1">
                <a:cs typeface="Times New Roman" panose="02020603050405020304" pitchFamily="18" charset="0"/>
              </a:rPr>
              <a:t>    void Increment(void)</a:t>
            </a:r>
          </a:p>
          <a:p>
            <a:pPr>
              <a:lnSpc>
                <a:spcPct val="120000"/>
              </a:lnSpc>
            </a:pPr>
            <a:r>
              <a:rPr lang="en-US" altLang="ko-KR" sz="1400" b="1">
                <a:cs typeface="Times New Roman" panose="02020603050405020304" pitchFamily="18" charset="0"/>
              </a:rPr>
              <a:t>    {</a:t>
            </a:r>
          </a:p>
          <a:p>
            <a:pPr>
              <a:lnSpc>
                <a:spcPct val="120000"/>
              </a:lnSpc>
            </a:pPr>
            <a:r>
              <a:rPr lang="en-US" altLang="ko-KR" sz="1400" b="1">
                <a:cs typeface="Times New Roman" panose="02020603050405020304" pitchFamily="18" charset="0"/>
              </a:rPr>
              <a:t>        val++;	 //</a:t>
            </a:r>
            <a:r>
              <a:rPr lang="ko-KR" altLang="en-US" sz="1400" b="1">
                <a:cs typeface="Times New Roman" panose="02020603050405020304" pitchFamily="18" charset="0"/>
              </a:rPr>
              <a:t>내부 접근</a:t>
            </a:r>
          </a:p>
          <a:p>
            <a:pPr>
              <a:lnSpc>
                <a:spcPct val="120000"/>
              </a:lnSpc>
            </a:pPr>
            <a:r>
              <a:rPr lang="ko-KR" altLang="en-US" sz="1400" b="1">
                <a:cs typeface="Times New Roman" panose="02020603050405020304" pitchFamily="18" charset="0"/>
              </a:rPr>
              <a:t>    </a:t>
            </a:r>
            <a:r>
              <a:rPr lang="en-US" altLang="ko-KR" sz="1400" b="1">
                <a:cs typeface="Times New Roman" panose="02020603050405020304" pitchFamily="18" charset="0"/>
              </a:rPr>
              <a:t>}</a:t>
            </a:r>
          </a:p>
          <a:p>
            <a:pPr>
              <a:lnSpc>
                <a:spcPct val="120000"/>
              </a:lnSpc>
            </a:pPr>
            <a:r>
              <a:rPr lang="en-US" altLang="ko-KR" sz="1400" b="1">
                <a:cs typeface="Times New Roman" panose="02020603050405020304" pitchFamily="18" charset="0"/>
              </a:rPr>
              <a:t>};</a:t>
            </a:r>
          </a:p>
          <a:p>
            <a:pPr>
              <a:lnSpc>
                <a:spcPct val="120000"/>
              </a:lnSpc>
            </a:pPr>
            <a:r>
              <a:rPr lang="en-US" altLang="ko-KR" sz="1400" b="1"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20000"/>
              </a:lnSpc>
            </a:pPr>
            <a:r>
              <a:rPr lang="en-US" altLang="ko-KR" sz="1400" b="1">
                <a:cs typeface="Times New Roman" panose="02020603050405020304" pitchFamily="18" charset="0"/>
              </a:rPr>
              <a:t>int main(void)</a:t>
            </a:r>
          </a:p>
          <a:p>
            <a:pPr>
              <a:lnSpc>
                <a:spcPct val="120000"/>
              </a:lnSpc>
            </a:pPr>
            <a:r>
              <a:rPr lang="en-US" altLang="ko-KR" sz="1400" b="1">
                <a:cs typeface="Times New Roman" panose="02020603050405020304" pitchFamily="18" charset="0"/>
              </a:rPr>
              <a:t>{</a:t>
            </a:r>
          </a:p>
          <a:p>
            <a:pPr>
              <a:lnSpc>
                <a:spcPct val="120000"/>
              </a:lnSpc>
            </a:pPr>
            <a:r>
              <a:rPr lang="en-US" altLang="ko-KR" sz="1400" b="1">
                <a:cs typeface="Times New Roman" panose="02020603050405020304" pitchFamily="18" charset="0"/>
              </a:rPr>
              <a:t>   Counter cnt;</a:t>
            </a:r>
          </a:p>
          <a:p>
            <a:pPr>
              <a:lnSpc>
                <a:spcPct val="120000"/>
              </a:lnSpc>
            </a:pPr>
            <a:r>
              <a:rPr lang="en-US" altLang="ko-KR" sz="1400" b="1">
                <a:cs typeface="Times New Roman" panose="02020603050405020304" pitchFamily="18" charset="0"/>
              </a:rPr>
              <a:t>   cnt.val=0;   	//</a:t>
            </a:r>
            <a:r>
              <a:rPr lang="ko-KR" altLang="en-US" sz="1400" b="1">
                <a:cs typeface="Times New Roman" panose="02020603050405020304" pitchFamily="18" charset="0"/>
              </a:rPr>
              <a:t>외부 접근</a:t>
            </a:r>
          </a:p>
          <a:p>
            <a:pPr>
              <a:lnSpc>
                <a:spcPct val="120000"/>
              </a:lnSpc>
            </a:pPr>
            <a:r>
              <a:rPr lang="ko-KR" altLang="en-US" sz="1400" b="1">
                <a:cs typeface="Times New Roman" panose="02020603050405020304" pitchFamily="18" charset="0"/>
              </a:rPr>
              <a:t>   </a:t>
            </a:r>
            <a:r>
              <a:rPr lang="en-US" altLang="ko-KR" sz="1400" b="1">
                <a:cs typeface="Times New Roman" panose="02020603050405020304" pitchFamily="18" charset="0"/>
              </a:rPr>
              <a:t>cnt.Increment();   	//</a:t>
            </a:r>
            <a:r>
              <a:rPr lang="ko-KR" altLang="en-US" sz="1400" b="1">
                <a:cs typeface="Times New Roman" panose="02020603050405020304" pitchFamily="18" charset="0"/>
              </a:rPr>
              <a:t>외부 접근</a:t>
            </a:r>
          </a:p>
          <a:p>
            <a:pPr>
              <a:lnSpc>
                <a:spcPct val="120000"/>
              </a:lnSpc>
            </a:pPr>
            <a:r>
              <a:rPr lang="ko-KR" altLang="en-US" sz="1400" b="1">
                <a:cs typeface="Times New Roman" panose="02020603050405020304" pitchFamily="18" charset="0"/>
              </a:rPr>
              <a:t>   </a:t>
            </a:r>
            <a:r>
              <a:rPr lang="en-US" altLang="ko-KR" sz="1400" b="1">
                <a:cs typeface="Times New Roman" panose="02020603050405020304" pitchFamily="18" charset="0"/>
              </a:rPr>
              <a:t>cout&lt;&lt;cnt.val&lt;&lt;endl;   	//</a:t>
            </a:r>
            <a:r>
              <a:rPr lang="ko-KR" altLang="en-US" sz="1400" b="1">
                <a:cs typeface="Times New Roman" panose="02020603050405020304" pitchFamily="18" charset="0"/>
              </a:rPr>
              <a:t>외부 접근 </a:t>
            </a:r>
          </a:p>
          <a:p>
            <a:pPr>
              <a:lnSpc>
                <a:spcPct val="120000"/>
              </a:lnSpc>
            </a:pPr>
            <a:r>
              <a:rPr lang="ko-KR" altLang="en-US" sz="1400" b="1">
                <a:cs typeface="Times New Roman" panose="02020603050405020304" pitchFamily="18" charset="0"/>
              </a:rPr>
              <a:t>   </a:t>
            </a:r>
            <a:r>
              <a:rPr lang="en-US" altLang="ko-KR" sz="1400" b="1">
                <a:cs typeface="Times New Roman" panose="02020603050405020304" pitchFamily="18" charset="0"/>
              </a:rPr>
              <a:t>return 0;</a:t>
            </a:r>
          </a:p>
          <a:p>
            <a:pPr>
              <a:lnSpc>
                <a:spcPct val="120000"/>
              </a:lnSpc>
            </a:pPr>
            <a:r>
              <a:rPr lang="en-US" altLang="ko-KR" sz="1400" b="1">
                <a:cs typeface="Times New Roman" panose="02020603050405020304" pitchFamily="18" charset="0"/>
              </a:rPr>
              <a:t>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6" name="Rectangle 4">
            <a:extLst>
              <a:ext uri="{FF2B5EF4-FFF2-40B4-BE49-F238E27FC236}">
                <a16:creationId xmlns:a16="http://schemas.microsoft.com/office/drawing/2014/main" id="{59BB8FF3-7643-1052-3C19-C13B35B734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013" y="1412875"/>
            <a:ext cx="3733800" cy="5076825"/>
          </a:xfrm>
          <a:prstGeom prst="rect">
            <a:avLst/>
          </a:prstGeom>
          <a:solidFill>
            <a:srgbClr val="EDF7E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06000" tIns="118800" bIns="190800" anchor="ctr"/>
          <a:lstStyle>
            <a:lvl1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ko-KR" sz="1400" b="1">
                <a:cs typeface="Times New Roman" panose="02020603050405020304" pitchFamily="18" charset="0"/>
              </a:rPr>
              <a:t>const int OPEN=1;</a:t>
            </a:r>
          </a:p>
          <a:p>
            <a:pPr>
              <a:lnSpc>
                <a:spcPct val="110000"/>
              </a:lnSpc>
            </a:pPr>
            <a:r>
              <a:rPr lang="en-US" altLang="ko-KR" sz="1400" b="1">
                <a:cs typeface="Times New Roman" panose="02020603050405020304" pitchFamily="18" charset="0"/>
              </a:rPr>
              <a:t>const int CLOSE=2;</a:t>
            </a:r>
          </a:p>
          <a:p>
            <a:pPr>
              <a:lnSpc>
                <a:spcPct val="110000"/>
              </a:lnSpc>
            </a:pPr>
            <a:endParaRPr lang="en-US" altLang="ko-KR" sz="1400" b="1"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altLang="ko-KR" sz="1400" b="1">
                <a:cs typeface="Times New Roman" panose="02020603050405020304" pitchFamily="18" charset="0"/>
              </a:rPr>
              <a:t>class Door{	</a:t>
            </a:r>
          </a:p>
          <a:p>
            <a:pPr>
              <a:lnSpc>
                <a:spcPct val="110000"/>
              </a:lnSpc>
            </a:pPr>
            <a:r>
              <a:rPr lang="en-US" altLang="ko-KR" sz="1400" b="1">
                <a:cs typeface="Times New Roman" panose="02020603050405020304" pitchFamily="18" charset="0"/>
              </a:rPr>
              <a:t>private:</a:t>
            </a:r>
          </a:p>
          <a:p>
            <a:pPr>
              <a:lnSpc>
                <a:spcPct val="110000"/>
              </a:lnSpc>
            </a:pPr>
            <a:r>
              <a:rPr lang="en-US" altLang="ko-KR" sz="1400" b="1">
                <a:cs typeface="Times New Roman" panose="02020603050405020304" pitchFamily="18" charset="0"/>
              </a:rPr>
              <a:t>    int state;</a:t>
            </a:r>
          </a:p>
          <a:p>
            <a:pPr>
              <a:lnSpc>
                <a:spcPct val="110000"/>
              </a:lnSpc>
            </a:pPr>
            <a:r>
              <a:rPr lang="en-US" altLang="ko-KR" sz="1400" b="1">
                <a:cs typeface="Times New Roman" panose="02020603050405020304" pitchFamily="18" charset="0"/>
              </a:rPr>
              <a:t>public:</a:t>
            </a:r>
          </a:p>
          <a:p>
            <a:pPr>
              <a:lnSpc>
                <a:spcPct val="110000"/>
              </a:lnSpc>
            </a:pPr>
            <a:r>
              <a:rPr lang="en-US" altLang="ko-KR" sz="1400" b="1">
                <a:cs typeface="Times New Roman" panose="02020603050405020304" pitchFamily="18" charset="0"/>
              </a:rPr>
              <a:t>    void Open(){ state=OPEN; }</a:t>
            </a:r>
          </a:p>
          <a:p>
            <a:pPr>
              <a:lnSpc>
                <a:spcPct val="110000"/>
              </a:lnSpc>
            </a:pPr>
            <a:r>
              <a:rPr lang="en-US" altLang="ko-KR" sz="1400" b="1">
                <a:cs typeface="Times New Roman" panose="02020603050405020304" pitchFamily="18" charset="0"/>
              </a:rPr>
              <a:t>    void Close(){ state=CLOSE; }</a:t>
            </a:r>
          </a:p>
          <a:p>
            <a:pPr>
              <a:lnSpc>
                <a:spcPct val="110000"/>
              </a:lnSpc>
            </a:pPr>
            <a:r>
              <a:rPr lang="en-US" altLang="ko-KR" sz="1400" b="1">
                <a:cs typeface="Times New Roman" panose="02020603050405020304" pitchFamily="18" charset="0"/>
              </a:rPr>
              <a:t>    void ShowState(){ …</a:t>
            </a:r>
            <a:r>
              <a:rPr lang="ko-KR" altLang="en-US" sz="1400" b="1">
                <a:cs typeface="Times New Roman" panose="02020603050405020304" pitchFamily="18" charset="0"/>
              </a:rPr>
              <a:t>생략</a:t>
            </a:r>
            <a:r>
              <a:rPr lang="en-US" altLang="ko-KR" sz="1400" b="1">
                <a:cs typeface="Times New Roman" panose="02020603050405020304" pitchFamily="18" charset="0"/>
              </a:rPr>
              <a:t>…  }</a:t>
            </a:r>
          </a:p>
          <a:p>
            <a:pPr>
              <a:lnSpc>
                <a:spcPct val="110000"/>
              </a:lnSpc>
            </a:pPr>
            <a:r>
              <a:rPr lang="en-US" altLang="ko-KR" sz="1400" b="1">
                <a:cs typeface="Times New Roman" panose="02020603050405020304" pitchFamily="18" charset="0"/>
              </a:rPr>
              <a:t>};</a:t>
            </a:r>
          </a:p>
          <a:p>
            <a:pPr>
              <a:lnSpc>
                <a:spcPct val="110000"/>
              </a:lnSpc>
            </a:pPr>
            <a:endParaRPr lang="en-US" altLang="ko-KR" sz="1400" b="1"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altLang="ko-KR" sz="1400" b="1">
                <a:cs typeface="Times New Roman" panose="02020603050405020304" pitchFamily="18" charset="0"/>
              </a:rPr>
              <a:t>int main()</a:t>
            </a:r>
          </a:p>
          <a:p>
            <a:pPr>
              <a:lnSpc>
                <a:spcPct val="110000"/>
              </a:lnSpc>
            </a:pPr>
            <a:r>
              <a:rPr lang="en-US" altLang="ko-KR" sz="1400" b="1">
                <a:cs typeface="Times New Roman" panose="02020603050405020304" pitchFamily="18" charset="0"/>
              </a:rPr>
              <a:t>{</a:t>
            </a:r>
          </a:p>
          <a:p>
            <a:pPr>
              <a:lnSpc>
                <a:spcPct val="110000"/>
              </a:lnSpc>
            </a:pPr>
            <a:r>
              <a:rPr lang="en-US" altLang="ko-KR" sz="1400" b="1">
                <a:cs typeface="Times New Roman" panose="02020603050405020304" pitchFamily="18" charset="0"/>
              </a:rPr>
              <a:t>    Door d;</a:t>
            </a:r>
          </a:p>
          <a:p>
            <a:pPr>
              <a:lnSpc>
                <a:spcPct val="110000"/>
              </a:lnSpc>
            </a:pPr>
            <a:r>
              <a:rPr lang="en-US" altLang="ko-KR" sz="1400" b="1">
                <a:cs typeface="Times New Roman" panose="02020603050405020304" pitchFamily="18" charset="0"/>
              </a:rPr>
              <a:t>    //d.state=OPEN;	</a:t>
            </a:r>
          </a:p>
          <a:p>
            <a:pPr>
              <a:lnSpc>
                <a:spcPct val="110000"/>
              </a:lnSpc>
            </a:pPr>
            <a:r>
              <a:rPr lang="en-US" altLang="ko-KR" sz="1400" b="1">
                <a:cs typeface="Times New Roman" panose="02020603050405020304" pitchFamily="18" charset="0"/>
              </a:rPr>
              <a:t>    d.Open();</a:t>
            </a:r>
          </a:p>
          <a:p>
            <a:pPr>
              <a:lnSpc>
                <a:spcPct val="110000"/>
              </a:lnSpc>
            </a:pPr>
            <a:r>
              <a:rPr lang="en-US" altLang="ko-KR" sz="1400" b="1">
                <a:cs typeface="Times New Roman" panose="02020603050405020304" pitchFamily="18" charset="0"/>
              </a:rPr>
              <a:t>    d.ShowState();</a:t>
            </a:r>
          </a:p>
          <a:p>
            <a:pPr>
              <a:lnSpc>
                <a:spcPct val="110000"/>
              </a:lnSpc>
            </a:pPr>
            <a:r>
              <a:rPr lang="en-US" altLang="ko-KR" sz="1400" b="1">
                <a:cs typeface="Times New Roman" panose="02020603050405020304" pitchFamily="18" charset="0"/>
              </a:rPr>
              <a:t>    return 0;</a:t>
            </a:r>
          </a:p>
          <a:p>
            <a:pPr>
              <a:lnSpc>
                <a:spcPct val="110000"/>
              </a:lnSpc>
            </a:pPr>
            <a:r>
              <a:rPr lang="en-US" altLang="ko-KR" sz="1400" b="1"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13317" name="Rectangle 5">
            <a:extLst>
              <a:ext uri="{FF2B5EF4-FFF2-40B4-BE49-F238E27FC236}">
                <a16:creationId xmlns:a16="http://schemas.microsoft.com/office/drawing/2014/main" id="{9C6176DB-122D-2944-C53C-3EB430012C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9688" y="5265738"/>
            <a:ext cx="1117600" cy="307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ko-KR" altLang="en-US" sz="1800" b="1"/>
              <a:t>그림 </a:t>
            </a:r>
            <a:r>
              <a:rPr lang="en-US" altLang="ko-KR" sz="1800" b="1"/>
              <a:t>3-10</a:t>
            </a:r>
          </a:p>
        </p:txBody>
      </p:sp>
      <p:sp>
        <p:nvSpPr>
          <p:cNvPr id="13318" name="Rectangle 6">
            <a:extLst>
              <a:ext uri="{FF2B5EF4-FFF2-40B4-BE49-F238E27FC236}">
                <a16:creationId xmlns:a16="http://schemas.microsoft.com/office/drawing/2014/main" id="{742F4DF7-D19F-740A-D4B7-BBF4200CCF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1413" y="188913"/>
            <a:ext cx="5181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l"/>
            <a:r>
              <a:rPr lang="en-US" altLang="ko-KR" sz="2800" b="1"/>
              <a:t>3-3  </a:t>
            </a:r>
            <a:r>
              <a:rPr lang="ko-KR" altLang="en-US" sz="2800" b="1"/>
              <a:t>클래스 멤버의 접근 제어</a:t>
            </a:r>
          </a:p>
        </p:txBody>
      </p:sp>
      <p:pic>
        <p:nvPicPr>
          <p:cNvPr id="13320" name="Picture 8">
            <a:extLst>
              <a:ext uri="{FF2B5EF4-FFF2-40B4-BE49-F238E27FC236}">
                <a16:creationId xmlns:a16="http://schemas.microsoft.com/office/drawing/2014/main" id="{E03F93FE-5908-DA8D-A215-8FDE665669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0675" y="2312988"/>
            <a:ext cx="2971800" cy="259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8641F32A-422B-52C3-09B4-1EDC28984F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11413" y="207963"/>
            <a:ext cx="4822825" cy="519112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ko-KR" sz="2800" b="1"/>
              <a:t>3-4  </a:t>
            </a:r>
            <a:r>
              <a:rPr lang="ko-KR" altLang="en-US" sz="2800" b="1"/>
              <a:t>멤버 함수의 외부 정의</a:t>
            </a:r>
          </a:p>
        </p:txBody>
      </p:sp>
      <p:sp>
        <p:nvSpPr>
          <p:cNvPr id="14340" name="Rectangle 4">
            <a:extLst>
              <a:ext uri="{FF2B5EF4-FFF2-40B4-BE49-F238E27FC236}">
                <a16:creationId xmlns:a16="http://schemas.microsoft.com/office/drawing/2014/main" id="{6A795E0F-E20E-39C3-EC8E-5A740F0E68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013" y="1412875"/>
            <a:ext cx="3200400" cy="5148263"/>
          </a:xfrm>
          <a:prstGeom prst="rect">
            <a:avLst/>
          </a:prstGeom>
          <a:solidFill>
            <a:srgbClr val="EDF7E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06000" tIns="118800" bIns="190800" anchor="ctr"/>
          <a:lstStyle>
            <a:lvl1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ko-KR" sz="1400" b="1">
                <a:cs typeface="Times New Roman" panose="02020603050405020304" pitchFamily="18" charset="0"/>
              </a:rPr>
              <a:t>class Door{</a:t>
            </a:r>
          </a:p>
          <a:p>
            <a:pPr>
              <a:lnSpc>
                <a:spcPct val="120000"/>
              </a:lnSpc>
            </a:pPr>
            <a:r>
              <a:rPr lang="en-US" altLang="ko-KR" sz="1400" b="1">
                <a:cs typeface="Times New Roman" panose="02020603050405020304" pitchFamily="18" charset="0"/>
              </a:rPr>
              <a:t>private:</a:t>
            </a:r>
          </a:p>
          <a:p>
            <a:pPr>
              <a:lnSpc>
                <a:spcPct val="120000"/>
              </a:lnSpc>
            </a:pPr>
            <a:r>
              <a:rPr lang="en-US" altLang="ko-KR" sz="1400" b="1">
                <a:cs typeface="Times New Roman" panose="02020603050405020304" pitchFamily="18" charset="0"/>
              </a:rPr>
              <a:t>    int state;</a:t>
            </a:r>
          </a:p>
          <a:p>
            <a:pPr>
              <a:lnSpc>
                <a:spcPct val="120000"/>
              </a:lnSpc>
            </a:pPr>
            <a:r>
              <a:rPr lang="en-US" altLang="ko-KR" sz="1400" b="1"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20000"/>
              </a:lnSpc>
            </a:pPr>
            <a:r>
              <a:rPr lang="en-US" altLang="ko-KR" sz="1400" b="1">
                <a:cs typeface="Times New Roman" panose="02020603050405020304" pitchFamily="18" charset="0"/>
              </a:rPr>
              <a:t>public:</a:t>
            </a:r>
          </a:p>
          <a:p>
            <a:pPr>
              <a:lnSpc>
                <a:spcPct val="120000"/>
              </a:lnSpc>
            </a:pPr>
            <a:r>
              <a:rPr lang="en-US" altLang="ko-KR" sz="1400" b="1">
                <a:cs typeface="Times New Roman" panose="02020603050405020304" pitchFamily="18" charset="0"/>
              </a:rPr>
              <a:t>    void Open();</a:t>
            </a:r>
          </a:p>
          <a:p>
            <a:pPr>
              <a:lnSpc>
                <a:spcPct val="120000"/>
              </a:lnSpc>
            </a:pPr>
            <a:r>
              <a:rPr lang="en-US" altLang="ko-KR" sz="1400" b="1">
                <a:cs typeface="Times New Roman" panose="02020603050405020304" pitchFamily="18" charset="0"/>
              </a:rPr>
              <a:t>    void Close();</a:t>
            </a:r>
          </a:p>
          <a:p>
            <a:pPr>
              <a:lnSpc>
                <a:spcPct val="120000"/>
              </a:lnSpc>
            </a:pPr>
            <a:r>
              <a:rPr lang="en-US" altLang="ko-KR" sz="1400" b="1">
                <a:cs typeface="Times New Roman" panose="02020603050405020304" pitchFamily="18" charset="0"/>
              </a:rPr>
              <a:t>    void ShowState();</a:t>
            </a:r>
          </a:p>
          <a:p>
            <a:pPr>
              <a:lnSpc>
                <a:spcPct val="120000"/>
              </a:lnSpc>
            </a:pPr>
            <a:r>
              <a:rPr lang="en-US" altLang="ko-KR" sz="1400" b="1">
                <a:cs typeface="Times New Roman" panose="02020603050405020304" pitchFamily="18" charset="0"/>
              </a:rPr>
              <a:t>};</a:t>
            </a:r>
          </a:p>
          <a:p>
            <a:pPr>
              <a:lnSpc>
                <a:spcPct val="120000"/>
              </a:lnSpc>
            </a:pPr>
            <a:r>
              <a:rPr lang="en-US" altLang="ko-KR" sz="1400" b="1"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20000"/>
              </a:lnSpc>
            </a:pPr>
            <a:r>
              <a:rPr lang="en-US" altLang="ko-KR" sz="1400" b="1">
                <a:cs typeface="Times New Roman" panose="02020603050405020304" pitchFamily="18" charset="0"/>
              </a:rPr>
              <a:t>void </a:t>
            </a:r>
            <a:r>
              <a:rPr lang="en-US" altLang="ko-KR" sz="1600" b="1">
                <a:cs typeface="Times New Roman" panose="02020603050405020304" pitchFamily="18" charset="0"/>
              </a:rPr>
              <a:t>Door::Open()</a:t>
            </a:r>
            <a:r>
              <a:rPr lang="en-US" altLang="ko-KR" sz="1400" b="1">
                <a:cs typeface="Times New Roman" panose="02020603050405020304" pitchFamily="18" charset="0"/>
              </a:rPr>
              <a:t>{</a:t>
            </a:r>
          </a:p>
          <a:p>
            <a:pPr>
              <a:lnSpc>
                <a:spcPct val="120000"/>
              </a:lnSpc>
            </a:pPr>
            <a:r>
              <a:rPr lang="en-US" altLang="ko-KR" sz="1400" b="1">
                <a:cs typeface="Times New Roman" panose="02020603050405020304" pitchFamily="18" charset="0"/>
              </a:rPr>
              <a:t>   state=OPEN;</a:t>
            </a:r>
          </a:p>
          <a:p>
            <a:pPr>
              <a:lnSpc>
                <a:spcPct val="120000"/>
              </a:lnSpc>
            </a:pPr>
            <a:r>
              <a:rPr lang="en-US" altLang="ko-KR" sz="1400" b="1">
                <a:cs typeface="Times New Roman" panose="02020603050405020304" pitchFamily="18" charset="0"/>
              </a:rPr>
              <a:t>}</a:t>
            </a:r>
          </a:p>
          <a:p>
            <a:pPr>
              <a:lnSpc>
                <a:spcPct val="120000"/>
              </a:lnSpc>
            </a:pPr>
            <a:r>
              <a:rPr lang="en-US" altLang="ko-KR" sz="1400" b="1">
                <a:cs typeface="Times New Roman" panose="02020603050405020304" pitchFamily="18" charset="0"/>
              </a:rPr>
              <a:t>void </a:t>
            </a:r>
            <a:r>
              <a:rPr lang="en-US" altLang="ko-KR" sz="1600" b="1">
                <a:cs typeface="Times New Roman" panose="02020603050405020304" pitchFamily="18" charset="0"/>
              </a:rPr>
              <a:t>Door::Close()</a:t>
            </a:r>
            <a:r>
              <a:rPr lang="en-US" altLang="ko-KR" sz="1400" b="1">
                <a:cs typeface="Times New Roman" panose="02020603050405020304" pitchFamily="18" charset="0"/>
              </a:rPr>
              <a:t>{</a:t>
            </a:r>
          </a:p>
          <a:p>
            <a:pPr>
              <a:lnSpc>
                <a:spcPct val="120000"/>
              </a:lnSpc>
            </a:pPr>
            <a:r>
              <a:rPr lang="en-US" altLang="ko-KR" sz="1400" b="1">
                <a:cs typeface="Times New Roman" panose="02020603050405020304" pitchFamily="18" charset="0"/>
              </a:rPr>
              <a:t>   state=CLOSE;</a:t>
            </a:r>
          </a:p>
          <a:p>
            <a:pPr>
              <a:lnSpc>
                <a:spcPct val="120000"/>
              </a:lnSpc>
            </a:pPr>
            <a:r>
              <a:rPr lang="en-US" altLang="ko-KR" sz="1400" b="1">
                <a:cs typeface="Times New Roman" panose="02020603050405020304" pitchFamily="18" charset="0"/>
              </a:rPr>
              <a:t>}</a:t>
            </a:r>
          </a:p>
          <a:p>
            <a:pPr>
              <a:lnSpc>
                <a:spcPct val="120000"/>
              </a:lnSpc>
            </a:pPr>
            <a:r>
              <a:rPr lang="en-US" altLang="ko-KR" sz="1400" b="1">
                <a:cs typeface="Times New Roman" panose="02020603050405020304" pitchFamily="18" charset="0"/>
              </a:rPr>
              <a:t>void </a:t>
            </a:r>
            <a:r>
              <a:rPr lang="en-US" altLang="ko-KR" sz="1600" b="1">
                <a:cs typeface="Times New Roman" panose="02020603050405020304" pitchFamily="18" charset="0"/>
              </a:rPr>
              <a:t>Door::ShowState()</a:t>
            </a:r>
            <a:r>
              <a:rPr lang="en-US" altLang="ko-KR" sz="1400" b="1">
                <a:cs typeface="Times New Roman" panose="02020603050405020304" pitchFamily="18" charset="0"/>
              </a:rPr>
              <a:t>{</a:t>
            </a:r>
          </a:p>
          <a:p>
            <a:pPr>
              <a:lnSpc>
                <a:spcPct val="120000"/>
              </a:lnSpc>
            </a:pPr>
            <a:r>
              <a:rPr lang="en-US" altLang="ko-KR" sz="1400" b="1">
                <a:cs typeface="Times New Roman" panose="02020603050405020304" pitchFamily="18" charset="0"/>
              </a:rPr>
              <a:t>   … </a:t>
            </a:r>
            <a:r>
              <a:rPr lang="ko-KR" altLang="en-US" sz="1400" b="1">
                <a:cs typeface="Times New Roman" panose="02020603050405020304" pitchFamily="18" charset="0"/>
              </a:rPr>
              <a:t>생  략 </a:t>
            </a:r>
            <a:r>
              <a:rPr lang="en-US" altLang="ko-KR" sz="1400" b="1">
                <a:cs typeface="Times New Roman" panose="02020603050405020304" pitchFamily="18" charset="0"/>
              </a:rPr>
              <a:t>…</a:t>
            </a:r>
          </a:p>
          <a:p>
            <a:pPr>
              <a:lnSpc>
                <a:spcPct val="120000"/>
              </a:lnSpc>
            </a:pPr>
            <a:r>
              <a:rPr lang="en-US" altLang="ko-KR" sz="1400" b="1">
                <a:cs typeface="Times New Roman" panose="02020603050405020304" pitchFamily="18" charset="0"/>
              </a:rPr>
              <a:t>}</a:t>
            </a:r>
          </a:p>
        </p:txBody>
      </p:sp>
      <p:pic>
        <p:nvPicPr>
          <p:cNvPr id="14342" name="Picture 6">
            <a:extLst>
              <a:ext uri="{FF2B5EF4-FFF2-40B4-BE49-F238E27FC236}">
                <a16:creationId xmlns:a16="http://schemas.microsoft.com/office/drawing/2014/main" id="{0044F1FD-04C8-C293-228D-E58FBA7D8D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6213" y="2600325"/>
            <a:ext cx="2987675" cy="165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343" name="Rectangle 7">
            <a:extLst>
              <a:ext uri="{FF2B5EF4-FFF2-40B4-BE49-F238E27FC236}">
                <a16:creationId xmlns:a16="http://schemas.microsoft.com/office/drawing/2014/main" id="{74C9F911-9685-4144-B1EE-5143DE3367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9688" y="4651375"/>
            <a:ext cx="1117600" cy="307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ko-KR" altLang="en-US" sz="1800" b="1"/>
              <a:t>그림 </a:t>
            </a:r>
            <a:r>
              <a:rPr lang="en-US" altLang="ko-KR" sz="1800" b="1"/>
              <a:t>3-1</a:t>
            </a:r>
            <a:r>
              <a:rPr lang="en-US" altLang="ja-JP" sz="1800" b="1"/>
              <a:t>1</a:t>
            </a:r>
            <a:endParaRPr lang="en-US" altLang="ko-KR" sz="1800" b="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4" name="Rectangle 4">
            <a:extLst>
              <a:ext uri="{FF2B5EF4-FFF2-40B4-BE49-F238E27FC236}">
                <a16:creationId xmlns:a16="http://schemas.microsoft.com/office/drawing/2014/main" id="{4957602D-00DD-4BF6-B982-17FAA187BF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8288" y="1989138"/>
            <a:ext cx="3200400" cy="4500562"/>
          </a:xfrm>
          <a:prstGeom prst="rect">
            <a:avLst/>
          </a:prstGeom>
          <a:solidFill>
            <a:srgbClr val="EDF7E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06000" tIns="118800" bIns="190800" anchor="ctr"/>
          <a:lstStyle>
            <a:lvl1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lnSpc>
                <a:spcPct val="115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class Door{</a:t>
            </a:r>
          </a:p>
          <a:p>
            <a:pPr>
              <a:lnSpc>
                <a:spcPct val="115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private:</a:t>
            </a:r>
          </a:p>
          <a:p>
            <a:pPr>
              <a:lnSpc>
                <a:spcPct val="115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    int state;</a:t>
            </a:r>
          </a:p>
          <a:p>
            <a:pPr>
              <a:lnSpc>
                <a:spcPct val="115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15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public:</a:t>
            </a:r>
          </a:p>
          <a:p>
            <a:pPr>
              <a:lnSpc>
                <a:spcPct val="115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    void Open();</a:t>
            </a:r>
          </a:p>
          <a:p>
            <a:pPr>
              <a:lnSpc>
                <a:spcPct val="115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    void Close();</a:t>
            </a:r>
          </a:p>
          <a:p>
            <a:pPr>
              <a:lnSpc>
                <a:spcPct val="115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    void ShowState();</a:t>
            </a:r>
          </a:p>
          <a:p>
            <a:pPr>
              <a:lnSpc>
                <a:spcPct val="115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};</a:t>
            </a:r>
          </a:p>
          <a:p>
            <a:pPr>
              <a:lnSpc>
                <a:spcPct val="115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15000"/>
              </a:lnSpc>
            </a:pPr>
            <a:r>
              <a:rPr lang="en-US" altLang="ko-KR" sz="1400" b="1">
                <a:cs typeface="Times New Roman" panose="02020603050405020304" pitchFamily="18" charset="0"/>
              </a:rPr>
              <a:t>inline</a:t>
            </a:r>
            <a:r>
              <a:rPr lang="en-US" altLang="ko-KR" sz="1200" b="1">
                <a:cs typeface="Times New Roman" panose="02020603050405020304" pitchFamily="18" charset="0"/>
              </a:rPr>
              <a:t>  void Door::Open(){</a:t>
            </a:r>
          </a:p>
          <a:p>
            <a:pPr>
              <a:lnSpc>
                <a:spcPct val="115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   state=OPEN;</a:t>
            </a:r>
          </a:p>
          <a:p>
            <a:pPr>
              <a:lnSpc>
                <a:spcPct val="115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}</a:t>
            </a:r>
          </a:p>
          <a:p>
            <a:pPr>
              <a:lnSpc>
                <a:spcPct val="115000"/>
              </a:lnSpc>
            </a:pPr>
            <a:r>
              <a:rPr lang="en-US" altLang="ko-KR" sz="1400" b="1">
                <a:cs typeface="Times New Roman" panose="02020603050405020304" pitchFamily="18" charset="0"/>
              </a:rPr>
              <a:t>inline</a:t>
            </a:r>
            <a:r>
              <a:rPr lang="en-US" altLang="ko-KR" sz="1200" b="1">
                <a:cs typeface="Times New Roman" panose="02020603050405020304" pitchFamily="18" charset="0"/>
              </a:rPr>
              <a:t>  void Door::Close(){</a:t>
            </a:r>
          </a:p>
          <a:p>
            <a:pPr>
              <a:lnSpc>
                <a:spcPct val="115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   state=CLOSE;</a:t>
            </a:r>
          </a:p>
          <a:p>
            <a:pPr>
              <a:lnSpc>
                <a:spcPct val="115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}</a:t>
            </a:r>
          </a:p>
          <a:p>
            <a:pPr>
              <a:lnSpc>
                <a:spcPct val="115000"/>
              </a:lnSpc>
            </a:pPr>
            <a:r>
              <a:rPr lang="en-US" altLang="ko-KR" sz="1400" b="1">
                <a:cs typeface="Times New Roman" panose="02020603050405020304" pitchFamily="18" charset="0"/>
              </a:rPr>
              <a:t>inline</a:t>
            </a:r>
            <a:r>
              <a:rPr lang="en-US" altLang="ko-KR" sz="1200" b="1">
                <a:cs typeface="Times New Roman" panose="02020603050405020304" pitchFamily="18" charset="0"/>
              </a:rPr>
              <a:t>  void Door::ShowState(){</a:t>
            </a:r>
          </a:p>
          <a:p>
            <a:pPr>
              <a:lnSpc>
                <a:spcPct val="115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   … </a:t>
            </a:r>
            <a:r>
              <a:rPr lang="ko-KR" altLang="en-US" sz="1200" b="1">
                <a:cs typeface="Times New Roman" panose="02020603050405020304" pitchFamily="18" charset="0"/>
              </a:rPr>
              <a:t>생  략 </a:t>
            </a:r>
            <a:r>
              <a:rPr lang="en-US" altLang="ko-KR" sz="1200" b="1">
                <a:cs typeface="Times New Roman" panose="02020603050405020304" pitchFamily="18" charset="0"/>
              </a:rPr>
              <a:t>…</a:t>
            </a:r>
          </a:p>
          <a:p>
            <a:pPr>
              <a:lnSpc>
                <a:spcPct val="115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15365" name="Rectangle 5">
            <a:extLst>
              <a:ext uri="{FF2B5EF4-FFF2-40B4-BE49-F238E27FC236}">
                <a16:creationId xmlns:a16="http://schemas.microsoft.com/office/drawing/2014/main" id="{5DFD500F-B127-B0A5-16E2-1A51A4977C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3463" y="1989138"/>
            <a:ext cx="2971800" cy="4211637"/>
          </a:xfrm>
          <a:prstGeom prst="rect">
            <a:avLst/>
          </a:prstGeom>
          <a:solidFill>
            <a:srgbClr val="EDF7E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06000" tIns="118800" bIns="190800" anchor="ctr"/>
          <a:lstStyle>
            <a:lvl1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lnSpc>
                <a:spcPct val="115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const int OPEN=1;</a:t>
            </a:r>
          </a:p>
          <a:p>
            <a:pPr>
              <a:lnSpc>
                <a:spcPct val="115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const int CLOSE=2;</a:t>
            </a:r>
          </a:p>
          <a:p>
            <a:pPr>
              <a:lnSpc>
                <a:spcPct val="115000"/>
              </a:lnSpc>
            </a:pPr>
            <a:endParaRPr lang="en-US" altLang="ko-KR" sz="1200" b="1"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class Door{	</a:t>
            </a:r>
          </a:p>
          <a:p>
            <a:pPr>
              <a:lnSpc>
                <a:spcPct val="115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private:</a:t>
            </a:r>
          </a:p>
          <a:p>
            <a:pPr>
              <a:lnSpc>
                <a:spcPct val="115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    int state;</a:t>
            </a:r>
          </a:p>
          <a:p>
            <a:pPr>
              <a:lnSpc>
                <a:spcPct val="115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public:</a:t>
            </a:r>
          </a:p>
          <a:p>
            <a:pPr>
              <a:lnSpc>
                <a:spcPct val="115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    void Open(){ </a:t>
            </a:r>
          </a:p>
          <a:p>
            <a:pPr>
              <a:lnSpc>
                <a:spcPct val="115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        state=OPEN; </a:t>
            </a:r>
          </a:p>
          <a:p>
            <a:pPr>
              <a:lnSpc>
                <a:spcPct val="115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    }</a:t>
            </a:r>
          </a:p>
          <a:p>
            <a:pPr>
              <a:lnSpc>
                <a:spcPct val="115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    void Close(){ </a:t>
            </a:r>
          </a:p>
          <a:p>
            <a:pPr>
              <a:lnSpc>
                <a:spcPct val="115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        state=CLOSE; </a:t>
            </a:r>
          </a:p>
          <a:p>
            <a:pPr>
              <a:lnSpc>
                <a:spcPct val="115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    }</a:t>
            </a:r>
          </a:p>
          <a:p>
            <a:pPr>
              <a:lnSpc>
                <a:spcPct val="115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    void ShowState() {</a:t>
            </a:r>
          </a:p>
          <a:p>
            <a:pPr>
              <a:lnSpc>
                <a:spcPct val="115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     …</a:t>
            </a:r>
            <a:r>
              <a:rPr lang="ko-KR" altLang="en-US" sz="1200" b="1">
                <a:cs typeface="Times New Roman" panose="02020603050405020304" pitchFamily="18" charset="0"/>
              </a:rPr>
              <a:t>생략</a:t>
            </a:r>
            <a:r>
              <a:rPr lang="en-US" altLang="ko-KR" sz="1200" b="1">
                <a:cs typeface="Times New Roman" panose="02020603050405020304" pitchFamily="18" charset="0"/>
              </a:rPr>
              <a:t>…  </a:t>
            </a:r>
          </a:p>
          <a:p>
            <a:pPr>
              <a:lnSpc>
                <a:spcPct val="115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    }</a:t>
            </a:r>
          </a:p>
          <a:p>
            <a:pPr>
              <a:lnSpc>
                <a:spcPct val="115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};</a:t>
            </a:r>
          </a:p>
        </p:txBody>
      </p:sp>
      <p:sp>
        <p:nvSpPr>
          <p:cNvPr id="15366" name="Rectangle 6">
            <a:extLst>
              <a:ext uri="{FF2B5EF4-FFF2-40B4-BE49-F238E27FC236}">
                <a16:creationId xmlns:a16="http://schemas.microsoft.com/office/drawing/2014/main" id="{EBB61D7F-D704-EF40-CA63-59A0964224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1196975"/>
            <a:ext cx="4246563" cy="604838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2800" b="1"/>
              <a:t>멤버 함수의 인</a:t>
            </a:r>
            <a:r>
              <a:rPr lang="en-US" altLang="ko-KR" sz="2800" b="1"/>
              <a:t>-</a:t>
            </a:r>
            <a:r>
              <a:rPr lang="ko-KR" altLang="en-US" sz="2800" b="1"/>
              <a:t>라인화</a:t>
            </a:r>
          </a:p>
        </p:txBody>
      </p:sp>
      <p:sp>
        <p:nvSpPr>
          <p:cNvPr id="15367" name="Line 7">
            <a:extLst>
              <a:ext uri="{FF2B5EF4-FFF2-40B4-BE49-F238E27FC236}">
                <a16:creationId xmlns:a16="http://schemas.microsoft.com/office/drawing/2014/main" id="{553FB82B-66CB-35F6-1FE3-2321A1D433B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43363" y="3860800"/>
            <a:ext cx="1212850" cy="0"/>
          </a:xfrm>
          <a:prstGeom prst="line">
            <a:avLst/>
          </a:prstGeom>
          <a:noFill/>
          <a:ln w="53975">
            <a:solidFill>
              <a:schemeClr val="bg2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5368" name="Rectangle 8">
            <a:extLst>
              <a:ext uri="{FF2B5EF4-FFF2-40B4-BE49-F238E27FC236}">
                <a16:creationId xmlns:a16="http://schemas.microsoft.com/office/drawing/2014/main" id="{776BBB32-0E43-67EB-8ECC-F75319A64F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33875" y="3448050"/>
            <a:ext cx="6096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ko-KR" sz="1800" b="1"/>
              <a:t>equal!</a:t>
            </a:r>
          </a:p>
        </p:txBody>
      </p:sp>
      <p:sp>
        <p:nvSpPr>
          <p:cNvPr id="15369" name="Rectangle 9">
            <a:extLst>
              <a:ext uri="{FF2B5EF4-FFF2-40B4-BE49-F238E27FC236}">
                <a16:creationId xmlns:a16="http://schemas.microsoft.com/office/drawing/2014/main" id="{D6306158-7B2B-ED75-BA08-514F27E8AC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1413" y="207963"/>
            <a:ext cx="48228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l"/>
            <a:r>
              <a:rPr lang="en-US" altLang="ko-KR" sz="2800" b="1"/>
              <a:t>3-4  </a:t>
            </a:r>
            <a:r>
              <a:rPr lang="ko-KR" altLang="en-US" sz="2800" b="1"/>
              <a:t>멤버 함수의 외부 정의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3">
            <a:extLst>
              <a:ext uri="{FF2B5EF4-FFF2-40B4-BE49-F238E27FC236}">
                <a16:creationId xmlns:a16="http://schemas.microsoft.com/office/drawing/2014/main" id="{BDBA9164-40FE-20FC-F34E-B5C68B9B8B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1185863"/>
            <a:ext cx="5722938" cy="604837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2800" b="1"/>
              <a:t>헤더 파일을 이용한 파일의 분할</a:t>
            </a:r>
          </a:p>
        </p:txBody>
      </p:sp>
      <p:sp>
        <p:nvSpPr>
          <p:cNvPr id="16389" name="Rectangle 5">
            <a:extLst>
              <a:ext uri="{FF2B5EF4-FFF2-40B4-BE49-F238E27FC236}">
                <a16:creationId xmlns:a16="http://schemas.microsoft.com/office/drawing/2014/main" id="{296CE20A-E8CE-004B-1C81-AD4B85E389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1413" y="207963"/>
            <a:ext cx="48228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l"/>
            <a:r>
              <a:rPr lang="en-US" altLang="ko-KR" sz="2800" b="1"/>
              <a:t>3-4  </a:t>
            </a:r>
            <a:r>
              <a:rPr lang="ko-KR" altLang="en-US" sz="2800" b="1"/>
              <a:t>멤버 함수의 외부 정의</a:t>
            </a:r>
          </a:p>
        </p:txBody>
      </p:sp>
      <p:pic>
        <p:nvPicPr>
          <p:cNvPr id="16391" name="Picture 7">
            <a:extLst>
              <a:ext uri="{FF2B5EF4-FFF2-40B4-BE49-F238E27FC236}">
                <a16:creationId xmlns:a16="http://schemas.microsoft.com/office/drawing/2014/main" id="{8CD4BEA1-93C8-DA38-0380-6D8491787A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9363" y="1952625"/>
            <a:ext cx="4067175" cy="4676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392" name="Rectangle 8">
            <a:extLst>
              <a:ext uri="{FF2B5EF4-FFF2-40B4-BE49-F238E27FC236}">
                <a16:creationId xmlns:a16="http://schemas.microsoft.com/office/drawing/2014/main" id="{84CD6C29-E4B3-BE84-AE03-7FE0ED07C9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0338" y="6273800"/>
            <a:ext cx="1117600" cy="307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ko-KR" altLang="en-US" sz="1800" b="1"/>
              <a:t>그림 </a:t>
            </a:r>
            <a:r>
              <a:rPr lang="en-US" altLang="ko-KR" sz="1800" b="1"/>
              <a:t>3-1</a:t>
            </a:r>
            <a:r>
              <a:rPr lang="en-US" altLang="ja-JP" sz="1800" b="1"/>
              <a:t>2</a:t>
            </a:r>
            <a:endParaRPr lang="en-US" altLang="ko-KR" sz="1800"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바른고딕">
      <a:majorFont>
        <a:latin typeface="나눔바른고딕"/>
        <a:ea typeface="나눔바른고딕"/>
        <a:cs typeface=""/>
      </a:majorFont>
      <a:minorFont>
        <a:latin typeface="나눔바른고딕"/>
        <a:ea typeface="나눔바른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</TotalTime>
  <Words>910</Words>
  <Application>Microsoft Office PowerPoint</Application>
  <PresentationFormat>화면 슬라이드 쇼(4:3)</PresentationFormat>
  <Paragraphs>212</Paragraphs>
  <Slides>15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2" baseType="lpstr">
      <vt:lpstr>가을체</vt:lpstr>
      <vt:lpstr>Times New Roman</vt:lpstr>
      <vt:lpstr>Arial</vt:lpstr>
      <vt:lpstr>Wingdings</vt:lpstr>
      <vt:lpstr>나눔바른고딕</vt:lpstr>
      <vt:lpstr>굴림</vt:lpstr>
      <vt:lpstr>기본 디자인</vt:lpstr>
      <vt:lpstr>3장. 클래스의 기본</vt:lpstr>
      <vt:lpstr>3-1  구조체와 클래스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3-2  클래스와 객체</vt:lpstr>
      <vt:lpstr>PowerPoint 프레젠테이션</vt:lpstr>
      <vt:lpstr>PowerPoint 프레젠테이션</vt:lpstr>
      <vt:lpstr>3-3  클래스 멤버의 접근 제어</vt:lpstr>
      <vt:lpstr>PowerPoint 프레젠테이션</vt:lpstr>
      <vt:lpstr>3-4  멤버 함수의 외부 정의</vt:lpstr>
      <vt:lpstr>PowerPoint 프레젠테이션</vt:lpstr>
      <vt:lpstr>PowerPoint 프레젠테이션</vt:lpstr>
    </vt:vector>
  </TitlesOfParts>
  <Company>yoon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3장. 클래스의 기본</dc:title>
  <dc:creator>yoon</dc:creator>
  <cp:lastModifiedBy>Heesung Oh</cp:lastModifiedBy>
  <cp:revision>18</cp:revision>
  <dcterms:created xsi:type="dcterms:W3CDTF">2004-03-25T00:59:42Z</dcterms:created>
  <dcterms:modified xsi:type="dcterms:W3CDTF">2026-07-14T02:47:33Z</dcterms:modified>
</cp:coreProperties>
</file>