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embeddedFontLst>
    <p:embeddedFont>
      <p:font typeface="가을체" panose="02030600000101010101" pitchFamily="18" charset="-127"/>
      <p:regular r:id="rId19"/>
    </p:embeddedFont>
    <p:embeddedFont>
      <p:font typeface="나눔바른고딕" panose="020B0603020101020101" pitchFamily="50" charset="-127"/>
      <p:regular r:id="rId20"/>
      <p:bold r:id="rId21"/>
    </p:embeddedFont>
  </p:embeddedFont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663">
          <p15:clr>
            <a:srgbClr val="A4A3A4"/>
          </p15:clr>
        </p15:guide>
        <p15:guide id="3" orient="horz" pos="890">
          <p15:clr>
            <a:srgbClr val="A4A3A4"/>
          </p15:clr>
        </p15:guide>
        <p15:guide id="4" orient="horz" pos="2001">
          <p15:clr>
            <a:srgbClr val="A4A3A4"/>
          </p15:clr>
        </p15:guide>
        <p15:guide id="5" orient="horz" pos="2886">
          <p15:clr>
            <a:srgbClr val="A4A3A4"/>
          </p15:clr>
        </p15:guide>
        <p15:guide id="6" orient="horz" pos="2500">
          <p15:clr>
            <a:srgbClr val="A4A3A4"/>
          </p15:clr>
        </p15:guide>
        <p15:guide id="7" orient="horz" pos="1502">
          <p15:clr>
            <a:srgbClr val="A4A3A4"/>
          </p15:clr>
        </p15:guide>
        <p15:guide id="8" pos="2880">
          <p15:clr>
            <a:srgbClr val="A4A3A4"/>
          </p15:clr>
        </p15:guide>
        <p15:guide id="9" pos="476">
          <p15:clr>
            <a:srgbClr val="A4A3A4"/>
          </p15:clr>
        </p15:guide>
        <p15:guide id="10" pos="4944">
          <p15:clr>
            <a:srgbClr val="A4A3A4"/>
          </p15:clr>
        </p15:guide>
        <p15:guide id="11" pos="521">
          <p15:clr>
            <a:srgbClr val="A4A3A4"/>
          </p15:clr>
        </p15:guide>
        <p15:guide id="12" pos="998">
          <p15:clr>
            <a:srgbClr val="A4A3A4"/>
          </p15:clr>
        </p15:guide>
        <p15:guide id="13" pos="462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5F5F5F"/>
    <a:srgbClr val="4D4D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93" autoAdjust="0"/>
    <p:restoredTop sz="94650" autoAdjust="0"/>
  </p:normalViewPr>
  <p:slideViewPr>
    <p:cSldViewPr>
      <p:cViewPr varScale="1">
        <p:scale>
          <a:sx n="120" d="100"/>
          <a:sy n="120" d="100"/>
        </p:scale>
        <p:origin x="1962" y="96"/>
      </p:cViewPr>
      <p:guideLst>
        <p:guide orient="horz" pos="2160"/>
        <p:guide orient="horz" pos="663"/>
        <p:guide orient="horz" pos="890"/>
        <p:guide orient="horz" pos="2001"/>
        <p:guide orient="horz" pos="2886"/>
        <p:guide orient="horz" pos="2500"/>
        <p:guide orient="horz" pos="1502"/>
        <p:guide pos="2880"/>
        <p:guide pos="476"/>
        <p:guide pos="4944"/>
        <p:guide pos="521"/>
        <p:guide pos="998"/>
        <p:guide pos="462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917796-C9D6-C5DA-4331-991AB4AB41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F66B352-F8DC-E6E8-00FB-07DCFD006A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A8E6F1-3CBE-8BA9-D424-83A9A4F8B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3F8003-EFA4-0D37-19C3-F4247E4D3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0076CD-DABF-CFCC-FD93-38D0BBF51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EF1AD3-505F-4622-80B0-DA4A7C5023FD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05709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B20288-E297-3377-05E2-094306209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456ABA-EB75-65A0-F290-5F74C40F6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655E9B-3F8C-610F-618C-8C58B5CBF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7EA152-CBFD-3DA9-3559-AAEF6A257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8CF352-8C40-8E64-C8E8-32BB4F6B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6D1460-D748-49D4-B272-0BB1E5CAE66D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2969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5734AA-73EF-FA0E-E8F7-038EB1122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344388-6F19-0F68-DF0A-0584847E2C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A080CD-0F41-8906-2C09-900CDECED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2B6930-25C3-DEEC-29A2-214E466D1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C582E6-9F4A-C7C1-011A-288971606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4B15D1-CB18-4F5D-B91E-39E08DA6C104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61730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72452A-D6D4-BA8F-CD23-F4EBF11C6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45B019-791A-953C-1670-9C68933EEC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DCA9DE-FE76-F640-601B-C2679DBBD0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C4987B1-F2B0-87BB-69DE-497B261EE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342953B-5ECF-0D28-ACD9-C8D2CCA6B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12FA450-1085-8BD2-12EB-679F40DD0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024375-AA42-45F8-8A51-CC35DB6FF59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47779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389203-10F4-41B0-A89C-D8E720102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E0F4BF7-CAFA-2DD7-02C6-2DB61F18A1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72B49C5-6B6F-BCFB-14E7-34FA4C08C9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61E8AE3-0FE6-A8E2-8D28-8B9D327CE8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76AA185-312C-77B1-7D64-DB42938B1F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67AD8E-46E8-FD7A-2F1A-720EC2F43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417C10B-DA99-B3FF-6214-AF1269CAC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DAE344-F7EB-0986-388A-2B3377B58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2AE68A-CABE-473B-AAD9-8AC76638F08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81849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66AA6C-0860-1C5D-17AD-83B52D5AA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66E91A6-222D-C5AF-70F9-5B5A8F6D5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CFA32E3-3F80-D28A-907F-8554C8581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4A8B402-9416-8894-60AD-02E1842DE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8E2C7B-6F0D-4B8E-B0F4-987C1841CFE5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1823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0214AA7-0293-269E-9B16-0A319423B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E4BD9AA-56FB-3923-057C-D0133F2D0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2D85AE-D668-9805-87FA-6B41FEE1F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76F113-DD10-46E5-B472-0C727545C66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70674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C77203-F381-EB06-9328-D537CE1CC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51CC25-C4A4-90EA-BDA2-82795435D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C629439-1551-A28D-4C6D-86DC0D3F4D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15E0134-27FD-8B49-6433-6D86A309C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0976447-2381-B71F-7D35-5DC1D377F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EEDCA37-204A-F5B8-A43B-C21DFE9AC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6539FA-2581-47A1-A109-550C02B6202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46361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EBAC04-C820-9CCA-9959-C5926E40A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4A4D4D7-5EE5-F919-7F98-10D1901752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8396E4A-82BA-4232-843A-1B738BB31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943FC1-7744-7261-7C44-EAECFBEF6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3347FB8-3DCE-77AA-2B24-6D6907DB4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41AAF5-8B9A-5415-11AF-BDE65C45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0B3171-AF02-480F-8102-9AB48A8827E1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31207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D381E2-CF08-CF07-3BAC-F18C1754D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2F8B65D-B514-E9FA-39D9-CDB58951CC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561FE3-03A0-E8C1-6097-7AF22EAB1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FD2D9D-4452-F4B1-61A7-E432FD4D6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788AFE-78E4-A5ED-B42B-BE1E4FEA5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05E770-6BB8-4DD3-8900-1DCCC9D13B07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73726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DDD656A-C5F3-19DA-48BA-1A2B6D1427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2735B81-B1DE-2177-7B04-BA563EE72B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D253CA-21B5-6F17-AD1D-268CDA803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D6CB64-9041-CC42-55B7-45383A01E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53B1BB-B4E9-B20A-641A-8DBA2D13F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DEDA84-21EA-4054-96CA-31B5302F9B81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17477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0193B67-221A-509F-B684-617446D060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9D78187-E81E-F882-1F44-02FC185546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8AD5974-CD7C-AEAD-6B85-1ACA64C8820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  <a:ea typeface="+mn-ea"/>
              </a:defRPr>
            </a:lvl1pPr>
          </a:lstStyle>
          <a:p>
            <a:endParaRPr lang="en-US" altLang="ko-K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30CF007-609B-91F9-9D78-16C99A48B7A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  <a:ea typeface="+mn-ea"/>
              </a:defRPr>
            </a:lvl1pPr>
          </a:lstStyle>
          <a:p>
            <a:endParaRPr lang="en-US" altLang="ko-K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A4335C8-D34C-7BBA-8F17-ACF8D8E186F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  <a:ea typeface="+mn-ea"/>
              </a:defRPr>
            </a:lvl1pPr>
          </a:lstStyle>
          <a:p>
            <a:fld id="{8EF9F9EE-EBF2-48EB-A3FC-408809EB4CF3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가을체" panose="02030600000101010101" pitchFamily="18" charset="-127"/>
          <a:ea typeface="가을체" panose="02030600000101010101" pitchFamily="18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가을체" panose="02030600000101010101" pitchFamily="18" charset="-127"/>
          <a:ea typeface="가을체" panose="02030600000101010101" pitchFamily="18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가을체" panose="02030600000101010101" pitchFamily="18" charset="-127"/>
          <a:ea typeface="가을체" panose="02030600000101010101" pitchFamily="18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가을체" panose="02030600000101010101" pitchFamily="18" charset="-127"/>
          <a:ea typeface="가을체" panose="02030600000101010101" pitchFamily="18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가을체" panose="02030600000101010101" pitchFamily="18" charset="-127"/>
          <a:ea typeface="가을체" panose="02030600000101010101" pitchFamily="18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가을체" panose="02030600000101010101" pitchFamily="18" charset="-127"/>
          <a:ea typeface="가을체" panose="02030600000101010101" pitchFamily="18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가을체" panose="02030600000101010101" pitchFamily="18" charset="-127"/>
          <a:ea typeface="가을체" panose="02030600000101010101" pitchFamily="18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가을체" panose="02030600000101010101" pitchFamily="18" charset="-127"/>
          <a:ea typeface="가을체" panose="02030600000101010101" pitchFamily="18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har char="•"/>
        <a:defRPr kumimoji="1"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har char="–"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45CCE91D-45CF-DE71-6348-02687A8C27F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404938" y="2857500"/>
            <a:ext cx="6334125" cy="1143000"/>
          </a:xfrm>
        </p:spPr>
        <p:txBody>
          <a:bodyPr anchor="ctr"/>
          <a:lstStyle/>
          <a:p>
            <a:r>
              <a:rPr lang="en-US" altLang="ko-KR" sz="4800" b="1">
                <a:solidFill>
                  <a:schemeClr val="tx1"/>
                </a:solidFill>
              </a:rPr>
              <a:t>1</a:t>
            </a:r>
            <a:r>
              <a:rPr lang="ko-KR" altLang="en-US" sz="4800" b="1">
                <a:solidFill>
                  <a:schemeClr val="tx1"/>
                </a:solidFill>
              </a:rPr>
              <a:t>장</a:t>
            </a:r>
            <a:r>
              <a:rPr lang="en-US" altLang="ko-KR" sz="4800" b="1">
                <a:solidFill>
                  <a:schemeClr val="tx1"/>
                </a:solidFill>
              </a:rPr>
              <a:t>. C </a:t>
            </a:r>
            <a:r>
              <a:rPr lang="ko-KR" altLang="en-US" sz="4800" b="1">
                <a:solidFill>
                  <a:schemeClr val="tx1"/>
                </a:solidFill>
              </a:rPr>
              <a:t>기반의 </a:t>
            </a:r>
            <a:r>
              <a:rPr lang="en-US" altLang="ko-KR" sz="4800" b="1">
                <a:solidFill>
                  <a:schemeClr val="tx1"/>
                </a:solidFill>
              </a:rPr>
              <a:t>C++ 1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A569EBD7-56B5-8BFB-DD48-4459F11F91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11413" y="225425"/>
            <a:ext cx="3346450" cy="519113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2800" b="1"/>
              <a:t>1-1  printf</a:t>
            </a:r>
            <a:r>
              <a:rPr lang="ko-KR" altLang="en-US" sz="2800" b="1"/>
              <a:t>와 </a:t>
            </a:r>
            <a:r>
              <a:rPr lang="en-US" altLang="ko-KR" sz="2800" b="1"/>
              <a:t>scanf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BF0D24D3-C304-CD8F-050A-39CCE4B975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177925"/>
            <a:ext cx="6408738" cy="1627188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2800" b="1"/>
              <a:t>출력의 기본 형태 </a:t>
            </a:r>
            <a:r>
              <a:rPr lang="en-US" altLang="ko-KR" sz="2800" b="1"/>
              <a:t>: </a:t>
            </a:r>
            <a:r>
              <a:rPr lang="ko-KR" altLang="en-US" sz="2800" b="1"/>
              <a:t>과거 스타일</a:t>
            </a:r>
            <a:r>
              <a:rPr lang="en-US" altLang="ko-KR" sz="2800" b="1"/>
              <a:t>!</a:t>
            </a:r>
          </a:p>
          <a:p>
            <a:pPr lvl="1">
              <a:lnSpc>
                <a:spcPct val="120000"/>
              </a:lnSpc>
            </a:pPr>
            <a:r>
              <a:rPr lang="en-US" altLang="ko-KR" sz="2400" b="1"/>
              <a:t>iostream.h </a:t>
            </a:r>
            <a:r>
              <a:rPr lang="ko-KR" altLang="en-US" sz="2400" b="1"/>
              <a:t>헤더 파일의 포함</a:t>
            </a:r>
          </a:p>
          <a:p>
            <a:pPr lvl="1">
              <a:lnSpc>
                <a:spcPct val="120000"/>
              </a:lnSpc>
            </a:pPr>
            <a:r>
              <a:rPr lang="en-US" altLang="ko-KR" sz="2400" b="1"/>
              <a:t>HelloWorld1.cpp </a:t>
            </a:r>
            <a:r>
              <a:rPr lang="ko-KR" altLang="en-US" sz="2400" b="1"/>
              <a:t>참조</a:t>
            </a:r>
            <a:endParaRPr lang="ko-KR" altLang="en-US" sz="3200" b="1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5E0849D-A999-0D14-2681-A9547F7BC4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325" y="3181350"/>
            <a:ext cx="5759450" cy="557213"/>
          </a:xfrm>
          <a:prstGeom prst="rect">
            <a:avLst/>
          </a:prstGeom>
          <a:solidFill>
            <a:srgbClr val="5F5F5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06000" tIns="118800" bIns="190800" anchor="ctr"/>
          <a:lstStyle>
            <a:lvl1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600" b="1">
                <a:solidFill>
                  <a:schemeClr val="bg1"/>
                </a:solidFill>
                <a:cs typeface="Times New Roman" panose="02020603050405020304" pitchFamily="18" charset="0"/>
              </a:rPr>
              <a:t>cout &lt;&lt; </a:t>
            </a:r>
            <a:r>
              <a:rPr lang="ko-KR" altLang="en-US" sz="1600" b="1">
                <a:solidFill>
                  <a:schemeClr val="bg1"/>
                </a:solidFill>
                <a:cs typeface="Times New Roman" panose="02020603050405020304" pitchFamily="18" charset="0"/>
              </a:rPr>
              <a:t>출력 대상</a:t>
            </a:r>
            <a:r>
              <a:rPr lang="en-US" altLang="ko-KR" sz="1600" b="1">
                <a:solidFill>
                  <a:schemeClr val="bg1"/>
                </a:solidFill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8B54D6C3-6202-C5F2-886E-4B829B9E8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325" y="3987800"/>
            <a:ext cx="5759450" cy="557213"/>
          </a:xfrm>
          <a:prstGeom prst="rect">
            <a:avLst/>
          </a:prstGeom>
          <a:solidFill>
            <a:srgbClr val="5F5F5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06000" tIns="118800" bIns="190800" anchor="ctr"/>
          <a:lstStyle>
            <a:lvl1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600" b="1">
                <a:solidFill>
                  <a:schemeClr val="bg1"/>
                </a:solidFill>
                <a:cs typeface="Times New Roman" panose="02020603050405020304" pitchFamily="18" charset="0"/>
              </a:rPr>
              <a:t>cout&lt;&lt;</a:t>
            </a:r>
            <a:r>
              <a:rPr lang="ko-KR" altLang="en-US" sz="1600" b="1">
                <a:solidFill>
                  <a:schemeClr val="bg1"/>
                </a:solidFill>
                <a:cs typeface="Times New Roman" panose="02020603050405020304" pitchFamily="18" charset="0"/>
              </a:rPr>
              <a:t>출력 대상</a:t>
            </a:r>
            <a:r>
              <a:rPr lang="en-US" altLang="ko-KR" sz="1600" b="1">
                <a:solidFill>
                  <a:schemeClr val="bg1"/>
                </a:solidFill>
                <a:cs typeface="Times New Roman" panose="02020603050405020304" pitchFamily="18" charset="0"/>
              </a:rPr>
              <a:t>1&lt;&lt;</a:t>
            </a:r>
            <a:r>
              <a:rPr lang="ko-KR" altLang="en-US" sz="1600" b="1">
                <a:solidFill>
                  <a:schemeClr val="bg1"/>
                </a:solidFill>
                <a:cs typeface="Times New Roman" panose="02020603050405020304" pitchFamily="18" charset="0"/>
              </a:rPr>
              <a:t>출력 대상</a:t>
            </a:r>
            <a:r>
              <a:rPr lang="en-US" altLang="ko-KR" sz="1600" b="1">
                <a:solidFill>
                  <a:schemeClr val="bg1"/>
                </a:solidFill>
                <a:cs typeface="Times New Roman" panose="02020603050405020304" pitchFamily="18" charset="0"/>
              </a:rPr>
              <a:t>2&lt;&lt;</a:t>
            </a:r>
            <a:r>
              <a:rPr lang="ko-KR" altLang="en-US" sz="1600" b="1">
                <a:solidFill>
                  <a:schemeClr val="bg1"/>
                </a:solidFill>
                <a:cs typeface="Times New Roman" panose="02020603050405020304" pitchFamily="18" charset="0"/>
              </a:rPr>
              <a:t>출력 대상</a:t>
            </a:r>
            <a:r>
              <a:rPr lang="en-US" altLang="ko-KR" sz="1600" b="1">
                <a:solidFill>
                  <a:schemeClr val="bg1"/>
                </a:solidFill>
                <a:cs typeface="Times New Roman" panose="02020603050405020304" pitchFamily="18" charset="0"/>
              </a:rPr>
              <a:t>3;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57CF1E0E-12ED-B84A-C064-FEEBAECC3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325" y="4779963"/>
            <a:ext cx="5759450" cy="557212"/>
          </a:xfrm>
          <a:prstGeom prst="rect">
            <a:avLst/>
          </a:prstGeom>
          <a:solidFill>
            <a:srgbClr val="5F5F5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06000" tIns="118800" bIns="190800" anchor="ctr"/>
          <a:lstStyle>
            <a:lvl1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600" b="1">
                <a:solidFill>
                  <a:schemeClr val="bg1"/>
                </a:solidFill>
                <a:cs typeface="Times New Roman" panose="02020603050405020304" pitchFamily="18" charset="0"/>
              </a:rPr>
              <a:t>cout&lt;&lt;1&lt;&lt;'a'&lt;&lt;"String"&lt;&lt;endl;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>
            <a:extLst>
              <a:ext uri="{FF2B5EF4-FFF2-40B4-BE49-F238E27FC236}">
                <a16:creationId xmlns:a16="http://schemas.microsoft.com/office/drawing/2014/main" id="{D7E3E4AD-9F39-73ED-1E27-80A5EC86A8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187450"/>
            <a:ext cx="6586538" cy="1627188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2800" b="1"/>
              <a:t>출력의 기본 형태 </a:t>
            </a:r>
            <a:r>
              <a:rPr lang="en-US" altLang="ko-KR" sz="2800" b="1"/>
              <a:t>: </a:t>
            </a:r>
            <a:r>
              <a:rPr lang="ko-KR" altLang="en-US" sz="2800" b="1"/>
              <a:t>현재 스타일</a:t>
            </a:r>
            <a:r>
              <a:rPr lang="en-US" altLang="ko-KR" sz="2800" b="1"/>
              <a:t>!</a:t>
            </a:r>
          </a:p>
          <a:p>
            <a:pPr lvl="1">
              <a:lnSpc>
                <a:spcPct val="120000"/>
              </a:lnSpc>
            </a:pPr>
            <a:r>
              <a:rPr lang="en-US" altLang="ko-KR" sz="2400" b="1"/>
              <a:t>iostream </a:t>
            </a:r>
            <a:r>
              <a:rPr lang="ko-KR" altLang="en-US" sz="2400" b="1"/>
              <a:t>헤더 파일의 포함</a:t>
            </a:r>
          </a:p>
          <a:p>
            <a:pPr lvl="1">
              <a:lnSpc>
                <a:spcPct val="120000"/>
              </a:lnSpc>
            </a:pPr>
            <a:r>
              <a:rPr lang="en-US" altLang="ko-KR" sz="2400" b="1"/>
              <a:t>HelloWorld2.cpp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477183CB-376A-51D5-3AB6-5D6941D65C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325" y="3162300"/>
            <a:ext cx="5759450" cy="561975"/>
          </a:xfrm>
          <a:prstGeom prst="rect">
            <a:avLst/>
          </a:prstGeom>
          <a:solidFill>
            <a:srgbClr val="5F5F5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06000" tIns="118800" bIns="190800" anchor="ctr"/>
          <a:lstStyle>
            <a:lvl1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600" b="1">
                <a:solidFill>
                  <a:schemeClr val="bg1"/>
                </a:solidFill>
                <a:cs typeface="Times New Roman" panose="02020603050405020304" pitchFamily="18" charset="0"/>
              </a:rPr>
              <a:t>std::cout &lt;&lt; </a:t>
            </a:r>
            <a:r>
              <a:rPr lang="ko-KR" altLang="en-US" sz="1600" b="1">
                <a:solidFill>
                  <a:schemeClr val="bg1"/>
                </a:solidFill>
                <a:cs typeface="Times New Roman" panose="02020603050405020304" pitchFamily="18" charset="0"/>
              </a:rPr>
              <a:t>출력 대상</a:t>
            </a:r>
            <a:r>
              <a:rPr lang="en-US" altLang="ko-KR" sz="1600" b="1">
                <a:solidFill>
                  <a:schemeClr val="bg1"/>
                </a:solidFill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FF1FDC8B-9C05-EBF3-6F75-0447ECDBD3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325" y="3968750"/>
            <a:ext cx="5759450" cy="561975"/>
          </a:xfrm>
          <a:prstGeom prst="rect">
            <a:avLst/>
          </a:prstGeom>
          <a:solidFill>
            <a:srgbClr val="5F5F5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06000" tIns="118800" bIns="190800" anchor="ctr"/>
          <a:lstStyle>
            <a:lvl1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600" b="1">
                <a:solidFill>
                  <a:schemeClr val="bg1"/>
                </a:solidFill>
                <a:cs typeface="Times New Roman" panose="02020603050405020304" pitchFamily="18" charset="0"/>
              </a:rPr>
              <a:t>std::cout&lt;&lt;</a:t>
            </a:r>
            <a:r>
              <a:rPr lang="ko-KR" altLang="en-US" sz="1600" b="1">
                <a:solidFill>
                  <a:schemeClr val="bg1"/>
                </a:solidFill>
                <a:cs typeface="Times New Roman" panose="02020603050405020304" pitchFamily="18" charset="0"/>
              </a:rPr>
              <a:t>출력 대상</a:t>
            </a:r>
            <a:r>
              <a:rPr lang="en-US" altLang="ko-KR" sz="1600" b="1">
                <a:solidFill>
                  <a:schemeClr val="bg1"/>
                </a:solidFill>
                <a:cs typeface="Times New Roman" panose="02020603050405020304" pitchFamily="18" charset="0"/>
              </a:rPr>
              <a:t>1&lt;&lt;</a:t>
            </a:r>
            <a:r>
              <a:rPr lang="ko-KR" altLang="en-US" sz="1600" b="1">
                <a:solidFill>
                  <a:schemeClr val="bg1"/>
                </a:solidFill>
                <a:cs typeface="Times New Roman" panose="02020603050405020304" pitchFamily="18" charset="0"/>
              </a:rPr>
              <a:t>출력 대상</a:t>
            </a:r>
            <a:r>
              <a:rPr lang="en-US" altLang="ko-KR" sz="1600" b="1">
                <a:solidFill>
                  <a:schemeClr val="bg1"/>
                </a:solidFill>
                <a:cs typeface="Times New Roman" panose="02020603050405020304" pitchFamily="18" charset="0"/>
              </a:rPr>
              <a:t>2&lt;&lt;</a:t>
            </a:r>
            <a:r>
              <a:rPr lang="ko-KR" altLang="en-US" sz="1600" b="1">
                <a:solidFill>
                  <a:schemeClr val="bg1"/>
                </a:solidFill>
                <a:cs typeface="Times New Roman" panose="02020603050405020304" pitchFamily="18" charset="0"/>
              </a:rPr>
              <a:t>출력 대상</a:t>
            </a:r>
            <a:r>
              <a:rPr lang="en-US" altLang="ko-KR" sz="1600" b="1">
                <a:solidFill>
                  <a:schemeClr val="bg1"/>
                </a:solidFill>
                <a:cs typeface="Times New Roman" panose="02020603050405020304" pitchFamily="18" charset="0"/>
              </a:rPr>
              <a:t>3;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C426480D-09ED-B433-7858-AB1705B90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325" y="4775200"/>
            <a:ext cx="5759450" cy="561975"/>
          </a:xfrm>
          <a:prstGeom prst="rect">
            <a:avLst/>
          </a:prstGeom>
          <a:solidFill>
            <a:srgbClr val="5F5F5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06000" tIns="118800" bIns="190800" anchor="ctr"/>
          <a:lstStyle>
            <a:lvl1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600" b="1">
                <a:solidFill>
                  <a:schemeClr val="bg1"/>
                </a:solidFill>
                <a:cs typeface="Times New Roman" panose="02020603050405020304" pitchFamily="18" charset="0"/>
              </a:rPr>
              <a:t>std::cout&lt;&lt;1&lt;&lt;'a'&lt;&lt;"String"&lt;&lt;std::endl;</a:t>
            </a:r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70D7FB43-E01B-08F9-56EE-F28333A0F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225425"/>
            <a:ext cx="33464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l"/>
            <a:r>
              <a:rPr lang="en-US" altLang="ko-KR" sz="2800" b="1"/>
              <a:t>1-1  printf</a:t>
            </a:r>
            <a:r>
              <a:rPr lang="ko-KR" altLang="en-US" sz="2800" b="1"/>
              <a:t>와 </a:t>
            </a:r>
            <a:r>
              <a:rPr lang="en-US" altLang="ko-KR" sz="2800" b="1"/>
              <a:t>scanf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>
            <a:extLst>
              <a:ext uri="{FF2B5EF4-FFF2-40B4-BE49-F238E27FC236}">
                <a16:creationId xmlns:a16="http://schemas.microsoft.com/office/drawing/2014/main" id="{0E3B668D-D5FA-D3E1-3F33-031C9F121A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189038"/>
            <a:ext cx="7018338" cy="1627187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2800" b="1"/>
              <a:t>입력의 기본 형태 </a:t>
            </a:r>
            <a:r>
              <a:rPr lang="en-US" altLang="ko-KR" sz="2800" b="1"/>
              <a:t>: </a:t>
            </a:r>
            <a:r>
              <a:rPr lang="ko-KR" altLang="en-US" sz="2800" b="1"/>
              <a:t>과거 스타일</a:t>
            </a:r>
            <a:r>
              <a:rPr lang="en-US" altLang="ko-KR" sz="2800" b="1"/>
              <a:t>!</a:t>
            </a:r>
          </a:p>
          <a:p>
            <a:pPr lvl="1">
              <a:lnSpc>
                <a:spcPct val="120000"/>
              </a:lnSpc>
            </a:pPr>
            <a:r>
              <a:rPr lang="en-US" altLang="ko-KR" sz="2400" b="1"/>
              <a:t>iostream.h </a:t>
            </a:r>
            <a:r>
              <a:rPr lang="ko-KR" altLang="en-US" sz="2400" b="1"/>
              <a:t>헤더 파일의 포함</a:t>
            </a:r>
          </a:p>
          <a:p>
            <a:pPr lvl="1">
              <a:lnSpc>
                <a:spcPct val="120000"/>
              </a:lnSpc>
            </a:pPr>
            <a:r>
              <a:rPr lang="en-US" altLang="ko-KR" sz="2400" b="1"/>
              <a:t>SimpleAdder1.cpp, BetweenAdder.cpp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0A010B8A-4B55-E9E3-947E-67BD75FFB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325" y="3162300"/>
            <a:ext cx="5759450" cy="534988"/>
          </a:xfrm>
          <a:prstGeom prst="rect">
            <a:avLst/>
          </a:prstGeom>
          <a:solidFill>
            <a:srgbClr val="5F5F5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06000" tIns="118800" bIns="190800" anchor="ctr"/>
          <a:lstStyle>
            <a:lvl1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600" b="1">
                <a:solidFill>
                  <a:schemeClr val="bg1"/>
                </a:solidFill>
                <a:cs typeface="Times New Roman" panose="02020603050405020304" pitchFamily="18" charset="0"/>
              </a:rPr>
              <a:t>cin&gt;&gt;</a:t>
            </a:r>
            <a:r>
              <a:rPr lang="ko-KR" altLang="en-US" sz="1600" b="1">
                <a:solidFill>
                  <a:schemeClr val="bg1"/>
                </a:solidFill>
                <a:cs typeface="Times New Roman" panose="02020603050405020304" pitchFamily="18" charset="0"/>
              </a:rPr>
              <a:t>입력 변수</a:t>
            </a:r>
            <a:r>
              <a:rPr lang="en-US" altLang="ko-KR" sz="1600" b="1">
                <a:solidFill>
                  <a:schemeClr val="bg1"/>
                </a:solidFill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002F6FD1-8E44-A9EC-C515-91F4B43AA9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325" y="4838700"/>
            <a:ext cx="5759450" cy="534988"/>
          </a:xfrm>
          <a:prstGeom prst="rect">
            <a:avLst/>
          </a:prstGeom>
          <a:solidFill>
            <a:srgbClr val="5F5F5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06000" tIns="118800" bIns="190800" anchor="ctr"/>
          <a:lstStyle>
            <a:lvl1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600" b="1">
                <a:solidFill>
                  <a:schemeClr val="bg1"/>
                </a:solidFill>
                <a:cs typeface="Times New Roman" panose="02020603050405020304" pitchFamily="18" charset="0"/>
              </a:rPr>
              <a:t>cin&gt;&gt;val1;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718F8CC5-D5CA-A04A-0061-56E305392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325" y="4000500"/>
            <a:ext cx="5759450" cy="534988"/>
          </a:xfrm>
          <a:prstGeom prst="rect">
            <a:avLst/>
          </a:prstGeom>
          <a:solidFill>
            <a:srgbClr val="5F5F5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06000" tIns="118800" bIns="190800" anchor="ctr"/>
          <a:lstStyle>
            <a:lvl1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600" b="1">
                <a:solidFill>
                  <a:schemeClr val="bg1"/>
                </a:solidFill>
                <a:cs typeface="Times New Roman" panose="02020603050405020304" pitchFamily="18" charset="0"/>
              </a:rPr>
              <a:t>cin&gt;&gt;</a:t>
            </a:r>
            <a:r>
              <a:rPr lang="ko-KR" altLang="en-US" sz="1600" b="1">
                <a:solidFill>
                  <a:schemeClr val="bg1"/>
                </a:solidFill>
                <a:cs typeface="Times New Roman" panose="02020603050405020304" pitchFamily="18" charset="0"/>
              </a:rPr>
              <a:t>입력 변수</a:t>
            </a:r>
            <a:r>
              <a:rPr lang="en-US" altLang="ko-KR" sz="1600" b="1">
                <a:solidFill>
                  <a:schemeClr val="bg1"/>
                </a:solidFill>
                <a:cs typeface="Times New Roman" panose="02020603050405020304" pitchFamily="18" charset="0"/>
              </a:rPr>
              <a:t>1&gt;&gt;</a:t>
            </a:r>
            <a:r>
              <a:rPr lang="ko-KR" altLang="en-US" sz="1600" b="1">
                <a:solidFill>
                  <a:schemeClr val="bg1"/>
                </a:solidFill>
                <a:cs typeface="Times New Roman" panose="02020603050405020304" pitchFamily="18" charset="0"/>
              </a:rPr>
              <a:t>입력 변수</a:t>
            </a:r>
            <a:r>
              <a:rPr lang="en-US" altLang="ko-KR" sz="1600" b="1">
                <a:solidFill>
                  <a:schemeClr val="bg1"/>
                </a:solidFill>
                <a:cs typeface="Times New Roman" panose="02020603050405020304" pitchFamily="18" charset="0"/>
              </a:rPr>
              <a:t>2&gt;&gt;</a:t>
            </a:r>
            <a:r>
              <a:rPr lang="ko-KR" altLang="en-US" sz="1600" b="1">
                <a:solidFill>
                  <a:schemeClr val="bg1"/>
                </a:solidFill>
                <a:cs typeface="Times New Roman" panose="02020603050405020304" pitchFamily="18" charset="0"/>
              </a:rPr>
              <a:t>입력 변수</a:t>
            </a:r>
            <a:r>
              <a:rPr lang="en-US" altLang="ko-KR" sz="1600" b="1">
                <a:solidFill>
                  <a:schemeClr val="bg1"/>
                </a:solidFill>
                <a:cs typeface="Times New Roman" panose="02020603050405020304" pitchFamily="18" charset="0"/>
              </a:rPr>
              <a:t>3;</a:t>
            </a:r>
          </a:p>
        </p:txBody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1B57C954-3F85-75EB-E799-EDB792C447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225425"/>
            <a:ext cx="33464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l"/>
            <a:r>
              <a:rPr lang="en-US" altLang="ko-KR" sz="2800" b="1"/>
              <a:t>1-1  printf</a:t>
            </a:r>
            <a:r>
              <a:rPr lang="ko-KR" altLang="en-US" sz="2800" b="1"/>
              <a:t>와 </a:t>
            </a:r>
            <a:r>
              <a:rPr lang="en-US" altLang="ko-KR" sz="2800" b="1"/>
              <a:t>scanf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>
            <a:extLst>
              <a:ext uri="{FF2B5EF4-FFF2-40B4-BE49-F238E27FC236}">
                <a16:creationId xmlns:a16="http://schemas.microsoft.com/office/drawing/2014/main" id="{AB7FC696-D2BD-9616-37E8-7842704168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196975"/>
            <a:ext cx="5830888" cy="1627188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2800" b="1"/>
              <a:t>입력의 기본 형태 </a:t>
            </a:r>
            <a:r>
              <a:rPr lang="en-US" altLang="ko-KR" sz="2800" b="1"/>
              <a:t>: </a:t>
            </a:r>
            <a:r>
              <a:rPr lang="ko-KR" altLang="en-US" sz="2800" b="1"/>
              <a:t>현재 스타일</a:t>
            </a:r>
            <a:r>
              <a:rPr lang="en-US" altLang="ko-KR" sz="2800" b="1"/>
              <a:t>!</a:t>
            </a:r>
          </a:p>
          <a:p>
            <a:pPr lvl="1">
              <a:lnSpc>
                <a:spcPct val="120000"/>
              </a:lnSpc>
            </a:pPr>
            <a:r>
              <a:rPr lang="en-US" altLang="ko-KR" sz="2400" b="1"/>
              <a:t>iostream </a:t>
            </a:r>
            <a:r>
              <a:rPr lang="ko-KR" altLang="en-US" sz="2400" b="1"/>
              <a:t>헤더 파일의 포함</a:t>
            </a:r>
          </a:p>
          <a:p>
            <a:pPr lvl="1">
              <a:lnSpc>
                <a:spcPct val="120000"/>
              </a:lnSpc>
            </a:pPr>
            <a:r>
              <a:rPr lang="en-US" altLang="ko-KR" sz="2400" b="1"/>
              <a:t>SimpleAdder2.cpp</a:t>
            </a:r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51B0285F-1D6C-F2FF-E727-EDABC5F69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325" y="3176588"/>
            <a:ext cx="5759450" cy="484187"/>
          </a:xfrm>
          <a:prstGeom prst="rect">
            <a:avLst/>
          </a:prstGeom>
          <a:solidFill>
            <a:srgbClr val="5F5F5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06000" tIns="118800" bIns="190800" anchor="ctr"/>
          <a:lstStyle>
            <a:lvl1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600" b="1">
                <a:solidFill>
                  <a:schemeClr val="bg1"/>
                </a:solidFill>
                <a:cs typeface="Times New Roman" panose="02020603050405020304" pitchFamily="18" charset="0"/>
              </a:rPr>
              <a:t>std::cin&gt;&gt;</a:t>
            </a:r>
            <a:r>
              <a:rPr lang="ko-KR" altLang="en-US" sz="1600" b="1">
                <a:solidFill>
                  <a:schemeClr val="bg1"/>
                </a:solidFill>
                <a:cs typeface="Times New Roman" panose="02020603050405020304" pitchFamily="18" charset="0"/>
              </a:rPr>
              <a:t>입력 변수</a:t>
            </a:r>
            <a:r>
              <a:rPr lang="en-US" altLang="ko-KR" sz="1600" b="1">
                <a:solidFill>
                  <a:schemeClr val="bg1"/>
                </a:solidFill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6CF2441B-1615-DEE6-051B-4B05EC0D1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325" y="4852988"/>
            <a:ext cx="5759450" cy="484187"/>
          </a:xfrm>
          <a:prstGeom prst="rect">
            <a:avLst/>
          </a:prstGeom>
          <a:solidFill>
            <a:srgbClr val="5F5F5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06000" tIns="118800" bIns="190800" anchor="ctr"/>
          <a:lstStyle>
            <a:lvl1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600" b="1">
                <a:solidFill>
                  <a:schemeClr val="bg1"/>
                </a:solidFill>
                <a:cs typeface="Times New Roman" panose="02020603050405020304" pitchFamily="18" charset="0"/>
              </a:rPr>
              <a:t>std::cin&gt;&gt;val1;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ADEDE8B7-8211-9424-8178-B21B3484A2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325" y="4014788"/>
            <a:ext cx="5759450" cy="484187"/>
          </a:xfrm>
          <a:prstGeom prst="rect">
            <a:avLst/>
          </a:prstGeom>
          <a:solidFill>
            <a:srgbClr val="5F5F5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06000" tIns="118800" bIns="190800" anchor="ctr"/>
          <a:lstStyle>
            <a:lvl1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600" b="1">
                <a:solidFill>
                  <a:schemeClr val="bg1"/>
                </a:solidFill>
                <a:cs typeface="Times New Roman" panose="02020603050405020304" pitchFamily="18" charset="0"/>
              </a:rPr>
              <a:t>std::cin&gt;&gt;</a:t>
            </a:r>
            <a:r>
              <a:rPr lang="ko-KR" altLang="en-US" sz="1600" b="1">
                <a:solidFill>
                  <a:schemeClr val="bg1"/>
                </a:solidFill>
                <a:cs typeface="Times New Roman" panose="02020603050405020304" pitchFamily="18" charset="0"/>
              </a:rPr>
              <a:t>입력 변수</a:t>
            </a:r>
            <a:r>
              <a:rPr lang="en-US" altLang="ko-KR" sz="1600" b="1">
                <a:solidFill>
                  <a:schemeClr val="bg1"/>
                </a:solidFill>
                <a:cs typeface="Times New Roman" panose="02020603050405020304" pitchFamily="18" charset="0"/>
              </a:rPr>
              <a:t>1&gt;&gt;</a:t>
            </a:r>
            <a:r>
              <a:rPr lang="ko-KR" altLang="en-US" sz="1600" b="1">
                <a:solidFill>
                  <a:schemeClr val="bg1"/>
                </a:solidFill>
                <a:cs typeface="Times New Roman" panose="02020603050405020304" pitchFamily="18" charset="0"/>
              </a:rPr>
              <a:t>입력 변수 </a:t>
            </a:r>
            <a:r>
              <a:rPr lang="en-US" altLang="ko-KR" sz="1600" b="1">
                <a:solidFill>
                  <a:schemeClr val="bg1"/>
                </a:solidFill>
                <a:cs typeface="Times New Roman" panose="02020603050405020304" pitchFamily="18" charset="0"/>
              </a:rPr>
              <a:t>2&gt;&gt;</a:t>
            </a:r>
            <a:r>
              <a:rPr lang="ko-KR" altLang="en-US" sz="1600" b="1">
                <a:solidFill>
                  <a:schemeClr val="bg1"/>
                </a:solidFill>
                <a:cs typeface="Times New Roman" panose="02020603050405020304" pitchFamily="18" charset="0"/>
              </a:rPr>
              <a:t>입력 변수</a:t>
            </a:r>
            <a:r>
              <a:rPr lang="en-US" altLang="ko-KR" sz="1600" b="1">
                <a:solidFill>
                  <a:schemeClr val="bg1"/>
                </a:solidFill>
                <a:cs typeface="Times New Roman" panose="02020603050405020304" pitchFamily="18" charset="0"/>
              </a:rPr>
              <a:t>3;</a:t>
            </a:r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4BF2D3F7-1E5E-2163-418B-0439E29887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225425"/>
            <a:ext cx="33464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l"/>
            <a:r>
              <a:rPr lang="en-US" altLang="ko-KR" sz="2800" b="1"/>
              <a:t>1-1  printf</a:t>
            </a:r>
            <a:r>
              <a:rPr lang="ko-KR" altLang="en-US" sz="2800" b="1"/>
              <a:t>와 </a:t>
            </a:r>
            <a:r>
              <a:rPr lang="en-US" altLang="ko-KR" sz="2800" b="1"/>
              <a:t>scanf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868825F7-ACAB-3129-5AFD-8C5F67705D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76488" y="207963"/>
            <a:ext cx="3309937" cy="519112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2800" b="1"/>
              <a:t>1-2  </a:t>
            </a:r>
            <a:r>
              <a:rPr lang="ko-KR" altLang="en-US" sz="2800" b="1"/>
              <a:t>함수 오버로딩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468E2EF5-3F60-8187-018E-715810EA8E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187450"/>
            <a:ext cx="7772400" cy="1116013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2800" b="1"/>
              <a:t>함수 이름의 중복</a:t>
            </a:r>
            <a:r>
              <a:rPr lang="en-US" altLang="ko-KR" sz="2800" b="1"/>
              <a:t>!</a:t>
            </a:r>
          </a:p>
          <a:p>
            <a:pPr lvl="1">
              <a:lnSpc>
                <a:spcPct val="120000"/>
              </a:lnSpc>
            </a:pPr>
            <a:r>
              <a:rPr lang="ko-KR" altLang="en-US" sz="2400" b="1"/>
              <a:t>파일의 확장자는 </a:t>
            </a:r>
            <a:r>
              <a:rPr lang="en-US" altLang="ko-KR" sz="2400" b="1"/>
              <a:t>.C</a:t>
            </a:r>
            <a:r>
              <a:rPr lang="ko-KR" altLang="en-US" sz="2400" b="1"/>
              <a:t>이다</a:t>
            </a:r>
            <a:r>
              <a:rPr lang="en-US" altLang="ko-KR" sz="2400" b="1"/>
              <a:t>! </a:t>
            </a:r>
            <a:r>
              <a:rPr lang="ko-KR" altLang="en-US" sz="2400" b="1"/>
              <a:t>무엇이 문제</a:t>
            </a:r>
            <a:r>
              <a:rPr lang="en-US" altLang="ko-KR" sz="2400" b="1"/>
              <a:t>?</a:t>
            </a:r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46F16CC2-AC24-9791-974C-3F099220EA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325" y="2600325"/>
            <a:ext cx="2808288" cy="39243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06000" tIns="118800" bIns="190800" anchor="ctr"/>
          <a:lstStyle>
            <a:lvl1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int function(void){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return 10;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int function(int a, int b){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return a+b;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int main(void)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function();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function(12, 13);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return 0;</a:t>
            </a:r>
          </a:p>
          <a:p>
            <a:pPr>
              <a:lnSpc>
                <a:spcPct val="120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7174" name="AutoShape 6">
            <a:extLst>
              <a:ext uri="{FF2B5EF4-FFF2-40B4-BE49-F238E27FC236}">
                <a16:creationId xmlns:a16="http://schemas.microsoft.com/office/drawing/2014/main" id="{273B83D2-BF20-4631-E29B-AC3942B10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7713" y="4368800"/>
            <a:ext cx="519112" cy="428625"/>
          </a:xfrm>
          <a:prstGeom prst="rightArrow">
            <a:avLst>
              <a:gd name="adj1" fmla="val 50000"/>
              <a:gd name="adj2" fmla="val 58386"/>
            </a:avLst>
          </a:prstGeom>
          <a:solidFill>
            <a:srgbClr val="80808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pic>
        <p:nvPicPr>
          <p:cNvPr id="7175" name="Picture 7">
            <a:extLst>
              <a:ext uri="{FF2B5EF4-FFF2-40B4-BE49-F238E27FC236}">
                <a16:creationId xmlns:a16="http://schemas.microsoft.com/office/drawing/2014/main" id="{108D2AB7-3A1D-A20A-E19E-76FAAABBC2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700" y="3035300"/>
            <a:ext cx="3016250" cy="3092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76" name="Rectangle 8">
            <a:extLst>
              <a:ext uri="{FF2B5EF4-FFF2-40B4-BE49-F238E27FC236}">
                <a16:creationId xmlns:a16="http://schemas.microsoft.com/office/drawing/2014/main" id="{C026D0D3-BC2C-FE5F-906F-37BF9F4AD0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0788" y="6237288"/>
            <a:ext cx="1089025" cy="31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1600" b="1"/>
              <a:t>그림 </a:t>
            </a:r>
            <a:r>
              <a:rPr lang="en-US" altLang="ko-KR" sz="1600" b="1"/>
              <a:t>1-</a:t>
            </a:r>
            <a:r>
              <a:rPr lang="en-US" altLang="ja-JP" sz="1600" b="1"/>
              <a:t>1</a:t>
            </a:r>
            <a:endParaRPr lang="en-US" altLang="ko-KR" sz="16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>
            <a:extLst>
              <a:ext uri="{FF2B5EF4-FFF2-40B4-BE49-F238E27FC236}">
                <a16:creationId xmlns:a16="http://schemas.microsoft.com/office/drawing/2014/main" id="{E18F0BBD-DAF2-4F83-8C22-8A5CF6E17E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196975"/>
            <a:ext cx="8207375" cy="5380038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2800" b="1"/>
              <a:t>함수 오버로딩이란</a:t>
            </a:r>
            <a:r>
              <a:rPr lang="en-US" altLang="ko-KR" sz="2800" b="1"/>
              <a:t>?</a:t>
            </a:r>
          </a:p>
          <a:p>
            <a:pPr lvl="1">
              <a:lnSpc>
                <a:spcPct val="120000"/>
              </a:lnSpc>
            </a:pPr>
            <a:r>
              <a:rPr lang="ko-KR" altLang="en-US" sz="2400" b="1"/>
              <a:t>동일한 이름의 함수를 중복해서 정의하는 것</a:t>
            </a:r>
            <a:r>
              <a:rPr lang="en-US" altLang="ko-KR" sz="2400" b="1"/>
              <a:t>!</a:t>
            </a:r>
          </a:p>
          <a:p>
            <a:pPr lvl="1">
              <a:lnSpc>
                <a:spcPct val="120000"/>
              </a:lnSpc>
            </a:pPr>
            <a:r>
              <a:rPr lang="ko-KR" altLang="en-US" sz="2400" b="1">
                <a:solidFill>
                  <a:srgbClr val="FF0000"/>
                </a:solidFill>
              </a:rPr>
              <a:t>다중 정의</a:t>
            </a:r>
          </a:p>
          <a:p>
            <a:pPr lvl="1">
              <a:lnSpc>
                <a:spcPct val="120000"/>
              </a:lnSpc>
            </a:pPr>
            <a:endParaRPr lang="ko-KR" altLang="en-US" sz="2400" b="1"/>
          </a:p>
          <a:p>
            <a:pPr>
              <a:lnSpc>
                <a:spcPct val="120000"/>
              </a:lnSpc>
            </a:pPr>
            <a:r>
              <a:rPr lang="ko-KR" altLang="en-US" sz="2800" b="1"/>
              <a:t>함수 오버로딩의 조건</a:t>
            </a:r>
          </a:p>
          <a:p>
            <a:pPr lvl="1">
              <a:lnSpc>
                <a:spcPct val="120000"/>
              </a:lnSpc>
            </a:pPr>
            <a:r>
              <a:rPr lang="ko-KR" altLang="en-US" sz="2400" b="1"/>
              <a:t>매개 변수의 개수 혹은 타입이 일치하지 않는다</a:t>
            </a:r>
            <a:r>
              <a:rPr lang="en-US" altLang="ko-KR" sz="2400" b="1"/>
              <a:t>.</a:t>
            </a:r>
          </a:p>
          <a:p>
            <a:pPr lvl="1">
              <a:lnSpc>
                <a:spcPct val="120000"/>
              </a:lnSpc>
            </a:pPr>
            <a:endParaRPr lang="en-US" altLang="ko-KR" sz="2400" b="1"/>
          </a:p>
          <a:p>
            <a:pPr>
              <a:lnSpc>
                <a:spcPct val="120000"/>
              </a:lnSpc>
            </a:pPr>
            <a:r>
              <a:rPr lang="ko-KR" altLang="en-US" sz="2800" b="1"/>
              <a:t>함수 오버로딩이 가능한 이유</a:t>
            </a:r>
          </a:p>
          <a:p>
            <a:pPr lvl="1">
              <a:lnSpc>
                <a:spcPct val="120000"/>
              </a:lnSpc>
            </a:pPr>
            <a:r>
              <a:rPr lang="ko-KR" altLang="en-US" sz="2400" b="1"/>
              <a:t>호출할 함수를 매개 변수의 정보까지 참조해서 호출</a:t>
            </a:r>
          </a:p>
          <a:p>
            <a:pPr lvl="1">
              <a:lnSpc>
                <a:spcPct val="120000"/>
              </a:lnSpc>
            </a:pPr>
            <a:r>
              <a:rPr lang="ko-KR" altLang="en-US" sz="2400" b="1"/>
              <a:t>함수의 이름 </a:t>
            </a:r>
            <a:r>
              <a:rPr lang="en-US" altLang="ko-KR" sz="2400" b="1"/>
              <a:t>+ </a:t>
            </a:r>
            <a:r>
              <a:rPr lang="ko-KR" altLang="en-US" sz="2400" b="1"/>
              <a:t>매개 변수의 정보</a:t>
            </a:r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C4559FDA-B2DB-33D0-BAA5-48277BFB0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207963"/>
            <a:ext cx="33099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l"/>
            <a:r>
              <a:rPr lang="en-US" altLang="ko-KR" sz="2800" b="1"/>
              <a:t>1-2  </a:t>
            </a:r>
            <a:r>
              <a:rPr lang="ko-KR" altLang="en-US" sz="2800" b="1"/>
              <a:t>함수 오버로딩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>
            <a:extLst>
              <a:ext uri="{FF2B5EF4-FFF2-40B4-BE49-F238E27FC236}">
                <a16:creationId xmlns:a16="http://schemas.microsoft.com/office/drawing/2014/main" id="{286F3F1D-CE65-B2D0-F077-1D6E8218F9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196975"/>
            <a:ext cx="7772400" cy="1116013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2800" b="1"/>
              <a:t>함수 오버로딩의 예</a:t>
            </a:r>
          </a:p>
          <a:p>
            <a:pPr lvl="1">
              <a:lnSpc>
                <a:spcPct val="120000"/>
              </a:lnSpc>
            </a:pPr>
            <a:r>
              <a:rPr lang="en-US" altLang="ko-KR" sz="2400" b="1"/>
              <a:t>FunctionOverloading.cpp</a:t>
            </a:r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C58210DA-D38C-805E-8A9F-CF52778CE4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325" y="2636838"/>
            <a:ext cx="5364163" cy="1150937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06000" tIns="118800" bIns="190800" anchor="ctr"/>
          <a:lstStyle>
            <a:lvl1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65000"/>
              </a:lnSpc>
            </a:pPr>
            <a:r>
              <a:rPr lang="en-US" altLang="ko-KR" sz="1600" b="1">
                <a:cs typeface="Times New Roman" panose="02020603050405020304" pitchFamily="18" charset="0"/>
              </a:rPr>
              <a:t>int function1(int n){…}</a:t>
            </a:r>
          </a:p>
          <a:p>
            <a:pPr>
              <a:lnSpc>
                <a:spcPct val="165000"/>
              </a:lnSpc>
            </a:pPr>
            <a:r>
              <a:rPr lang="en-US" altLang="ko-KR" sz="1600" b="1">
                <a:cs typeface="Times New Roman" panose="02020603050405020304" pitchFamily="18" charset="0"/>
              </a:rPr>
              <a:t>int function1(char c){…}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A4F718EA-F47D-9444-276E-B7A368469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325" y="4257675"/>
            <a:ext cx="5364163" cy="1150938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06000" tIns="118800" bIns="190800" anchor="ctr"/>
          <a:lstStyle>
            <a:lvl1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65000"/>
              </a:lnSpc>
            </a:pPr>
            <a:r>
              <a:rPr lang="en-US" altLang="ko-KR" sz="1600" b="1">
                <a:cs typeface="Times New Roman" panose="02020603050405020304" pitchFamily="18" charset="0"/>
              </a:rPr>
              <a:t>int function2(int v){…}</a:t>
            </a:r>
          </a:p>
          <a:p>
            <a:pPr>
              <a:lnSpc>
                <a:spcPct val="165000"/>
              </a:lnSpc>
            </a:pPr>
            <a:r>
              <a:rPr lang="en-US" altLang="ko-KR" sz="1600" b="1">
                <a:cs typeface="Times New Roman" panose="02020603050405020304" pitchFamily="18" charset="0"/>
              </a:rPr>
              <a:t>int function2(int v1, int v2){…}</a:t>
            </a:r>
          </a:p>
        </p:txBody>
      </p:sp>
      <p:sp>
        <p:nvSpPr>
          <p:cNvPr id="9222" name="Rectangle 6">
            <a:extLst>
              <a:ext uri="{FF2B5EF4-FFF2-40B4-BE49-F238E27FC236}">
                <a16:creationId xmlns:a16="http://schemas.microsoft.com/office/drawing/2014/main" id="{D623C0E7-8910-0A33-1309-A18F7C9F5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207963"/>
            <a:ext cx="33099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l"/>
            <a:r>
              <a:rPr lang="en-US" altLang="ko-KR" sz="2800" b="1"/>
              <a:t>1-2  </a:t>
            </a:r>
            <a:r>
              <a:rPr lang="ko-KR" altLang="en-US" sz="2800" b="1"/>
              <a:t>함수 오버로딩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51ADA18F-0DCC-B7BB-AA00-5CB2BFFC71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11413" y="209550"/>
            <a:ext cx="3886200" cy="519113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2800" b="1"/>
              <a:t>1-3  </a:t>
            </a:r>
            <a:r>
              <a:rPr lang="ko-KR" altLang="en-US" sz="2800" b="1"/>
              <a:t>디폴트 매개 변수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9A3A2FC1-8E66-E9CF-7D7F-E21D95842B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187450"/>
            <a:ext cx="8207375" cy="2576513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2800" b="1"/>
              <a:t>디폴트 매개 변수란</a:t>
            </a:r>
            <a:r>
              <a:rPr lang="en-US" altLang="ko-KR" sz="2800" b="1"/>
              <a:t>?</a:t>
            </a:r>
          </a:p>
          <a:p>
            <a:pPr lvl="1">
              <a:lnSpc>
                <a:spcPct val="120000"/>
              </a:lnSpc>
            </a:pPr>
            <a:r>
              <a:rPr lang="ko-KR" altLang="en-US" sz="2400" b="1"/>
              <a:t>전달되지 않은 인자를 대신하기 위한 기본 값이 설정되어 있는 변수</a:t>
            </a:r>
          </a:p>
          <a:p>
            <a:pPr lvl="1">
              <a:lnSpc>
                <a:spcPct val="120000"/>
              </a:lnSpc>
            </a:pPr>
            <a:r>
              <a:rPr lang="en-US" altLang="ko-KR" sz="2400" b="1"/>
              <a:t>DefaultParameter1.cpp</a:t>
            </a:r>
          </a:p>
          <a:p>
            <a:pPr lvl="1">
              <a:lnSpc>
                <a:spcPct val="120000"/>
              </a:lnSpc>
            </a:pPr>
            <a:r>
              <a:rPr lang="en-US" altLang="ko-KR" sz="2400" b="1"/>
              <a:t>DefaultParameter2.cpp</a:t>
            </a:r>
          </a:p>
        </p:txBody>
      </p:sp>
      <p:pic>
        <p:nvPicPr>
          <p:cNvPr id="10245" name="Picture 5">
            <a:extLst>
              <a:ext uri="{FF2B5EF4-FFF2-40B4-BE49-F238E27FC236}">
                <a16:creationId xmlns:a16="http://schemas.microsoft.com/office/drawing/2014/main" id="{D5CC20D2-4D9D-E5B2-F772-380E3D78B1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9300" y="4076700"/>
            <a:ext cx="2565400" cy="177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46" name="Rectangle 6">
            <a:extLst>
              <a:ext uri="{FF2B5EF4-FFF2-40B4-BE49-F238E27FC236}">
                <a16:creationId xmlns:a16="http://schemas.microsoft.com/office/drawing/2014/main" id="{6C6B796C-0987-7AC4-CE56-718F3AD9B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7488" y="6129338"/>
            <a:ext cx="1089025" cy="31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1600" b="1"/>
              <a:t>그림 </a:t>
            </a:r>
            <a:r>
              <a:rPr lang="en-US" altLang="ko-KR" sz="1600" b="1"/>
              <a:t>1-</a:t>
            </a:r>
            <a:r>
              <a:rPr lang="en-US" altLang="ja-JP" sz="1600" b="1"/>
              <a:t>2</a:t>
            </a:r>
            <a:endParaRPr lang="en-US" altLang="ko-KR" sz="1600"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>
            <a:extLst>
              <a:ext uri="{FF2B5EF4-FFF2-40B4-BE49-F238E27FC236}">
                <a16:creationId xmlns:a16="http://schemas.microsoft.com/office/drawing/2014/main" id="{D0F4C771-39EB-00C9-9501-763506CF16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196975"/>
            <a:ext cx="7772400" cy="604838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2800" b="1"/>
              <a:t>디폴트 매개변수 </a:t>
            </a:r>
            <a:r>
              <a:rPr lang="en-US" altLang="ko-KR" sz="2800" b="1"/>
              <a:t>vs. </a:t>
            </a:r>
            <a:r>
              <a:rPr lang="ko-KR" altLang="en-US" sz="2800" b="1"/>
              <a:t>함수 오버로딩</a:t>
            </a:r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3FE10EEB-7EDC-44C0-628D-38A3C049EF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2133600"/>
            <a:ext cx="3384550" cy="3960813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8000" tIns="118800" bIns="190800" anchor="ctr"/>
          <a:lstStyle>
            <a:lvl1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300" b="1">
                <a:cs typeface="Times New Roman" panose="02020603050405020304" pitchFamily="18" charset="0"/>
              </a:rPr>
              <a:t>#include&lt;iostream&gt;</a:t>
            </a:r>
          </a:p>
          <a:p>
            <a:pPr>
              <a:lnSpc>
                <a:spcPct val="120000"/>
              </a:lnSpc>
            </a:pPr>
            <a:r>
              <a:rPr lang="en-US" altLang="ko-KR" sz="1300" b="1"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20000"/>
              </a:lnSpc>
            </a:pPr>
            <a:r>
              <a:rPr lang="en-US" altLang="ko-KR" sz="1300" b="1">
                <a:cs typeface="Times New Roman" panose="02020603050405020304" pitchFamily="18" charset="0"/>
              </a:rPr>
              <a:t>int function(int a=10){</a:t>
            </a:r>
          </a:p>
          <a:p>
            <a:pPr>
              <a:lnSpc>
                <a:spcPct val="120000"/>
              </a:lnSpc>
            </a:pPr>
            <a:r>
              <a:rPr lang="en-US" altLang="ko-KR" sz="1300" b="1">
                <a:cs typeface="Times New Roman" panose="02020603050405020304" pitchFamily="18" charset="0"/>
              </a:rPr>
              <a:t>   return a+1;</a:t>
            </a:r>
          </a:p>
          <a:p>
            <a:pPr>
              <a:lnSpc>
                <a:spcPct val="120000"/>
              </a:lnSpc>
            </a:pPr>
            <a:r>
              <a:rPr lang="en-US" altLang="ko-KR" sz="1300" b="1"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20000"/>
              </a:lnSpc>
            </a:pPr>
            <a:r>
              <a:rPr lang="en-US" altLang="ko-KR" sz="1300" b="1"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20000"/>
              </a:lnSpc>
            </a:pPr>
            <a:r>
              <a:rPr lang="en-US" altLang="ko-KR" sz="1300" b="1">
                <a:cs typeface="Times New Roman" panose="02020603050405020304" pitchFamily="18" charset="0"/>
              </a:rPr>
              <a:t>int function(void){</a:t>
            </a:r>
          </a:p>
          <a:p>
            <a:pPr>
              <a:lnSpc>
                <a:spcPct val="120000"/>
              </a:lnSpc>
            </a:pPr>
            <a:r>
              <a:rPr lang="en-US" altLang="ko-KR" sz="1300" b="1">
                <a:cs typeface="Times New Roman" panose="02020603050405020304" pitchFamily="18" charset="0"/>
              </a:rPr>
              <a:t>   return 10;</a:t>
            </a:r>
          </a:p>
          <a:p>
            <a:pPr>
              <a:lnSpc>
                <a:spcPct val="120000"/>
              </a:lnSpc>
            </a:pPr>
            <a:r>
              <a:rPr lang="en-US" altLang="ko-KR" sz="1300" b="1"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20000"/>
              </a:lnSpc>
            </a:pPr>
            <a:r>
              <a:rPr lang="en-US" altLang="ko-KR" sz="1300" b="1"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20000"/>
              </a:lnSpc>
            </a:pPr>
            <a:r>
              <a:rPr lang="en-US" altLang="ko-KR" sz="1300" b="1">
                <a:cs typeface="Times New Roman" panose="02020603050405020304" pitchFamily="18" charset="0"/>
              </a:rPr>
              <a:t>int main(void)</a:t>
            </a:r>
          </a:p>
          <a:p>
            <a:pPr>
              <a:lnSpc>
                <a:spcPct val="120000"/>
              </a:lnSpc>
            </a:pPr>
            <a:r>
              <a:rPr lang="en-US" altLang="ko-KR" sz="1300" b="1"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20000"/>
              </a:lnSpc>
            </a:pPr>
            <a:r>
              <a:rPr lang="en-US" altLang="ko-KR" sz="1300" b="1">
                <a:cs typeface="Times New Roman" panose="02020603050405020304" pitchFamily="18" charset="0"/>
              </a:rPr>
              <a:t>   std::cout&lt;&lt;function(10)&lt;&lt;std::endl;</a:t>
            </a:r>
          </a:p>
          <a:p>
            <a:pPr>
              <a:lnSpc>
                <a:spcPct val="120000"/>
              </a:lnSpc>
            </a:pPr>
            <a:r>
              <a:rPr lang="en-US" altLang="ko-KR" sz="1300" b="1">
                <a:cs typeface="Times New Roman" panose="02020603050405020304" pitchFamily="18" charset="0"/>
              </a:rPr>
              <a:t>   return 0;</a:t>
            </a:r>
          </a:p>
          <a:p>
            <a:pPr>
              <a:lnSpc>
                <a:spcPct val="120000"/>
              </a:lnSpc>
            </a:pPr>
            <a:r>
              <a:rPr lang="en-US" altLang="ko-KR" sz="1300" b="1">
                <a:cs typeface="Times New Roman" panose="02020603050405020304" pitchFamily="18" charset="0"/>
              </a:rPr>
              <a:t>}</a:t>
            </a:r>
            <a:r>
              <a:rPr lang="en-US" altLang="ja-JP" sz="1300" b="1">
                <a:cs typeface="Times New Roman" panose="02020603050405020304" pitchFamily="18" charset="0"/>
              </a:rPr>
              <a:t> </a:t>
            </a:r>
            <a:endParaRPr lang="en-US" altLang="ko-KR" sz="1300" b="1">
              <a:cs typeface="Times New Roman" panose="02020603050405020304" pitchFamily="18" charset="0"/>
            </a:endParaRPr>
          </a:p>
        </p:txBody>
      </p:sp>
      <p:sp>
        <p:nvSpPr>
          <p:cNvPr id="11271" name="Rectangle 7">
            <a:extLst>
              <a:ext uri="{FF2B5EF4-FFF2-40B4-BE49-F238E27FC236}">
                <a16:creationId xmlns:a16="http://schemas.microsoft.com/office/drawing/2014/main" id="{42C55A7A-4CF3-1AA5-60FC-4374AB95DB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209550"/>
            <a:ext cx="3886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l"/>
            <a:r>
              <a:rPr lang="en-US" altLang="ko-KR" sz="2800" b="1"/>
              <a:t>1-3  </a:t>
            </a:r>
            <a:r>
              <a:rPr lang="ko-KR" altLang="en-US" sz="2800" b="1"/>
              <a:t>디폴트 매개 변수</a:t>
            </a:r>
          </a:p>
        </p:txBody>
      </p:sp>
      <p:pic>
        <p:nvPicPr>
          <p:cNvPr id="11274" name="Picture 10">
            <a:extLst>
              <a:ext uri="{FF2B5EF4-FFF2-40B4-BE49-F238E27FC236}">
                <a16:creationId xmlns:a16="http://schemas.microsoft.com/office/drawing/2014/main" id="{57D35186-9801-9C7F-1867-20DF77C532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2988" y="3068638"/>
            <a:ext cx="4219575" cy="199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75" name="Rectangle 11">
            <a:extLst>
              <a:ext uri="{FF2B5EF4-FFF2-40B4-BE49-F238E27FC236}">
                <a16:creationId xmlns:a16="http://schemas.microsoft.com/office/drawing/2014/main" id="{25084928-AFBA-D2DB-8C4D-40D9FADCE9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25" y="5481638"/>
            <a:ext cx="1089025" cy="31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1600" b="1"/>
              <a:t>그림 </a:t>
            </a:r>
            <a:r>
              <a:rPr lang="en-US" altLang="ko-KR" sz="1600" b="1"/>
              <a:t>1-</a:t>
            </a:r>
            <a:r>
              <a:rPr lang="en-US" altLang="ja-JP" sz="1600" b="1"/>
              <a:t>3</a:t>
            </a:r>
            <a:endParaRPr lang="en-US" altLang="ko-KR" sz="1600" b="1"/>
          </a:p>
        </p:txBody>
      </p:sp>
      <p:sp>
        <p:nvSpPr>
          <p:cNvPr id="11276" name="AutoShape 12">
            <a:extLst>
              <a:ext uri="{FF2B5EF4-FFF2-40B4-BE49-F238E27FC236}">
                <a16:creationId xmlns:a16="http://schemas.microsoft.com/office/drawing/2014/main" id="{54C12D6E-89F9-0600-A2C4-24538A14D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9900" y="3981450"/>
            <a:ext cx="519113" cy="428625"/>
          </a:xfrm>
          <a:prstGeom prst="rightArrow">
            <a:avLst>
              <a:gd name="adj1" fmla="val 50000"/>
              <a:gd name="adj2" fmla="val 58386"/>
            </a:avLst>
          </a:prstGeom>
          <a:solidFill>
            <a:srgbClr val="80808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C964785D-F901-87B6-2F31-297B32296D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76488" y="215900"/>
            <a:ext cx="3201987" cy="519113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2800" b="1"/>
              <a:t>1-4  </a:t>
            </a:r>
            <a:r>
              <a:rPr lang="ko-KR" altLang="en-US" sz="2800" b="1"/>
              <a:t>인</a:t>
            </a:r>
            <a:r>
              <a:rPr lang="en-US" altLang="ko-KR" sz="2800" b="1"/>
              <a:t>-</a:t>
            </a:r>
            <a:r>
              <a:rPr lang="ko-KR" altLang="en-US" sz="2800" b="1"/>
              <a:t>라인 함수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1D83A11F-A4C2-69FE-5464-47AFA47BBD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052513"/>
            <a:ext cx="5832475" cy="2557462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2800" b="1"/>
              <a:t>매크로 함수를 통한 인</a:t>
            </a:r>
            <a:r>
              <a:rPr lang="en-US" altLang="ko-KR" sz="2800" b="1"/>
              <a:t>-</a:t>
            </a:r>
            <a:r>
              <a:rPr lang="ko-KR" altLang="en-US" sz="2800" b="1"/>
              <a:t>라인</a:t>
            </a:r>
          </a:p>
          <a:p>
            <a:pPr lvl="1">
              <a:lnSpc>
                <a:spcPct val="115000"/>
              </a:lnSpc>
            </a:pPr>
            <a:r>
              <a:rPr lang="ko-KR" altLang="en-US" sz="2400" b="1"/>
              <a:t>인</a:t>
            </a:r>
            <a:r>
              <a:rPr lang="en-US" altLang="ko-KR" sz="2400" b="1"/>
              <a:t>-</a:t>
            </a:r>
            <a:r>
              <a:rPr lang="ko-KR" altLang="en-US" sz="2400" b="1"/>
              <a:t>라인화된 함수</a:t>
            </a:r>
          </a:p>
          <a:p>
            <a:pPr lvl="1">
              <a:lnSpc>
                <a:spcPct val="115000"/>
              </a:lnSpc>
            </a:pPr>
            <a:r>
              <a:rPr lang="ko-KR" altLang="en-US" sz="2400" b="1"/>
              <a:t>장점</a:t>
            </a:r>
            <a:r>
              <a:rPr lang="en-US" altLang="ko-KR" sz="2400" b="1"/>
              <a:t>! : </a:t>
            </a:r>
            <a:r>
              <a:rPr lang="ko-KR" altLang="en-US" sz="2400" b="1"/>
              <a:t>실행</a:t>
            </a:r>
            <a:r>
              <a:rPr lang="ko-KR" altLang="ja-JP" sz="2400" b="1"/>
              <a:t> </a:t>
            </a:r>
            <a:r>
              <a:rPr lang="ko-KR" altLang="en-US" sz="2400" b="1"/>
              <a:t>속도의 향상</a:t>
            </a:r>
          </a:p>
          <a:p>
            <a:pPr lvl="1">
              <a:lnSpc>
                <a:spcPct val="115000"/>
              </a:lnSpc>
            </a:pPr>
            <a:r>
              <a:rPr lang="ko-KR" altLang="en-US" sz="2400" b="1"/>
              <a:t>단점</a:t>
            </a:r>
            <a:r>
              <a:rPr lang="en-US" altLang="ko-KR" sz="2400" b="1"/>
              <a:t>! : </a:t>
            </a:r>
            <a:r>
              <a:rPr lang="ko-KR" altLang="en-US" sz="2400" b="1"/>
              <a:t>구현의 어려움</a:t>
            </a:r>
          </a:p>
          <a:p>
            <a:pPr lvl="1">
              <a:lnSpc>
                <a:spcPct val="115000"/>
              </a:lnSpc>
            </a:pPr>
            <a:r>
              <a:rPr lang="ko-KR" altLang="en-US" sz="2400" b="1">
                <a:solidFill>
                  <a:srgbClr val="FF0000"/>
                </a:solidFill>
              </a:rPr>
              <a:t>컴파일러에 의해 결정</a:t>
            </a:r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5D935D5D-F964-9294-3577-8FBA4EF0A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325" y="3644900"/>
            <a:ext cx="5940425" cy="2808288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06000" tIns="118800" bIns="190800" anchor="ctr"/>
          <a:lstStyle>
            <a:lvl1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35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#include &lt;iostream&gt;</a:t>
            </a:r>
          </a:p>
          <a:p>
            <a:pPr>
              <a:lnSpc>
                <a:spcPct val="135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#define SQUARE(x) ((x)*(x))</a:t>
            </a:r>
          </a:p>
          <a:p>
            <a:pPr>
              <a:lnSpc>
                <a:spcPct val="135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35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int main(void)</a:t>
            </a:r>
          </a:p>
          <a:p>
            <a:pPr>
              <a:lnSpc>
                <a:spcPct val="135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35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std::cout&lt;&lt; </a:t>
            </a:r>
            <a:r>
              <a:rPr lang="en-US" altLang="ko-KR" sz="1600" b="1">
                <a:cs typeface="Times New Roman" panose="02020603050405020304" pitchFamily="18" charset="0"/>
              </a:rPr>
              <a:t>SQUARE(5)</a:t>
            </a:r>
            <a:r>
              <a:rPr lang="en-US" altLang="ko-KR" sz="1400" b="1">
                <a:cs typeface="Times New Roman" panose="02020603050405020304" pitchFamily="18" charset="0"/>
              </a:rPr>
              <a:t> &lt;&lt;std::endl;</a:t>
            </a:r>
          </a:p>
          <a:p>
            <a:pPr>
              <a:lnSpc>
                <a:spcPct val="135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return 0;</a:t>
            </a:r>
          </a:p>
          <a:p>
            <a:pPr>
              <a:lnSpc>
                <a:spcPct val="135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>
            <a:extLst>
              <a:ext uri="{FF2B5EF4-FFF2-40B4-BE49-F238E27FC236}">
                <a16:creationId xmlns:a16="http://schemas.microsoft.com/office/drawing/2014/main" id="{CF7C63C7-D04F-B7A0-495B-CAB922D693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212850"/>
            <a:ext cx="7772400" cy="2227263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2800" b="1"/>
              <a:t>inline </a:t>
            </a:r>
            <a:r>
              <a:rPr lang="ko-KR" altLang="en-US" sz="2800" b="1"/>
              <a:t>선언에 의한 함수의 인</a:t>
            </a:r>
            <a:r>
              <a:rPr lang="en-US" altLang="ko-KR" sz="2800" b="1"/>
              <a:t>-</a:t>
            </a:r>
            <a:r>
              <a:rPr lang="ko-KR" altLang="en-US" sz="2800" b="1"/>
              <a:t>라인화</a:t>
            </a:r>
          </a:p>
          <a:p>
            <a:pPr lvl="1">
              <a:lnSpc>
                <a:spcPct val="115000"/>
              </a:lnSpc>
            </a:pPr>
            <a:r>
              <a:rPr lang="ko-KR" altLang="en-US" sz="2000" b="1"/>
              <a:t>컴파일러에 의해서 처리</a:t>
            </a:r>
          </a:p>
          <a:p>
            <a:pPr lvl="1">
              <a:lnSpc>
                <a:spcPct val="115000"/>
              </a:lnSpc>
            </a:pPr>
            <a:r>
              <a:rPr lang="ko-KR" altLang="en-US" sz="2000" b="1"/>
              <a:t>매크로 함수의 장점을 그대로 반영</a:t>
            </a:r>
          </a:p>
          <a:p>
            <a:pPr lvl="1">
              <a:lnSpc>
                <a:spcPct val="115000"/>
              </a:lnSpc>
            </a:pPr>
            <a:r>
              <a:rPr lang="ko-KR" altLang="en-US" sz="2000" b="1"/>
              <a:t>구현의 용이성 제공</a:t>
            </a:r>
          </a:p>
          <a:p>
            <a:pPr lvl="1">
              <a:lnSpc>
                <a:spcPct val="115000"/>
              </a:lnSpc>
            </a:pPr>
            <a:r>
              <a:rPr lang="ko-KR" altLang="en-US" sz="2000" b="1"/>
              <a:t>컴파일러에게 최적화의 기회 제공</a:t>
            </a:r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60BB6E0C-D5F8-CB1B-EFE2-EBDD253C79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325" y="3665538"/>
            <a:ext cx="6156325" cy="28956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06000" tIns="118800" bIns="190800" anchor="ctr"/>
          <a:lstStyle>
            <a:lvl1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15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#include &lt;iostream&gt;</a:t>
            </a:r>
          </a:p>
          <a:p>
            <a:pPr>
              <a:lnSpc>
                <a:spcPct val="115000"/>
              </a:lnSpc>
            </a:pPr>
            <a:r>
              <a:rPr lang="en-US" altLang="ko-KR" sz="1600" b="1">
                <a:cs typeface="Times New Roman" panose="02020603050405020304" pitchFamily="18" charset="0"/>
              </a:rPr>
              <a:t>inline</a:t>
            </a:r>
            <a:r>
              <a:rPr lang="en-US" altLang="ko-KR" sz="1400" b="1">
                <a:cs typeface="Times New Roman" panose="02020603050405020304" pitchFamily="18" charset="0"/>
              </a:rPr>
              <a:t> int SQUARE(int x)</a:t>
            </a:r>
          </a:p>
          <a:p>
            <a:pPr>
              <a:lnSpc>
                <a:spcPct val="115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15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return x*x;</a:t>
            </a:r>
          </a:p>
          <a:p>
            <a:pPr>
              <a:lnSpc>
                <a:spcPct val="115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}</a:t>
            </a:r>
          </a:p>
          <a:p>
            <a:pPr>
              <a:lnSpc>
                <a:spcPct val="115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15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int main(void)</a:t>
            </a:r>
          </a:p>
          <a:p>
            <a:pPr>
              <a:lnSpc>
                <a:spcPct val="115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15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std::cout&lt;&lt;SQUARE(5)&lt;&lt;std::endl;</a:t>
            </a:r>
          </a:p>
          <a:p>
            <a:pPr>
              <a:lnSpc>
                <a:spcPct val="115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return 0;</a:t>
            </a:r>
          </a:p>
          <a:p>
            <a:pPr>
              <a:lnSpc>
                <a:spcPct val="115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C5ECF375-384C-CF48-B1CF-B3BFD8BE94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6488" y="215900"/>
            <a:ext cx="32019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l"/>
            <a:r>
              <a:rPr lang="en-US" altLang="ko-KR" sz="2800" b="1"/>
              <a:t>1-4  </a:t>
            </a:r>
            <a:r>
              <a:rPr lang="ko-KR" altLang="en-US" sz="2800" b="1"/>
              <a:t>인</a:t>
            </a:r>
            <a:r>
              <a:rPr lang="en-US" altLang="ko-KR" sz="2800" b="1"/>
              <a:t>-</a:t>
            </a:r>
            <a:r>
              <a:rPr lang="ko-KR" altLang="en-US" sz="2800" b="1"/>
              <a:t>라인 함수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A8644A97-5A0F-FDC1-5F34-3952F55A08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11413" y="217488"/>
            <a:ext cx="4749800" cy="519112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ko-KR" sz="2800" b="1"/>
              <a:t>1-5  </a:t>
            </a:r>
            <a:r>
              <a:rPr lang="ko-KR" altLang="en-US" sz="2800" b="1"/>
              <a:t>이름공간</a:t>
            </a:r>
            <a:r>
              <a:rPr lang="en-US" altLang="ko-KR" sz="2800" b="1"/>
              <a:t>(namespace)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F2C8AC0E-47FB-CB8B-1C58-D67ED84E93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233488"/>
            <a:ext cx="5865813" cy="15113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2800" b="1"/>
              <a:t>이름 공간이란</a:t>
            </a:r>
            <a:r>
              <a:rPr lang="en-US" altLang="ko-KR" sz="2800" b="1"/>
              <a:t>?</a:t>
            </a:r>
          </a:p>
          <a:p>
            <a:pPr lvl="1">
              <a:lnSpc>
                <a:spcPct val="110000"/>
              </a:lnSpc>
            </a:pPr>
            <a:r>
              <a:rPr lang="ko-KR" altLang="en-US" sz="2400" b="1"/>
              <a:t>공간에 이름을 주는 행위</a:t>
            </a:r>
            <a:r>
              <a:rPr lang="en-US" altLang="ko-KR" sz="2400" b="1"/>
              <a:t>!</a:t>
            </a:r>
          </a:p>
          <a:p>
            <a:pPr lvl="1">
              <a:lnSpc>
                <a:spcPct val="110000"/>
              </a:lnSpc>
            </a:pPr>
            <a:r>
              <a:rPr lang="en-US" altLang="ko-KR" sz="2400" b="1"/>
              <a:t>"202</a:t>
            </a:r>
            <a:r>
              <a:rPr lang="ko-KR" altLang="en-US" sz="2400" b="1"/>
              <a:t>호에 사는 철수야</a:t>
            </a:r>
            <a:r>
              <a:rPr lang="en-US" altLang="ko-KR" sz="2400" b="1"/>
              <a:t>"</a:t>
            </a:r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47740482-784C-60F9-D294-FCD7434801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325" y="2960688"/>
            <a:ext cx="6156325" cy="360045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06000" tIns="118800" bIns="190800" anchor="ctr"/>
          <a:lstStyle>
            <a:lvl1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 sz="1300" b="1">
                <a:cs typeface="Times New Roman" panose="02020603050405020304" pitchFamily="18" charset="0"/>
              </a:rPr>
              <a:t>#include &lt;iostream&gt;</a:t>
            </a:r>
          </a:p>
          <a:p>
            <a:r>
              <a:rPr lang="en-US" altLang="ko-KR" sz="1300" b="1">
                <a:cs typeface="Times New Roman" panose="02020603050405020304" pitchFamily="18" charset="0"/>
              </a:rPr>
              <a:t> </a:t>
            </a:r>
          </a:p>
          <a:p>
            <a:r>
              <a:rPr lang="en-US" altLang="ko-KR" sz="1300" b="1">
                <a:cs typeface="Times New Roman" panose="02020603050405020304" pitchFamily="18" charset="0"/>
              </a:rPr>
              <a:t>void function(void)</a:t>
            </a:r>
          </a:p>
          <a:p>
            <a:r>
              <a:rPr lang="en-US" altLang="ko-KR" sz="1300" b="1">
                <a:cs typeface="Times New Roman" panose="02020603050405020304" pitchFamily="18" charset="0"/>
              </a:rPr>
              <a:t>{</a:t>
            </a:r>
          </a:p>
          <a:p>
            <a:r>
              <a:rPr lang="en-US" altLang="ko-KR" sz="1300" b="1">
                <a:cs typeface="Times New Roman" panose="02020603050405020304" pitchFamily="18" charset="0"/>
              </a:rPr>
              <a:t>   std::cout&lt;&lt;"A.com</a:t>
            </a:r>
            <a:r>
              <a:rPr lang="ko-KR" altLang="en-US" sz="1300" b="1">
                <a:cs typeface="Times New Roman" panose="02020603050405020304" pitchFamily="18" charset="0"/>
              </a:rPr>
              <a:t>에서 정의한 함수</a:t>
            </a:r>
            <a:r>
              <a:rPr lang="en-US" altLang="ko-KR" sz="1300" b="1">
                <a:cs typeface="Times New Roman" panose="02020603050405020304" pitchFamily="18" charset="0"/>
              </a:rPr>
              <a:t>"&lt;&lt;std::endl;</a:t>
            </a:r>
          </a:p>
          <a:p>
            <a:r>
              <a:rPr lang="en-US" altLang="ko-KR" sz="1300" b="1">
                <a:cs typeface="Times New Roman" panose="02020603050405020304" pitchFamily="18" charset="0"/>
              </a:rPr>
              <a:t>}</a:t>
            </a:r>
          </a:p>
          <a:p>
            <a:r>
              <a:rPr lang="en-US" altLang="ko-KR" sz="1300" b="1">
                <a:cs typeface="Times New Roman" panose="02020603050405020304" pitchFamily="18" charset="0"/>
              </a:rPr>
              <a:t> </a:t>
            </a:r>
          </a:p>
          <a:p>
            <a:r>
              <a:rPr lang="en-US" altLang="ko-KR" sz="1300" b="1">
                <a:cs typeface="Times New Roman" panose="02020603050405020304" pitchFamily="18" charset="0"/>
              </a:rPr>
              <a:t>void function(void)</a:t>
            </a:r>
          </a:p>
          <a:p>
            <a:r>
              <a:rPr lang="en-US" altLang="ko-KR" sz="1300" b="1">
                <a:cs typeface="Times New Roman" panose="02020603050405020304" pitchFamily="18" charset="0"/>
              </a:rPr>
              <a:t>{</a:t>
            </a:r>
          </a:p>
          <a:p>
            <a:r>
              <a:rPr lang="en-US" altLang="ko-KR" sz="1300" b="1">
                <a:cs typeface="Times New Roman" panose="02020603050405020304" pitchFamily="18" charset="0"/>
              </a:rPr>
              <a:t>   std::cout&lt;&lt;"B.com</a:t>
            </a:r>
            <a:r>
              <a:rPr lang="ko-KR" altLang="en-US" sz="1300" b="1">
                <a:cs typeface="Times New Roman" panose="02020603050405020304" pitchFamily="18" charset="0"/>
              </a:rPr>
              <a:t>에서 정의한 함수</a:t>
            </a:r>
            <a:r>
              <a:rPr lang="en-US" altLang="ko-KR" sz="1300" b="1">
                <a:cs typeface="Times New Roman" panose="02020603050405020304" pitchFamily="18" charset="0"/>
              </a:rPr>
              <a:t>"&lt;&lt;std::endl;</a:t>
            </a:r>
          </a:p>
          <a:p>
            <a:r>
              <a:rPr lang="en-US" altLang="ko-KR" sz="1300" b="1">
                <a:cs typeface="Times New Roman" panose="02020603050405020304" pitchFamily="18" charset="0"/>
              </a:rPr>
              <a:t>}</a:t>
            </a:r>
          </a:p>
          <a:p>
            <a:r>
              <a:rPr lang="en-US" altLang="ko-KR" sz="1300" b="1">
                <a:cs typeface="Times New Roman" panose="02020603050405020304" pitchFamily="18" charset="0"/>
              </a:rPr>
              <a:t> </a:t>
            </a:r>
          </a:p>
          <a:p>
            <a:r>
              <a:rPr lang="en-US" altLang="ko-KR" sz="1300" b="1">
                <a:cs typeface="Times New Roman" panose="02020603050405020304" pitchFamily="18" charset="0"/>
              </a:rPr>
              <a:t>int main(void)</a:t>
            </a:r>
          </a:p>
          <a:p>
            <a:r>
              <a:rPr lang="en-US" altLang="ko-KR" sz="1300" b="1">
                <a:cs typeface="Times New Roman" panose="02020603050405020304" pitchFamily="18" charset="0"/>
              </a:rPr>
              <a:t>{</a:t>
            </a:r>
          </a:p>
          <a:p>
            <a:r>
              <a:rPr lang="en-US" altLang="ko-KR" sz="1300" b="1">
                <a:cs typeface="Times New Roman" panose="02020603050405020304" pitchFamily="18" charset="0"/>
              </a:rPr>
              <a:t>   function();</a:t>
            </a:r>
          </a:p>
          <a:p>
            <a:r>
              <a:rPr lang="en-US" altLang="ko-KR" sz="1300" b="1">
                <a:cs typeface="Times New Roman" panose="02020603050405020304" pitchFamily="18" charset="0"/>
              </a:rPr>
              <a:t>   return 0;</a:t>
            </a:r>
          </a:p>
          <a:p>
            <a:r>
              <a:rPr lang="en-US" altLang="ko-KR" sz="1300" b="1">
                <a:cs typeface="Times New Roman" panose="02020603050405020304" pitchFamily="18" charset="0"/>
              </a:rP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>
            <a:extLst>
              <a:ext uri="{FF2B5EF4-FFF2-40B4-BE49-F238E27FC236}">
                <a16:creationId xmlns:a16="http://schemas.microsoft.com/office/drawing/2014/main" id="{992810C0-DC67-B40F-CE80-7451ACB078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233488"/>
            <a:ext cx="4102100" cy="1036637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2800" b="1"/>
              <a:t>이름 공간의 적용</a:t>
            </a:r>
          </a:p>
          <a:p>
            <a:pPr lvl="1">
              <a:lnSpc>
                <a:spcPct val="110000"/>
              </a:lnSpc>
            </a:pPr>
            <a:r>
              <a:rPr lang="en-US" altLang="ko-KR" sz="2400" b="1"/>
              <a:t>namespace1.cpp</a:t>
            </a:r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AF45AB27-8940-2A25-7888-6B773B408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6308725"/>
            <a:ext cx="12890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1600" b="1"/>
              <a:t>그림 </a:t>
            </a:r>
            <a:r>
              <a:rPr lang="en-US" altLang="ko-KR" sz="1600" b="1"/>
              <a:t>1-4</a:t>
            </a:r>
          </a:p>
        </p:txBody>
      </p:sp>
      <p:sp>
        <p:nvSpPr>
          <p:cNvPr id="15366" name="Rectangle 6">
            <a:extLst>
              <a:ext uri="{FF2B5EF4-FFF2-40B4-BE49-F238E27FC236}">
                <a16:creationId xmlns:a16="http://schemas.microsoft.com/office/drawing/2014/main" id="{B5A52942-956F-27E4-253D-30E0FFECA8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217488"/>
            <a:ext cx="4749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l"/>
            <a:r>
              <a:rPr lang="en-US" altLang="ko-KR" sz="2800" b="1"/>
              <a:t>1-5  </a:t>
            </a:r>
            <a:r>
              <a:rPr lang="ko-KR" altLang="en-US" sz="2800" b="1"/>
              <a:t>이름공간</a:t>
            </a:r>
            <a:r>
              <a:rPr lang="en-US" altLang="ko-KR" sz="2800" b="1"/>
              <a:t>(namespace)</a:t>
            </a:r>
          </a:p>
        </p:txBody>
      </p:sp>
      <p:pic>
        <p:nvPicPr>
          <p:cNvPr id="15368" name="Picture 8">
            <a:extLst>
              <a:ext uri="{FF2B5EF4-FFF2-40B4-BE49-F238E27FC236}">
                <a16:creationId xmlns:a16="http://schemas.microsoft.com/office/drawing/2014/main" id="{791ACAE7-0586-ABDE-C879-AE6A0AB23F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325" y="2636838"/>
            <a:ext cx="3540125" cy="355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9" name="Picture 9">
            <a:extLst>
              <a:ext uri="{FF2B5EF4-FFF2-40B4-BE49-F238E27FC236}">
                <a16:creationId xmlns:a16="http://schemas.microsoft.com/office/drawing/2014/main" id="{58BA1609-1ED9-0A93-3BF7-DCAB14D9D1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963" y="3536950"/>
            <a:ext cx="2686050" cy="1152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370" name="Rectangle 10">
            <a:extLst>
              <a:ext uri="{FF2B5EF4-FFF2-40B4-BE49-F238E27FC236}">
                <a16:creationId xmlns:a16="http://schemas.microsoft.com/office/drawing/2014/main" id="{44364C7B-6D42-FF57-2C73-1FA33C63C1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0363" y="5000625"/>
            <a:ext cx="1089025" cy="31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1600" b="1"/>
              <a:t>그림 </a:t>
            </a:r>
            <a:r>
              <a:rPr lang="en-US" altLang="ko-KR" sz="1600" b="1"/>
              <a:t>1-</a:t>
            </a:r>
            <a:r>
              <a:rPr lang="en-US" altLang="ja-JP" sz="1600" b="1"/>
              <a:t>5</a:t>
            </a:r>
            <a:endParaRPr lang="en-US" altLang="ko-KR" sz="1600"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>
            <a:extLst>
              <a:ext uri="{FF2B5EF4-FFF2-40B4-BE49-F238E27FC236}">
                <a16:creationId xmlns:a16="http://schemas.microsoft.com/office/drawing/2014/main" id="{3F0A3C5C-13D6-EDE3-61D5-A7F9E58100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233488"/>
            <a:ext cx="4678363" cy="561975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ko-KR" altLang="en-US" sz="2800" b="1"/>
              <a:t>아하</a:t>
            </a:r>
            <a:r>
              <a:rPr lang="en-US" altLang="ko-KR" sz="2800" b="1"/>
              <a:t>! std</a:t>
            </a:r>
            <a:r>
              <a:rPr lang="ko-KR" altLang="en-US" sz="2800" b="1"/>
              <a:t>란 </a:t>
            </a:r>
            <a:r>
              <a:rPr lang="en-US" altLang="ko-KR" sz="2800" b="1"/>
              <a:t>namespace!</a:t>
            </a:r>
          </a:p>
        </p:txBody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E5C5D4AE-E3B3-A443-0C3D-317CCE8AE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217488"/>
            <a:ext cx="4749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l"/>
            <a:r>
              <a:rPr lang="en-US" altLang="ko-KR" sz="2800" b="1"/>
              <a:t>1-5  </a:t>
            </a:r>
            <a:r>
              <a:rPr lang="ko-KR" altLang="en-US" sz="2800" b="1"/>
              <a:t>이름공간</a:t>
            </a:r>
            <a:r>
              <a:rPr lang="en-US" altLang="ko-KR" sz="2800" b="1"/>
              <a:t>(namespace)</a:t>
            </a:r>
          </a:p>
        </p:txBody>
      </p:sp>
      <p:pic>
        <p:nvPicPr>
          <p:cNvPr id="16392" name="Picture 8">
            <a:extLst>
              <a:ext uri="{FF2B5EF4-FFF2-40B4-BE49-F238E27FC236}">
                <a16:creationId xmlns:a16="http://schemas.microsoft.com/office/drawing/2014/main" id="{C7CED7ED-E8E3-C8F8-6D3F-710CE1E3CD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9963" y="2384425"/>
            <a:ext cx="2124075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393" name="Rectangle 9">
            <a:extLst>
              <a:ext uri="{FF2B5EF4-FFF2-40B4-BE49-F238E27FC236}">
                <a16:creationId xmlns:a16="http://schemas.microsoft.com/office/drawing/2014/main" id="{21C55D99-1579-84F4-211F-50B7D744CA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7488" y="5408613"/>
            <a:ext cx="1089025" cy="31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ko-KR" altLang="en-US" sz="1600" b="1"/>
              <a:t>그림 </a:t>
            </a:r>
            <a:r>
              <a:rPr lang="en-US" altLang="ko-KR" sz="1600" b="1"/>
              <a:t>1-</a:t>
            </a:r>
            <a:r>
              <a:rPr lang="en-US" altLang="ja-JP" sz="1600" b="1"/>
              <a:t>6</a:t>
            </a:r>
            <a:endParaRPr lang="en-US" altLang="ko-KR" sz="1600" b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>
            <a:extLst>
              <a:ext uri="{FF2B5EF4-FFF2-40B4-BE49-F238E27FC236}">
                <a16:creationId xmlns:a16="http://schemas.microsoft.com/office/drawing/2014/main" id="{19A1E700-C184-4F63-A4B1-D145897C9D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204913"/>
            <a:ext cx="7772400" cy="1627187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2800" b="1"/>
              <a:t>편의를 위한 </a:t>
            </a:r>
            <a:r>
              <a:rPr lang="en-US" altLang="ko-KR" sz="2800" b="1"/>
              <a:t>using </a:t>
            </a:r>
            <a:r>
              <a:rPr lang="ko-KR" altLang="en-US" sz="2800" b="1"/>
              <a:t>선언</a:t>
            </a:r>
            <a:r>
              <a:rPr lang="en-US" altLang="ko-KR" sz="2800" b="1"/>
              <a:t>!</a:t>
            </a:r>
          </a:p>
          <a:p>
            <a:pPr lvl="1">
              <a:lnSpc>
                <a:spcPct val="120000"/>
              </a:lnSpc>
            </a:pPr>
            <a:r>
              <a:rPr lang="en-US" altLang="ko-KR" sz="2400" b="1"/>
              <a:t>using1.cpp, HelloWorld3.cpp</a:t>
            </a:r>
          </a:p>
          <a:p>
            <a:pPr lvl="1">
              <a:lnSpc>
                <a:spcPct val="120000"/>
              </a:lnSpc>
            </a:pPr>
            <a:r>
              <a:rPr lang="en-US" altLang="ko-KR" sz="2400" b="1"/>
              <a:t>using2.cpp, HelloWorld4.cpp</a:t>
            </a:r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D1B64397-611A-0188-3EB0-4CA1C6C82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325" y="3176588"/>
            <a:ext cx="5003800" cy="533400"/>
          </a:xfrm>
          <a:prstGeom prst="rect">
            <a:avLst/>
          </a:prstGeom>
          <a:solidFill>
            <a:srgbClr val="5F5F5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06000" tIns="118800" bIns="190800" anchor="ctr"/>
          <a:lstStyle>
            <a:lvl1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600" b="1">
                <a:solidFill>
                  <a:schemeClr val="bg1"/>
                </a:solidFill>
                <a:cs typeface="Times New Roman" panose="02020603050405020304" pitchFamily="18" charset="0"/>
              </a:rPr>
              <a:t>using A_COM::function;</a:t>
            </a:r>
          </a:p>
        </p:txBody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7C6FC6CA-96F6-17DA-156E-18DA5D01B8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325" y="3968750"/>
            <a:ext cx="5003800" cy="533400"/>
          </a:xfrm>
          <a:prstGeom prst="rect">
            <a:avLst/>
          </a:prstGeom>
          <a:solidFill>
            <a:srgbClr val="5F5F5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06000" tIns="118800" bIns="190800" anchor="ctr"/>
          <a:lstStyle>
            <a:lvl1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600" b="1">
                <a:solidFill>
                  <a:schemeClr val="bg1"/>
                </a:solidFill>
                <a:cs typeface="Times New Roman" panose="02020603050405020304" pitchFamily="18" charset="0"/>
              </a:rPr>
              <a:t>using namespace A_COM;</a:t>
            </a:r>
          </a:p>
        </p:txBody>
      </p:sp>
      <p:sp>
        <p:nvSpPr>
          <p:cNvPr id="17414" name="Rectangle 6">
            <a:extLst>
              <a:ext uri="{FF2B5EF4-FFF2-40B4-BE49-F238E27FC236}">
                <a16:creationId xmlns:a16="http://schemas.microsoft.com/office/drawing/2014/main" id="{B887EC80-E1F0-DE4B-8BCC-E1D1BB2ADC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217488"/>
            <a:ext cx="4749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l"/>
            <a:r>
              <a:rPr lang="en-US" altLang="ko-KR" sz="2800" b="1"/>
              <a:t>1-5  </a:t>
            </a:r>
            <a:r>
              <a:rPr lang="ko-KR" altLang="en-US" sz="2800" b="1"/>
              <a:t>이름공간</a:t>
            </a:r>
            <a:r>
              <a:rPr lang="en-US" altLang="ko-KR" sz="2800" b="1"/>
              <a:t>(namespace)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>
            <a:extLst>
              <a:ext uri="{FF2B5EF4-FFF2-40B4-BE49-F238E27FC236}">
                <a16:creationId xmlns:a16="http://schemas.microsoft.com/office/drawing/2014/main" id="{EE8AD6F9-86A1-FB93-D130-E72539EA16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196975"/>
            <a:ext cx="6734175" cy="604838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2800" b="1"/>
              <a:t>범위 지정 연산자 기반 전역</a:t>
            </a:r>
            <a:r>
              <a:rPr lang="ko-KR" altLang="ja-JP" sz="2800" b="1"/>
              <a:t> </a:t>
            </a:r>
            <a:r>
              <a:rPr lang="ko-KR" altLang="en-US" sz="2800" b="1"/>
              <a:t>변수 접근</a:t>
            </a:r>
          </a:p>
        </p:txBody>
      </p:sp>
      <p:sp>
        <p:nvSpPr>
          <p:cNvPr id="18436" name="Rectangle 4">
            <a:extLst>
              <a:ext uri="{FF2B5EF4-FFF2-40B4-BE49-F238E27FC236}">
                <a16:creationId xmlns:a16="http://schemas.microsoft.com/office/drawing/2014/main" id="{E9BE8DB1-1614-E5FF-B497-22CF6890DA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4325" y="2205038"/>
            <a:ext cx="2667000" cy="31242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06000" tIns="118800" bIns="190800" anchor="ctr"/>
          <a:lstStyle>
            <a:lvl1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35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int val=100;</a:t>
            </a:r>
          </a:p>
          <a:p>
            <a:pPr>
              <a:lnSpc>
                <a:spcPct val="135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35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int main(void)</a:t>
            </a:r>
          </a:p>
          <a:p>
            <a:pPr>
              <a:lnSpc>
                <a:spcPct val="135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35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int val=100;</a:t>
            </a:r>
          </a:p>
          <a:p>
            <a:pPr>
              <a:lnSpc>
                <a:spcPct val="135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val+=1;</a:t>
            </a:r>
          </a:p>
          <a:p>
            <a:pPr>
              <a:lnSpc>
                <a:spcPct val="135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return 0;</a:t>
            </a:r>
          </a:p>
          <a:p>
            <a:pPr>
              <a:lnSpc>
                <a:spcPct val="135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8437" name="Rectangle 5">
            <a:extLst>
              <a:ext uri="{FF2B5EF4-FFF2-40B4-BE49-F238E27FC236}">
                <a16:creationId xmlns:a16="http://schemas.microsoft.com/office/drawing/2014/main" id="{CA94254D-F3B5-4972-927A-6C18D92F5B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0313" y="2205038"/>
            <a:ext cx="2667000" cy="31242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06000" tIns="118800" bIns="190800" anchor="ctr"/>
          <a:lstStyle>
            <a:lvl1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defTabSz="360363"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defTabSz="360363" fontAlgn="base">
              <a:spcBef>
                <a:spcPct val="0"/>
              </a:spcBef>
              <a:spcAft>
                <a:spcPct val="0"/>
              </a:spcAft>
              <a:tabLst>
                <a:tab pos="3048000" algn="l"/>
              </a:tabLs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lnSpc>
                <a:spcPct val="135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int val=100;</a:t>
            </a:r>
          </a:p>
          <a:p>
            <a:pPr>
              <a:lnSpc>
                <a:spcPct val="135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35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int main(void)</a:t>
            </a:r>
          </a:p>
          <a:p>
            <a:pPr>
              <a:lnSpc>
                <a:spcPct val="135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135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int val=100;</a:t>
            </a:r>
          </a:p>
          <a:p>
            <a:pPr>
              <a:lnSpc>
                <a:spcPct val="135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::val+=1;</a:t>
            </a:r>
          </a:p>
          <a:p>
            <a:pPr>
              <a:lnSpc>
                <a:spcPct val="135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   return 0;</a:t>
            </a:r>
          </a:p>
          <a:p>
            <a:pPr>
              <a:lnSpc>
                <a:spcPct val="135000"/>
              </a:lnSpc>
            </a:pPr>
            <a:r>
              <a:rPr lang="en-US" altLang="ko-KR" sz="1400" b="1"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8439" name="Rectangle 7">
            <a:extLst>
              <a:ext uri="{FF2B5EF4-FFF2-40B4-BE49-F238E27FC236}">
                <a16:creationId xmlns:a16="http://schemas.microsoft.com/office/drawing/2014/main" id="{E5605EDA-18BF-ABA8-868C-FC51BFC5D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217488"/>
            <a:ext cx="4749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1pPr>
            <a:lvl2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2pPr>
            <a:lvl3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3pPr>
            <a:lvl4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4pPr>
            <a:lvl5pPr algn="ctr"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가을체" panose="02030600000101010101" pitchFamily="18" charset="-127"/>
                <a:ea typeface="가을체" panose="02030600000101010101" pitchFamily="18" charset="-127"/>
              </a:defRPr>
            </a:lvl9pPr>
          </a:lstStyle>
          <a:p>
            <a:pPr algn="l"/>
            <a:r>
              <a:rPr lang="en-US" altLang="ko-KR" sz="2800" b="1"/>
              <a:t>1-5  </a:t>
            </a:r>
            <a:r>
              <a:rPr lang="ko-KR" altLang="en-US" sz="2800" b="1"/>
              <a:t>이름공간</a:t>
            </a:r>
            <a:r>
              <a:rPr lang="en-US" altLang="ko-KR" sz="2800" b="1"/>
              <a:t>(namespace)</a:t>
            </a:r>
          </a:p>
        </p:txBody>
      </p:sp>
      <p:sp>
        <p:nvSpPr>
          <p:cNvPr id="18441" name="AutoShape 9">
            <a:extLst>
              <a:ext uri="{FF2B5EF4-FFF2-40B4-BE49-F238E27FC236}">
                <a16:creationId xmlns:a16="http://schemas.microsoft.com/office/drawing/2014/main" id="{2A3CDF9F-4D54-8BAD-097D-B371051E0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6738" y="3575050"/>
            <a:ext cx="519112" cy="428625"/>
          </a:xfrm>
          <a:prstGeom prst="rightArrow">
            <a:avLst>
              <a:gd name="adj1" fmla="val 50000"/>
              <a:gd name="adj2" fmla="val 58386"/>
            </a:avLst>
          </a:prstGeom>
          <a:solidFill>
            <a:srgbClr val="80808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바른고딕">
      <a:majorFont>
        <a:latin typeface="나눔바른고딕"/>
        <a:ea typeface="나눔바른고딕"/>
        <a:cs typeface=""/>
      </a:majorFont>
      <a:minorFont>
        <a:latin typeface="나눔바른고딕"/>
        <a:ea typeface="나눔바른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812</Words>
  <Application>Microsoft Office PowerPoint</Application>
  <PresentationFormat>화면 슬라이드 쇼(4:3)</PresentationFormat>
  <Paragraphs>173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3" baseType="lpstr">
      <vt:lpstr>나눔바른고딕</vt:lpstr>
      <vt:lpstr>가을체</vt:lpstr>
      <vt:lpstr>Times New Roman</vt:lpstr>
      <vt:lpstr>Arial</vt:lpstr>
      <vt:lpstr>굴림</vt:lpstr>
      <vt:lpstr>기본 디자인</vt:lpstr>
      <vt:lpstr>1장. C 기반의 C++ 1</vt:lpstr>
      <vt:lpstr>1-1  printf와 scanf</vt:lpstr>
      <vt:lpstr>PowerPoint 프레젠테이션</vt:lpstr>
      <vt:lpstr>PowerPoint 프레젠테이션</vt:lpstr>
      <vt:lpstr>PowerPoint 프레젠테이션</vt:lpstr>
      <vt:lpstr>1-2  함수 오버로딩</vt:lpstr>
      <vt:lpstr>PowerPoint 프레젠테이션</vt:lpstr>
      <vt:lpstr>PowerPoint 프레젠테이션</vt:lpstr>
      <vt:lpstr>1-3  디폴트 매개 변수</vt:lpstr>
      <vt:lpstr>PowerPoint 프레젠테이션</vt:lpstr>
      <vt:lpstr>1-4  인-라인 함수</vt:lpstr>
      <vt:lpstr>PowerPoint 프레젠테이션</vt:lpstr>
      <vt:lpstr>1-5  이름공간(namespace)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yoon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1장. C 기반의 C++ 1</dc:title>
  <dc:creator>yoon</dc:creator>
  <cp:lastModifiedBy>Heesung Oh</cp:lastModifiedBy>
  <cp:revision>20</cp:revision>
  <dcterms:created xsi:type="dcterms:W3CDTF">2004-03-17T05:33:04Z</dcterms:created>
  <dcterms:modified xsi:type="dcterms:W3CDTF">2026-07-14T02:46:58Z</dcterms:modified>
</cp:coreProperties>
</file>